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957E54DC-8BDE-42D7-8248-5005DE4C142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44" name="Rectangle 4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45" name="Ellipse 5"/>
          <p:cNvSpPr/>
          <p:nvPr/>
        </p:nvSpPr>
        <p:spPr>
          <a:xfrm>
            <a:off x="8784000" y="-1008000"/>
            <a:ext cx="4500000" cy="4500000"/>
          </a:xfrm>
          <a:prstGeom prst="ellipse">
            <a:avLst/>
          </a:prstGeom>
          <a:solidFill>
            <a:srgbClr val="2563eb">
              <a:alpha val="30000"/>
            </a:srgbClr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46" name="Ellipse 6"/>
          <p:cNvSpPr/>
          <p:nvPr/>
        </p:nvSpPr>
        <p:spPr>
          <a:xfrm>
            <a:off x="9720000" y="2592000"/>
            <a:ext cx="3420000" cy="3420000"/>
          </a:xfrm>
          <a:prstGeom prst="ellipse">
            <a:avLst/>
          </a:prstGeom>
          <a:solidFill>
            <a:srgbClr val="0891b2">
              <a:alpha val="22000"/>
            </a:srgbClr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47" name="Ellipse 7"/>
          <p:cNvSpPr/>
          <p:nvPr/>
        </p:nvSpPr>
        <p:spPr>
          <a:xfrm>
            <a:off x="7596000" y="1260000"/>
            <a:ext cx="1944000" cy="1944000"/>
          </a:xfrm>
          <a:prstGeom prst="ellipse">
            <a:avLst/>
          </a:prstGeom>
          <a:solidFill>
            <a:srgbClr val="7c3aed">
              <a:alpha val="22000"/>
            </a:srgbClr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48" name="Rectangle 8"/>
          <p:cNvSpPr/>
          <p:nvPr/>
        </p:nvSpPr>
        <p:spPr>
          <a:xfrm>
            <a:off x="648000" y="522000"/>
            <a:ext cx="2592000" cy="187200"/>
          </a:xfrm>
          <a:prstGeom prst="roundRect">
            <a:avLst/>
          </a:prstGeom>
          <a:solidFill>
            <a:srgbClr val="183154"/>
          </a:solidFill>
          <a:ln w="6480">
            <a:solidFill>
              <a:srgbClr val="28456b"/>
            </a:solidFill>
            <a:round/>
          </a:ln>
        </p:spPr>
      </p:sp>
      <p:sp>
        <p:nvSpPr>
          <p:cNvPr id="49" name="TextShape 9"/>
          <p:cNvSpPr txBox="1"/>
          <p:nvPr/>
        </p:nvSpPr>
        <p:spPr>
          <a:xfrm>
            <a:off x="691200" y="573840"/>
            <a:ext cx="2505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8de8f5"/>
                </a:solidFill>
                <a:latin typeface="Noto Sans CJK JP"/>
              </a:rPr>
              <a:t>PROBTF-DEMO  •  TECHNICAL OVERVIEW</a:t>
            </a:r>
            <a:endParaRPr b="1" lang="en-US" sz="11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0" name="TextShape 10"/>
          <p:cNvSpPr txBox="1"/>
          <p:nvPr/>
        </p:nvSpPr>
        <p:spPr>
          <a:xfrm>
            <a:off x="648000" y="1368000"/>
            <a:ext cx="6840000" cy="699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3800" spc="-1" strike="noStrike">
                <a:solidFill>
                  <a:srgbClr val="ffffff"/>
                </a:solidFill>
                <a:latin typeface="Noto Sans CJK JP"/>
              </a:rPr>
              <a:t>ProbTF × deflecomp</a:t>
            </a:r>
            <a:endParaRPr b="1" lang="en-US" sz="3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1" name="TextShape 11"/>
          <p:cNvSpPr txBox="1"/>
          <p:nvPr/>
        </p:nvSpPr>
        <p:spPr>
          <a:xfrm>
            <a:off x="648000" y="2106000"/>
            <a:ext cx="6912000" cy="42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300" spc="-1" strike="noStrike">
                <a:solidFill>
                  <a:srgbClr val="dce8f8"/>
                </a:solidFill>
                <a:latin typeface="Noto Sans CJK JP"/>
              </a:rPr>
              <a:t>確率的座標変換と柔軟関節重力たわみ補償</a:t>
            </a:r>
            <a:endParaRPr b="1" lang="en-US" sz="23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52" name="TextShape 12"/>
          <p:cNvSpPr txBox="1"/>
          <p:nvPr/>
        </p:nvSpPr>
        <p:spPr>
          <a:xfrm>
            <a:off x="648000" y="2592000"/>
            <a:ext cx="54000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8de8f5"/>
                </a:solidFill>
                <a:latin typeface="Noto Sans CJK JP"/>
              </a:rPr>
              <a:t>実装・数理・低遅延ランタイム</a:t>
            </a:r>
            <a:endParaRPr b="0" lang="en-US" sz="18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3" name="Line 13"/>
          <p:cNvSpPr/>
          <p:nvPr/>
        </p:nvSpPr>
        <p:spPr>
          <a:xfrm>
            <a:off x="648000" y="3150000"/>
            <a:ext cx="3600000" cy="0"/>
          </a:xfrm>
          <a:prstGeom prst="line">
            <a:avLst/>
          </a:prstGeom>
          <a:ln w="21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Shape 14"/>
          <p:cNvSpPr txBox="1"/>
          <p:nvPr/>
        </p:nvSpPr>
        <p:spPr>
          <a:xfrm>
            <a:off x="648000" y="3348000"/>
            <a:ext cx="6660000" cy="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300" spc="-1" strike="noStrike">
                <a:solidFill>
                  <a:srgbClr val="a8b8d0"/>
                </a:solidFill>
                <a:latin typeface="Noto Sans CJK JP"/>
              </a:rPr>
              <a:t>ProbTF native v2  /  C++ latest-only runtime  /  deflecomp scoped integration</a:t>
            </a:r>
            <a:endParaRPr b="0" lang="en-US" sz="1300" spc="-1" strike="noStrike">
              <a:solidFill>
                <a:srgbClr val="a8b8d0"/>
              </a:solidFill>
              <a:latin typeface="Noto Sans CJK JP"/>
              <a:ea typeface="Noto Sans CJK JP"/>
            </a:endParaRPr>
          </a:p>
        </p:txBody>
      </p:sp>
      <p:sp>
        <p:nvSpPr>
          <p:cNvPr id="55" name="TextShape 15"/>
          <p:cNvSpPr txBox="1"/>
          <p:nvPr/>
        </p:nvSpPr>
        <p:spPr>
          <a:xfrm>
            <a:off x="648000" y="5940000"/>
            <a:ext cx="144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100" spc="-1" strike="noStrike">
                <a:solidFill>
                  <a:srgbClr val="8393aa"/>
                </a:solidFill>
                <a:latin typeface="Noto Sans CJK JP"/>
              </a:rPr>
              <a:t>2026-07-13</a:t>
            </a:r>
            <a:endParaRPr b="1" lang="en-US" sz="1100" spc="-1" strike="noStrike">
              <a:solidFill>
                <a:srgbClr val="8393aa"/>
              </a:solidFill>
              <a:latin typeface="Noto Sans CJK JP"/>
              <a:ea typeface="Noto Sans CJK JP"/>
            </a:endParaRPr>
          </a:p>
        </p:txBody>
      </p:sp>
      <p:sp>
        <p:nvSpPr>
          <p:cNvPr id="56" name="TextShape 16"/>
          <p:cNvSpPr txBox="1"/>
          <p:nvPr/>
        </p:nvSpPr>
        <p:spPr>
          <a:xfrm>
            <a:off x="2160000" y="5940000"/>
            <a:ext cx="180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8393aa"/>
                </a:solidFill>
                <a:latin typeface="Noto Sans CJK JP"/>
              </a:rPr>
              <a:t>ProbTF-demo</a:t>
            </a:r>
            <a:endParaRPr b="0" lang="en-US" sz="1100" spc="-1" strike="noStrike">
              <a:solidFill>
                <a:srgbClr val="8393aa"/>
              </a:solidFill>
              <a:latin typeface="Noto Sans CJK JP"/>
              <a:ea typeface="Noto Sans CJK JP"/>
            </a:endParaRPr>
          </a:p>
        </p:txBody>
      </p:sp>
      <p:sp>
        <p:nvSpPr>
          <p:cNvPr id="57" name="Line 17"/>
          <p:cNvSpPr/>
          <p:nvPr/>
        </p:nvSpPr>
        <p:spPr>
          <a:xfrm flipV="1">
            <a:off x="8532000" y="4194000"/>
            <a:ext cx="562320" cy="810000"/>
          </a:xfrm>
          <a:prstGeom prst="line">
            <a:avLst/>
          </a:prstGeom>
          <a:ln w="54000">
            <a:solidFill>
              <a:srgbClr val="8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Line 18"/>
          <p:cNvSpPr/>
          <p:nvPr/>
        </p:nvSpPr>
        <p:spPr>
          <a:xfrm>
            <a:off x="9094320" y="4194000"/>
            <a:ext cx="787320" cy="315000"/>
          </a:xfrm>
          <a:prstGeom prst="line">
            <a:avLst/>
          </a:prstGeom>
          <a:ln w="54000">
            <a:solidFill>
              <a:srgbClr val="8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Line 19"/>
          <p:cNvSpPr/>
          <p:nvPr/>
        </p:nvSpPr>
        <p:spPr>
          <a:xfrm flipV="1">
            <a:off x="9882000" y="3789000"/>
            <a:ext cx="562320" cy="720000"/>
          </a:xfrm>
          <a:prstGeom prst="line">
            <a:avLst/>
          </a:prstGeom>
          <a:ln w="54000">
            <a:solidFill>
              <a:srgbClr val="8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Line 20"/>
          <p:cNvSpPr/>
          <p:nvPr/>
        </p:nvSpPr>
        <p:spPr>
          <a:xfrm>
            <a:off x="10444320" y="3789000"/>
            <a:ext cx="585000" cy="225000"/>
          </a:xfrm>
          <a:prstGeom prst="line">
            <a:avLst/>
          </a:prstGeom>
          <a:ln w="54000">
            <a:solidFill>
              <a:srgbClr val="8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Ellipse 21"/>
          <p:cNvSpPr/>
          <p:nvPr/>
        </p:nvSpPr>
        <p:spPr>
          <a:xfrm>
            <a:off x="8370000" y="4842000"/>
            <a:ext cx="324000" cy="324000"/>
          </a:xfrm>
          <a:prstGeom prst="ellipse">
            <a:avLst/>
          </a:prstGeom>
          <a:solidFill>
            <a:srgbClr val="ffffff"/>
          </a:solidFill>
          <a:ln w="31320">
            <a:solidFill>
              <a:srgbClr val="8de8f5"/>
            </a:solidFill>
            <a:round/>
          </a:ln>
        </p:spPr>
      </p:sp>
      <p:sp>
        <p:nvSpPr>
          <p:cNvPr id="62" name="Ellipse 22"/>
          <p:cNvSpPr/>
          <p:nvPr/>
        </p:nvSpPr>
        <p:spPr>
          <a:xfrm>
            <a:off x="8977320" y="4077000"/>
            <a:ext cx="234000" cy="234000"/>
          </a:xfrm>
          <a:prstGeom prst="ellipse">
            <a:avLst/>
          </a:prstGeom>
          <a:solidFill>
            <a:srgbClr val="ffffff"/>
          </a:solidFill>
          <a:ln w="31320">
            <a:solidFill>
              <a:srgbClr val="8de8f5"/>
            </a:solidFill>
            <a:round/>
          </a:ln>
        </p:spPr>
      </p:sp>
      <p:sp>
        <p:nvSpPr>
          <p:cNvPr id="63" name="Ellipse 23"/>
          <p:cNvSpPr/>
          <p:nvPr/>
        </p:nvSpPr>
        <p:spPr>
          <a:xfrm>
            <a:off x="9765000" y="4392000"/>
            <a:ext cx="234000" cy="234000"/>
          </a:xfrm>
          <a:prstGeom prst="ellipse">
            <a:avLst/>
          </a:prstGeom>
          <a:solidFill>
            <a:srgbClr val="ffffff"/>
          </a:solidFill>
          <a:ln w="31320">
            <a:solidFill>
              <a:srgbClr val="8de8f5"/>
            </a:solidFill>
            <a:round/>
          </a:ln>
        </p:spPr>
      </p:sp>
      <p:sp>
        <p:nvSpPr>
          <p:cNvPr id="64" name="Ellipse 24"/>
          <p:cNvSpPr/>
          <p:nvPr/>
        </p:nvSpPr>
        <p:spPr>
          <a:xfrm>
            <a:off x="10327320" y="3672000"/>
            <a:ext cx="234000" cy="234000"/>
          </a:xfrm>
          <a:prstGeom prst="ellipse">
            <a:avLst/>
          </a:prstGeom>
          <a:solidFill>
            <a:srgbClr val="ffffff"/>
          </a:solidFill>
          <a:ln w="31320">
            <a:solidFill>
              <a:srgbClr val="8de8f5"/>
            </a:solidFill>
            <a:round/>
          </a:ln>
        </p:spPr>
      </p:sp>
      <p:sp>
        <p:nvSpPr>
          <p:cNvPr id="65" name="Ellipse 25"/>
          <p:cNvSpPr/>
          <p:nvPr/>
        </p:nvSpPr>
        <p:spPr>
          <a:xfrm>
            <a:off x="10912320" y="3897000"/>
            <a:ext cx="234000" cy="234000"/>
          </a:xfrm>
          <a:prstGeom prst="ellipse">
            <a:avLst/>
          </a:prstGeom>
          <a:solidFill>
            <a:srgbClr val="ffffff"/>
          </a:solidFill>
          <a:ln w="31320">
            <a:solidFill>
              <a:srgbClr val="8de8f5"/>
            </a:solidFill>
            <a:round/>
          </a:ln>
        </p:spPr>
      </p:sp>
      <p:sp>
        <p:nvSpPr>
          <p:cNvPr id="66" name="Ellipse 26"/>
          <p:cNvSpPr/>
          <p:nvPr/>
        </p:nvSpPr>
        <p:spPr>
          <a:xfrm>
            <a:off x="10291320" y="3715200"/>
            <a:ext cx="1008000" cy="468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6200">
            <a:solidFill>
              <a:srgbClr val="2563eb"/>
            </a:solidFill>
            <a:round/>
          </a:ln>
        </p:spPr>
      </p:sp>
      <p:sp>
        <p:nvSpPr>
          <p:cNvPr id="67" name="Ellipse 27"/>
          <p:cNvSpPr/>
          <p:nvPr/>
        </p:nvSpPr>
        <p:spPr>
          <a:xfrm>
            <a:off x="10723320" y="3870000"/>
            <a:ext cx="1008000" cy="468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6200">
            <a:solidFill>
              <a:srgbClr val="7c3aed"/>
            </a:solidFill>
            <a:round/>
          </a:ln>
        </p:spPr>
      </p:sp>
      <p:sp>
        <p:nvSpPr>
          <p:cNvPr id="68" name="Ellipse 28"/>
          <p:cNvSpPr/>
          <p:nvPr/>
        </p:nvSpPr>
        <p:spPr>
          <a:xfrm>
            <a:off x="10525320" y="3528000"/>
            <a:ext cx="1008000" cy="468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6200">
            <a:solidFill>
              <a:srgbClr val="0891b2"/>
            </a:solidFill>
            <a:round/>
          </a:ln>
        </p:spPr>
      </p:sp>
      <p:sp>
        <p:nvSpPr>
          <p:cNvPr id="69" name="Ellipse 29"/>
          <p:cNvSpPr/>
          <p:nvPr/>
        </p:nvSpPr>
        <p:spPr>
          <a:xfrm>
            <a:off x="10946520" y="3931200"/>
            <a:ext cx="165600" cy="165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891b2"/>
            </a:solidFill>
            <a:round/>
          </a:ln>
        </p:spPr>
      </p:sp>
      <p:sp>
        <p:nvSpPr>
          <p:cNvPr id="70" name="TextShape 30"/>
          <p:cNvSpPr txBox="1"/>
          <p:nvPr/>
        </p:nvSpPr>
        <p:spPr>
          <a:xfrm>
            <a:off x="10705320" y="3402000"/>
            <a:ext cx="6480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p(T)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72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73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OVERVIEW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74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全体像：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2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つの技術を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1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本の説明に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5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ProbTF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は不確かさを運び、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deflecomp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は柔軟関節の重力たわみを補償する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6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9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02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0" name="Rectangle 10"/>
          <p:cNvSpPr/>
          <p:nvPr/>
        </p:nvSpPr>
        <p:spPr>
          <a:xfrm>
            <a:off x="576000" y="1296000"/>
            <a:ext cx="3186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1" name="Rectangle 11"/>
          <p:cNvSpPr/>
          <p:nvPr/>
        </p:nvSpPr>
        <p:spPr>
          <a:xfrm>
            <a:off x="576000" y="1296000"/>
            <a:ext cx="39600" cy="2340000"/>
          </a:xfrm>
          <a:prstGeom prst="round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82" name="Ellipse 12"/>
          <p:cNvSpPr/>
          <p:nvPr/>
        </p:nvSpPr>
        <p:spPr>
          <a:xfrm>
            <a:off x="730800" y="1432800"/>
            <a:ext cx="306000" cy="306000"/>
          </a:xfrm>
          <a:prstGeom prst="ellipse">
            <a:avLst/>
          </a:prstGeom>
          <a:solidFill>
            <a:srgbClr val="e0e9fc"/>
          </a:solidFill>
          <a:ln w="6480">
            <a:solidFill>
              <a:srgbClr val="e0e9fc">
                <a:alpha val="0"/>
              </a:srgbClr>
            </a:solidFill>
            <a:round/>
          </a:ln>
        </p:spPr>
      </p:sp>
      <p:sp>
        <p:nvSpPr>
          <p:cNvPr id="83" name="TextShape 13"/>
          <p:cNvSpPr txBox="1"/>
          <p:nvPr/>
        </p:nvSpPr>
        <p:spPr>
          <a:xfrm>
            <a:off x="730800" y="1491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2563eb"/>
                </a:solidFill>
                <a:latin typeface="Noto Sans CJK JP"/>
              </a:rPr>
              <a:t>P</a:t>
            </a:r>
            <a:endParaRPr b="1" lang="en-US" sz="2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4" name="TextShape 14"/>
          <p:cNvSpPr txBox="1"/>
          <p:nvPr/>
        </p:nvSpPr>
        <p:spPr>
          <a:xfrm>
            <a:off x="1116000" y="1404000"/>
            <a:ext cx="2502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200" spc="-1" strike="noStrike">
                <a:solidFill>
                  <a:srgbClr val="152238"/>
                </a:solidFill>
                <a:latin typeface="Noto Sans CJK JP"/>
              </a:rPr>
              <a:t>ProbTF</a:t>
            </a:r>
            <a:endParaRPr b="1" lang="en-US" sz="2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5" name="TextShape 15"/>
          <p:cNvSpPr txBox="1"/>
          <p:nvPr/>
        </p:nvSpPr>
        <p:spPr>
          <a:xfrm>
            <a:off x="763200" y="1746000"/>
            <a:ext cx="2862000" cy="1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座標変換 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edge 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を単一姿勢ではなく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確率 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law 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として保持・合成・照会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86" name="Rectangle 16"/>
          <p:cNvSpPr/>
          <p:nvPr/>
        </p:nvSpPr>
        <p:spPr>
          <a:xfrm>
            <a:off x="4194000" y="1296000"/>
            <a:ext cx="3186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7" name="Rectangle 17"/>
          <p:cNvSpPr/>
          <p:nvPr/>
        </p:nvSpPr>
        <p:spPr>
          <a:xfrm>
            <a:off x="4194000" y="1296000"/>
            <a:ext cx="39600" cy="2340000"/>
          </a:xfrm>
          <a:prstGeom prst="round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88" name="Ellipse 18"/>
          <p:cNvSpPr/>
          <p:nvPr/>
        </p:nvSpPr>
        <p:spPr>
          <a:xfrm>
            <a:off x="4348800" y="1432800"/>
            <a:ext cx="306000" cy="306000"/>
          </a:xfrm>
          <a:prstGeom prst="ellipse">
            <a:avLst/>
          </a:prstGeom>
          <a:solidFill>
            <a:srgbClr val="ede3fc"/>
          </a:solidFill>
          <a:ln w="6480">
            <a:solidFill>
              <a:srgbClr val="ede3fc">
                <a:alpha val="0"/>
              </a:srgbClr>
            </a:solidFill>
            <a:round/>
          </a:ln>
        </p:spPr>
      </p:sp>
      <p:sp>
        <p:nvSpPr>
          <p:cNvPr id="89" name="TextShape 19"/>
          <p:cNvSpPr txBox="1"/>
          <p:nvPr/>
        </p:nvSpPr>
        <p:spPr>
          <a:xfrm>
            <a:off x="4348800" y="1491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7c3aed"/>
                </a:solidFill>
                <a:latin typeface="Noto Sans CJK JP"/>
              </a:rPr>
              <a:t>D</a:t>
            </a:r>
            <a:endParaRPr b="1" lang="en-US" sz="2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90" name="TextShape 20"/>
          <p:cNvSpPr txBox="1"/>
          <p:nvPr/>
        </p:nvSpPr>
        <p:spPr>
          <a:xfrm>
            <a:off x="4734000" y="1404000"/>
            <a:ext cx="2502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200" spc="-1" strike="noStrike">
                <a:solidFill>
                  <a:srgbClr val="152238"/>
                </a:solidFill>
                <a:latin typeface="Noto Sans CJK JP"/>
              </a:rPr>
              <a:t>deflecomp</a:t>
            </a:r>
            <a:endParaRPr b="1" lang="en-US" sz="2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1" name="TextShape 21"/>
          <p:cNvSpPr txBox="1"/>
          <p:nvPr/>
        </p:nvSpPr>
        <p:spPr>
          <a:xfrm>
            <a:off x="4381200" y="1746000"/>
            <a:ext cx="2862000" cy="1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IMU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の重力方向から有効剛性を更新し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inverse statics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で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command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を生成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92" name="Rectangle 22"/>
          <p:cNvSpPr/>
          <p:nvPr/>
        </p:nvSpPr>
        <p:spPr>
          <a:xfrm>
            <a:off x="7812000" y="1296000"/>
            <a:ext cx="3186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93" name="Rectangle 23"/>
          <p:cNvSpPr/>
          <p:nvPr/>
        </p:nvSpPr>
        <p:spPr>
          <a:xfrm>
            <a:off x="7812000" y="1296000"/>
            <a:ext cx="39600" cy="234000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94" name="Ellipse 24"/>
          <p:cNvSpPr/>
          <p:nvPr/>
        </p:nvSpPr>
        <p:spPr>
          <a:xfrm>
            <a:off x="7966800" y="1432800"/>
            <a:ext cx="306000" cy="306000"/>
          </a:xfrm>
          <a:prstGeom prst="ellipse">
            <a:avLst/>
          </a:prstGeom>
          <a:solidFill>
            <a:srgbClr val="dcf0ea"/>
          </a:solidFill>
          <a:ln w="6480">
            <a:solidFill>
              <a:srgbClr val="dcf0ea">
                <a:alpha val="0"/>
              </a:srgbClr>
            </a:solidFill>
            <a:round/>
          </a:ln>
        </p:spPr>
      </p:sp>
      <p:sp>
        <p:nvSpPr>
          <p:cNvPr id="95" name="TextShape 25"/>
          <p:cNvSpPr txBox="1"/>
          <p:nvPr/>
        </p:nvSpPr>
        <p:spPr>
          <a:xfrm>
            <a:off x="7966800" y="1491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059669"/>
                </a:solidFill>
                <a:latin typeface="Noto Sans CJK JP"/>
              </a:rPr>
              <a:t>×</a:t>
            </a:r>
            <a:endParaRPr b="1" lang="en-US" sz="2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6" name="TextShape 26"/>
          <p:cNvSpPr txBox="1"/>
          <p:nvPr/>
        </p:nvSpPr>
        <p:spPr>
          <a:xfrm>
            <a:off x="8352000" y="1404000"/>
            <a:ext cx="2502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200" spc="-1" strike="noStrike">
                <a:solidFill>
                  <a:srgbClr val="152238"/>
                </a:solidFill>
                <a:latin typeface="Noto Sans CJK JP"/>
              </a:rPr>
              <a:t>統合ランタイム</a:t>
            </a:r>
            <a:endParaRPr b="1" lang="en-US" sz="2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7" name="TextShape 27"/>
          <p:cNvSpPr txBox="1"/>
          <p:nvPr/>
        </p:nvSpPr>
        <p:spPr>
          <a:xfrm>
            <a:off x="7999200" y="1746000"/>
            <a:ext cx="2862000" cy="1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ref / cmd / equil 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の実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TF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を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scoped import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し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最新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point moments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を</a:t>
            </a:r>
            <a:r>
              <a:rPr b="0" lang="en-US" sz="1500" spc="-1" strike="noStrike">
                <a:solidFill>
                  <a:srgbClr val="5c6b82"/>
                </a:solidFill>
                <a:latin typeface="Noto Sans CJK JP"/>
              </a:rPr>
              <a:t>RViz</a:t>
            </a:r>
            <a:r>
              <a:rPr b="0" lang="zh-CN" sz="1500" spc="-1" strike="noStrike">
                <a:solidFill>
                  <a:srgbClr val="5c6b82"/>
                </a:solidFill>
                <a:latin typeface="Noto Sans CJK JP"/>
              </a:rPr>
              <a:t>へ表示</a:t>
            </a:r>
            <a:endParaRPr b="0" lang="en-US" sz="15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98" name="TextShape 28"/>
          <p:cNvSpPr txBox="1"/>
          <p:nvPr/>
        </p:nvSpPr>
        <p:spPr>
          <a:xfrm>
            <a:off x="3834000" y="224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99" name="TextShape 29"/>
          <p:cNvSpPr txBox="1"/>
          <p:nvPr/>
        </p:nvSpPr>
        <p:spPr>
          <a:xfrm>
            <a:off x="7452000" y="224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00" name="Rectangle 30"/>
          <p:cNvSpPr/>
          <p:nvPr/>
        </p:nvSpPr>
        <p:spPr>
          <a:xfrm>
            <a:off x="1332000" y="3312000"/>
            <a:ext cx="792000" cy="1872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101" name="TextShape 31"/>
          <p:cNvSpPr txBox="1"/>
          <p:nvPr/>
        </p:nvSpPr>
        <p:spPr>
          <a:xfrm>
            <a:off x="1375200" y="3363840"/>
            <a:ext cx="705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100" spc="-1" strike="noStrike">
                <a:solidFill>
                  <a:srgbClr val="2563eb"/>
                </a:solidFill>
                <a:latin typeface="Noto Sans CJK JP"/>
              </a:rPr>
              <a:t>表現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02" name="Rectangle 32"/>
          <p:cNvSpPr/>
          <p:nvPr/>
        </p:nvSpPr>
        <p:spPr>
          <a:xfrm>
            <a:off x="4896000" y="3312000"/>
            <a:ext cx="936000" cy="1872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f1ebff">
                <a:alpha val="0"/>
              </a:srgbClr>
            </a:solidFill>
            <a:round/>
          </a:ln>
        </p:spPr>
      </p:sp>
      <p:sp>
        <p:nvSpPr>
          <p:cNvPr id="103" name="TextShape 33"/>
          <p:cNvSpPr txBox="1"/>
          <p:nvPr/>
        </p:nvSpPr>
        <p:spPr>
          <a:xfrm>
            <a:off x="4939200" y="3465000"/>
            <a:ext cx="84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100" spc="-1" strike="noStrike">
                <a:solidFill>
                  <a:srgbClr val="7c3aed"/>
                </a:solidFill>
                <a:latin typeface="Noto Sans CJK JP"/>
              </a:rPr>
              <a:t>推定・制御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04" name="Rectangle 34"/>
          <p:cNvSpPr/>
          <p:nvPr/>
        </p:nvSpPr>
        <p:spPr>
          <a:xfrm>
            <a:off x="8514000" y="3312000"/>
            <a:ext cx="1008000" cy="1872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e8f7f1">
                <a:alpha val="0"/>
              </a:srgbClr>
            </a:solidFill>
            <a:round/>
          </a:ln>
        </p:spPr>
      </p:sp>
      <p:sp>
        <p:nvSpPr>
          <p:cNvPr id="105" name="TextShape 35"/>
          <p:cNvSpPr txBox="1"/>
          <p:nvPr/>
        </p:nvSpPr>
        <p:spPr>
          <a:xfrm>
            <a:off x="8557200" y="3465000"/>
            <a:ext cx="921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100" spc="-1" strike="noStrike">
                <a:solidFill>
                  <a:srgbClr val="059669"/>
                </a:solidFill>
                <a:latin typeface="Noto Sans CJK JP"/>
              </a:rPr>
              <a:t>可視化・運用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106" name="Rectangle 36"/>
          <p:cNvSpPr/>
          <p:nvPr/>
        </p:nvSpPr>
        <p:spPr>
          <a:xfrm>
            <a:off x="576000" y="4032000"/>
            <a:ext cx="10764000" cy="1584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107" name="TextShape 37"/>
          <p:cNvSpPr txBox="1"/>
          <p:nvPr/>
        </p:nvSpPr>
        <p:spPr>
          <a:xfrm>
            <a:off x="792000" y="4284000"/>
            <a:ext cx="2160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700" spc="-1" strike="noStrike">
                <a:solidFill>
                  <a:srgbClr val="8de8f5"/>
                </a:solidFill>
                <a:latin typeface="Noto Sans CJK JP"/>
              </a:rPr>
              <a:t>この統合の価値</a:t>
            </a:r>
            <a:endParaRPr b="1" lang="en-US" sz="17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108" name="TextShape 38"/>
          <p:cNvSpPr txBox="1"/>
          <p:nvPr/>
        </p:nvSpPr>
        <p:spPr>
          <a:xfrm>
            <a:off x="792000" y="4608000"/>
            <a:ext cx="5580000" cy="73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Noto Sans CJK JP"/>
              </a:rPr>
              <a:t>不確かさを潰さずに座標系をつなぎ、</a:t>
            </a:r>
            <a:endParaRPr b="1" lang="en-US" sz="2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1" lang="zh-CN" sz="2000" spc="-1" strike="noStrike">
                <a:solidFill>
                  <a:srgbClr val="ffffff"/>
                </a:solidFill>
                <a:latin typeface="Noto Sans CJK JP"/>
              </a:rPr>
              <a:t>制御系の状態を低遅延・意味保存で観察</a:t>
            </a:r>
            <a:endParaRPr b="1" lang="en-US" sz="2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09" name="TextShape 39"/>
          <p:cNvSpPr txBox="1"/>
          <p:nvPr/>
        </p:nvSpPr>
        <p:spPr>
          <a:xfrm>
            <a:off x="7344000" y="4500000"/>
            <a:ext cx="3456000" cy="1037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c2d1e5"/>
                </a:solidFill>
                <a:latin typeface="Noto Sans CJK JP"/>
              </a:rPr>
              <a:t>ProbTF graph </a:t>
            </a:r>
            <a:r>
              <a:rPr b="0" lang="zh-CN" sz="1400" spc="-1" strike="noStrike">
                <a:solidFill>
                  <a:srgbClr val="c2d1e5"/>
                </a:solidFill>
                <a:latin typeface="Noto Sans CJK JP"/>
              </a:rPr>
              <a:t>に入れるもの／入れないものを明確化</a:t>
            </a:r>
            <a:endParaRPr b="0" lang="en-US" sz="140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  <a:p>
            <a:r>
              <a:rPr b="0" lang="zh-CN" sz="1400" spc="-1" strike="noStrike">
                <a:solidFill>
                  <a:srgbClr val="c2d1e5"/>
                </a:solidFill>
                <a:latin typeface="Noto Sans CJK JP"/>
              </a:rPr>
              <a:t>最新状態優先の</a:t>
            </a:r>
            <a:r>
              <a:rPr b="0" lang="en-US" sz="1400" spc="-1" strike="noStrike">
                <a:solidFill>
                  <a:srgbClr val="c2d1e5"/>
                </a:solidFill>
                <a:latin typeface="Noto Sans CJK JP"/>
              </a:rPr>
              <a:t>C++</a:t>
            </a:r>
            <a:r>
              <a:rPr b="0" lang="zh-CN" sz="1400" spc="-1" strike="noStrike">
                <a:solidFill>
                  <a:srgbClr val="c2d1e5"/>
                </a:solidFill>
                <a:latin typeface="Noto Sans CJK JP"/>
              </a:rPr>
              <a:t>実装で</a:t>
            </a:r>
            <a:r>
              <a:rPr b="0" lang="en-US" sz="1400" spc="-1" strike="noStrike">
                <a:solidFill>
                  <a:srgbClr val="c2d1e5"/>
                </a:solidFill>
                <a:latin typeface="Noto Sans CJK JP"/>
              </a:rPr>
              <a:t>FIFO backlog</a:t>
            </a:r>
            <a:r>
              <a:rPr b="0" lang="zh-CN" sz="1400" spc="-1" strike="noStrike">
                <a:solidFill>
                  <a:srgbClr val="c2d1e5"/>
                </a:solidFill>
                <a:latin typeface="Noto Sans CJK JP"/>
              </a:rPr>
              <a:t>を排除</a:t>
            </a:r>
            <a:endParaRPr b="0" lang="en-US" sz="140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111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12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WHY PROBTF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13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通常の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TF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だけでは表現できないもの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14" name="Line 5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Line 6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Shape 7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117" name="TextShape 8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03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18" name="TextShape 9"/>
          <p:cNvSpPr txBox="1"/>
          <p:nvPr/>
        </p:nvSpPr>
        <p:spPr>
          <a:xfrm>
            <a:off x="612000" y="1152000"/>
            <a:ext cx="48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5c6b82"/>
                </a:solidFill>
                <a:latin typeface="Noto Sans CJK JP"/>
              </a:rPr>
              <a:t>通常</a:t>
            </a:r>
            <a:r>
              <a:rPr b="1" lang="en-US" sz="1300" spc="-1" strike="noStrike">
                <a:solidFill>
                  <a:srgbClr val="5c6b82"/>
                </a:solidFill>
                <a:latin typeface="Noto Sans CJK JP"/>
              </a:rPr>
              <a:t>TF</a:t>
            </a:r>
            <a:r>
              <a:rPr b="1" lang="zh-CN" sz="1300" spc="-1" strike="noStrike">
                <a:solidFill>
                  <a:srgbClr val="5c6b82"/>
                </a:solidFill>
                <a:latin typeface="Noto Sans CJK JP"/>
              </a:rPr>
              <a:t>：代表姿勢 </a:t>
            </a:r>
            <a:r>
              <a:rPr b="1" lang="en-US" sz="1300" spc="-1" strike="noStrike">
                <a:solidFill>
                  <a:srgbClr val="5c6b82"/>
                </a:solidFill>
                <a:latin typeface="Noto Sans CJK JP"/>
              </a:rPr>
              <a:t>1 </a:t>
            </a:r>
            <a:r>
              <a:rPr b="1" lang="zh-CN" sz="1300" spc="-1" strike="noStrike">
                <a:solidFill>
                  <a:srgbClr val="5c6b82"/>
                </a:solidFill>
                <a:latin typeface="Noto Sans CJK JP"/>
              </a:rPr>
              <a:t>個</a:t>
            </a:r>
            <a:endParaRPr b="1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19" name="Rectangle 10"/>
          <p:cNvSpPr/>
          <p:nvPr/>
        </p:nvSpPr>
        <p:spPr>
          <a:xfrm>
            <a:off x="576000" y="1368000"/>
            <a:ext cx="5148000" cy="273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120" name="Rectangle 11"/>
          <p:cNvSpPr/>
          <p:nvPr/>
        </p:nvSpPr>
        <p:spPr>
          <a:xfrm>
            <a:off x="900000" y="1872000"/>
            <a:ext cx="1368000" cy="792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121" name="Rectangle 12"/>
          <p:cNvSpPr/>
          <p:nvPr/>
        </p:nvSpPr>
        <p:spPr>
          <a:xfrm>
            <a:off x="900000" y="1872000"/>
            <a:ext cx="1368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22" name="TextShape 13"/>
          <p:cNvSpPr txBox="1"/>
          <p:nvPr/>
        </p:nvSpPr>
        <p:spPr>
          <a:xfrm>
            <a:off x="964800" y="1981440"/>
            <a:ext cx="1238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base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23" name="TextShape 14"/>
          <p:cNvSpPr txBox="1"/>
          <p:nvPr/>
        </p:nvSpPr>
        <p:spPr>
          <a:xfrm>
            <a:off x="964800" y="2260800"/>
            <a:ext cx="1238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deterministic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4" name="TextShape 15"/>
          <p:cNvSpPr txBox="1"/>
          <p:nvPr/>
        </p:nvSpPr>
        <p:spPr>
          <a:xfrm>
            <a:off x="2340000" y="2150640"/>
            <a:ext cx="360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5c6b8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5" name="Rectangle 16"/>
          <p:cNvSpPr/>
          <p:nvPr/>
        </p:nvSpPr>
        <p:spPr>
          <a:xfrm>
            <a:off x="2736000" y="1872000"/>
            <a:ext cx="1368000" cy="792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126" name="Rectangle 17"/>
          <p:cNvSpPr/>
          <p:nvPr/>
        </p:nvSpPr>
        <p:spPr>
          <a:xfrm>
            <a:off x="2736000" y="1872000"/>
            <a:ext cx="1368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27" name="TextShape 18"/>
          <p:cNvSpPr txBox="1"/>
          <p:nvPr/>
        </p:nvSpPr>
        <p:spPr>
          <a:xfrm>
            <a:off x="2800800" y="1981440"/>
            <a:ext cx="1238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tool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28" name="TextShape 19"/>
          <p:cNvSpPr txBox="1"/>
          <p:nvPr/>
        </p:nvSpPr>
        <p:spPr>
          <a:xfrm>
            <a:off x="2800800" y="2260800"/>
            <a:ext cx="1238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 ∈ SE(3)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9" name="Ellipse 20"/>
          <p:cNvSpPr/>
          <p:nvPr/>
        </p:nvSpPr>
        <p:spPr>
          <a:xfrm>
            <a:off x="4500000" y="2070000"/>
            <a:ext cx="252000" cy="2520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30" name="TextShape 21"/>
          <p:cNvSpPr txBox="1"/>
          <p:nvPr/>
        </p:nvSpPr>
        <p:spPr>
          <a:xfrm>
            <a:off x="4194000" y="2448000"/>
            <a:ext cx="9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点は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1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か所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31" name="TextShape 22"/>
          <p:cNvSpPr txBox="1"/>
          <p:nvPr/>
        </p:nvSpPr>
        <p:spPr>
          <a:xfrm>
            <a:off x="1008000" y="3096000"/>
            <a:ext cx="3960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600" spc="-1" strike="noStrike">
                <a:solidFill>
                  <a:srgbClr val="dc2626"/>
                </a:solidFill>
                <a:latin typeface="Noto Sans CJK JP"/>
              </a:rPr>
              <a:t>姿勢・並進の不確かさ、相関、複数仮説は</a:t>
            </a:r>
            <a:endParaRPr b="1" lang="en-US" sz="16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600" spc="-1" strike="noStrike">
                <a:solidFill>
                  <a:srgbClr val="dc2626"/>
                </a:solidFill>
                <a:latin typeface="Noto Sans CJK JP"/>
              </a:rPr>
              <a:t>TF message </a:t>
            </a:r>
            <a:r>
              <a:rPr b="1" lang="zh-CN" sz="1600" spc="-1" strike="noStrike">
                <a:solidFill>
                  <a:srgbClr val="dc2626"/>
                </a:solidFill>
                <a:latin typeface="Noto Sans CJK JP"/>
              </a:rPr>
              <a:t>の外へ消える</a:t>
            </a:r>
            <a:endParaRPr b="1" lang="en-US" sz="16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132" name="TextShape 23"/>
          <p:cNvSpPr txBox="1"/>
          <p:nvPr/>
        </p:nvSpPr>
        <p:spPr>
          <a:xfrm>
            <a:off x="6408000" y="1152000"/>
            <a:ext cx="48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ProbTF</a:t>
            </a:r>
            <a:r>
              <a:rPr b="1" lang="zh-CN" sz="1300" spc="-1" strike="noStrike">
                <a:solidFill>
                  <a:srgbClr val="2563eb"/>
                </a:solidFill>
                <a:latin typeface="Noto Sans CJK JP"/>
              </a:rPr>
              <a:t>：</a:t>
            </a:r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edge posterior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33" name="Rectangle 24"/>
          <p:cNvSpPr/>
          <p:nvPr/>
        </p:nvSpPr>
        <p:spPr>
          <a:xfrm>
            <a:off x="6282000" y="1368000"/>
            <a:ext cx="5148000" cy="273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92b1f5"/>
            </a:solidFill>
            <a:round/>
          </a:ln>
        </p:spPr>
      </p:sp>
      <p:sp>
        <p:nvSpPr>
          <p:cNvPr id="134" name="Rectangle 25"/>
          <p:cNvSpPr/>
          <p:nvPr/>
        </p:nvSpPr>
        <p:spPr>
          <a:xfrm>
            <a:off x="6552000" y="1872000"/>
            <a:ext cx="1224000" cy="792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135" name="Rectangle 26"/>
          <p:cNvSpPr/>
          <p:nvPr/>
        </p:nvSpPr>
        <p:spPr>
          <a:xfrm>
            <a:off x="6552000" y="1872000"/>
            <a:ext cx="1224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136" name="TextShape 27"/>
          <p:cNvSpPr txBox="1"/>
          <p:nvPr/>
        </p:nvSpPr>
        <p:spPr>
          <a:xfrm>
            <a:off x="6616800" y="1981440"/>
            <a:ext cx="1094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base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37" name="TextShape 28"/>
          <p:cNvSpPr txBox="1"/>
          <p:nvPr/>
        </p:nvSpPr>
        <p:spPr>
          <a:xfrm>
            <a:off x="6616800" y="2260800"/>
            <a:ext cx="1094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target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38" name="TextShape 29"/>
          <p:cNvSpPr txBox="1"/>
          <p:nvPr/>
        </p:nvSpPr>
        <p:spPr>
          <a:xfrm>
            <a:off x="7776000" y="2150640"/>
            <a:ext cx="360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39" name="Rectangle 30"/>
          <p:cNvSpPr/>
          <p:nvPr/>
        </p:nvSpPr>
        <p:spPr>
          <a:xfrm>
            <a:off x="8136000" y="1872000"/>
            <a:ext cx="1512000" cy="792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140" name="Rectangle 31"/>
          <p:cNvSpPr/>
          <p:nvPr/>
        </p:nvSpPr>
        <p:spPr>
          <a:xfrm>
            <a:off x="8136000" y="1872000"/>
            <a:ext cx="1512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141" name="TextShape 32"/>
          <p:cNvSpPr txBox="1"/>
          <p:nvPr/>
        </p:nvSpPr>
        <p:spPr>
          <a:xfrm>
            <a:off x="8200800" y="1981440"/>
            <a:ext cx="1382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tool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42" name="TextShape 33"/>
          <p:cNvSpPr txBox="1"/>
          <p:nvPr/>
        </p:nvSpPr>
        <p:spPr>
          <a:xfrm>
            <a:off x="8200800" y="2260800"/>
            <a:ext cx="1382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 ~ p(T)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43" name="Ellipse 34"/>
          <p:cNvSpPr/>
          <p:nvPr/>
        </p:nvSpPr>
        <p:spPr>
          <a:xfrm>
            <a:off x="10260000" y="2106000"/>
            <a:ext cx="432000" cy="234000"/>
          </a:xfrm>
          <a:prstGeom prst="ellipse">
            <a:avLst/>
          </a:prstGeom>
          <a:solidFill>
            <a:srgbClr val="2563eb">
              <a:alpha val="28000"/>
            </a:srgbClr>
          </a:solidFill>
          <a:ln w="12600">
            <a:solidFill>
              <a:srgbClr val="2563eb"/>
            </a:solidFill>
            <a:round/>
          </a:ln>
        </p:spPr>
      </p:sp>
      <p:sp>
        <p:nvSpPr>
          <p:cNvPr id="144" name="Ellipse 35"/>
          <p:cNvSpPr/>
          <p:nvPr/>
        </p:nvSpPr>
        <p:spPr>
          <a:xfrm>
            <a:off x="10476000" y="1998000"/>
            <a:ext cx="432000" cy="234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600">
            <a:solidFill>
              <a:srgbClr val="7c3aed"/>
            </a:solidFill>
            <a:round/>
          </a:ln>
        </p:spPr>
      </p:sp>
      <p:sp>
        <p:nvSpPr>
          <p:cNvPr id="145" name="Ellipse 36"/>
          <p:cNvSpPr/>
          <p:nvPr/>
        </p:nvSpPr>
        <p:spPr>
          <a:xfrm>
            <a:off x="10080000" y="2242800"/>
            <a:ext cx="432000" cy="2340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600">
            <a:solidFill>
              <a:srgbClr val="0891b2"/>
            </a:solidFill>
            <a:round/>
          </a:ln>
        </p:spPr>
      </p:sp>
      <p:sp>
        <p:nvSpPr>
          <p:cNvPr id="146" name="Ellipse 37"/>
          <p:cNvSpPr/>
          <p:nvPr/>
        </p:nvSpPr>
        <p:spPr>
          <a:xfrm>
            <a:off x="10422000" y="2142000"/>
            <a:ext cx="108000" cy="108000"/>
          </a:xfrm>
          <a:prstGeom prst="ellipse">
            <a:avLst/>
          </a:prstGeom>
          <a:solidFill>
            <a:srgbClr val="152238"/>
          </a:solidFill>
          <a:ln w="6480">
            <a:solidFill>
              <a:srgbClr val="152238">
                <a:alpha val="0"/>
              </a:srgbClr>
            </a:solidFill>
            <a:round/>
          </a:ln>
        </p:spPr>
      </p:sp>
      <p:sp>
        <p:nvSpPr>
          <p:cNvPr id="147" name="TextShape 38"/>
          <p:cNvSpPr txBox="1"/>
          <p:nvPr/>
        </p:nvSpPr>
        <p:spPr>
          <a:xfrm>
            <a:off x="10008000" y="2736000"/>
            <a:ext cx="115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300" spc="-1" strike="noStrike">
                <a:solidFill>
                  <a:srgbClr val="2563eb"/>
                </a:solidFill>
                <a:latin typeface="Noto Sans CJK JP"/>
              </a:rPr>
              <a:t>点の分布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48" name="TextShape 39"/>
          <p:cNvSpPr txBox="1"/>
          <p:nvPr/>
        </p:nvSpPr>
        <p:spPr>
          <a:xfrm>
            <a:off x="6768000" y="3114000"/>
            <a:ext cx="4032000" cy="87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分布を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edge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に保持し、必要な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query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でだけ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平均・共分散・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sample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へ評価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49" name="Rectangle 40"/>
          <p:cNvSpPr/>
          <p:nvPr/>
        </p:nvSpPr>
        <p:spPr>
          <a:xfrm>
            <a:off x="684000" y="4482000"/>
            <a:ext cx="3348000" cy="936000"/>
          </a:xfrm>
          <a:prstGeom prst="roundRect">
            <a:avLst/>
          </a:prstGeom>
          <a:solidFill>
            <a:srgbClr val="ebf1fd"/>
          </a:solidFill>
          <a:ln w="6480">
            <a:solidFill>
              <a:srgbClr val="ebf1fd">
                <a:alpha val="0"/>
              </a:srgbClr>
            </a:solidFill>
            <a:round/>
          </a:ln>
        </p:spPr>
      </p:sp>
      <p:sp>
        <p:nvSpPr>
          <p:cNvPr id="150" name="Ellipse 41"/>
          <p:cNvSpPr/>
          <p:nvPr/>
        </p:nvSpPr>
        <p:spPr>
          <a:xfrm>
            <a:off x="846000" y="4770000"/>
            <a:ext cx="208800" cy="2088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51" name="TextShape 42"/>
          <p:cNvSpPr txBox="1"/>
          <p:nvPr/>
        </p:nvSpPr>
        <p:spPr>
          <a:xfrm>
            <a:off x="846000" y="4829040"/>
            <a:ext cx="2088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2" name="TextShape 43"/>
          <p:cNvSpPr txBox="1"/>
          <p:nvPr/>
        </p:nvSpPr>
        <p:spPr>
          <a:xfrm>
            <a:off x="1134000" y="4626000"/>
            <a:ext cx="270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回転は球面／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quaternion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上：単純な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3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次元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Gaussian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ではない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53" name="Rectangle 44"/>
          <p:cNvSpPr/>
          <p:nvPr/>
        </p:nvSpPr>
        <p:spPr>
          <a:xfrm>
            <a:off x="4392000" y="4482000"/>
            <a:ext cx="3348000" cy="936000"/>
          </a:xfrm>
          <a:prstGeom prst="roundRect">
            <a:avLst/>
          </a:prstGeom>
          <a:solidFill>
            <a:srgbClr val="f3edfd"/>
          </a:solidFill>
          <a:ln w="6480">
            <a:solidFill>
              <a:srgbClr val="f3edfd">
                <a:alpha val="0"/>
              </a:srgbClr>
            </a:solidFill>
            <a:round/>
          </a:ln>
        </p:spPr>
      </p:sp>
      <p:sp>
        <p:nvSpPr>
          <p:cNvPr id="154" name="Ellipse 45"/>
          <p:cNvSpPr/>
          <p:nvPr/>
        </p:nvSpPr>
        <p:spPr>
          <a:xfrm>
            <a:off x="4554000" y="4770000"/>
            <a:ext cx="208800" cy="208800"/>
          </a:xfrm>
          <a:prstGeom prst="ellipse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155" name="TextShape 46"/>
          <p:cNvSpPr txBox="1"/>
          <p:nvPr/>
        </p:nvSpPr>
        <p:spPr>
          <a:xfrm>
            <a:off x="4554000" y="4829040"/>
            <a:ext cx="2088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6" name="TextShape 47"/>
          <p:cNvSpPr txBox="1"/>
          <p:nvPr/>
        </p:nvSpPr>
        <p:spPr>
          <a:xfrm>
            <a:off x="4842000" y="4626000"/>
            <a:ext cx="270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回転と並進が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couple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すると、向きの揺らぎが位置へ伝わる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57" name="Rectangle 48"/>
          <p:cNvSpPr/>
          <p:nvPr/>
        </p:nvSpPr>
        <p:spPr>
          <a:xfrm>
            <a:off x="8100000" y="4482000"/>
            <a:ext cx="3348000" cy="936000"/>
          </a:xfrm>
          <a:prstGeom prst="roundRect">
            <a:avLst/>
          </a:prstGeom>
          <a:solidFill>
            <a:srgbClr val="fcf3e9"/>
          </a:solidFill>
          <a:ln w="6480">
            <a:solidFill>
              <a:srgbClr val="fcf3e9">
                <a:alpha val="0"/>
              </a:srgbClr>
            </a:solidFill>
            <a:round/>
          </a:ln>
        </p:spPr>
      </p:sp>
      <p:sp>
        <p:nvSpPr>
          <p:cNvPr id="158" name="Ellipse 49"/>
          <p:cNvSpPr/>
          <p:nvPr/>
        </p:nvSpPr>
        <p:spPr>
          <a:xfrm>
            <a:off x="8262000" y="4770000"/>
            <a:ext cx="208800" cy="208800"/>
          </a:xfrm>
          <a:prstGeom prst="ellipse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159" name="TextShape 50"/>
          <p:cNvSpPr txBox="1"/>
          <p:nvPr/>
        </p:nvSpPr>
        <p:spPr>
          <a:xfrm>
            <a:off x="8262000" y="4829040"/>
            <a:ext cx="2088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60" name="TextShape 51"/>
          <p:cNvSpPr txBox="1"/>
          <p:nvPr/>
        </p:nvSpPr>
        <p:spPr>
          <a:xfrm>
            <a:off x="8550000" y="4626000"/>
            <a:ext cx="2700000" cy="77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対称性や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data association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では複数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hypothesis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を保つ必要がある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162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63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PROBTF MODEL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64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ProbTF v2 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の中心データモデル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65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1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本の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physical edge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が、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joint pose hypothesis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mixture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を運ぶ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66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169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04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70" name="Rectangle 10"/>
          <p:cNvSpPr/>
          <p:nvPr/>
        </p:nvSpPr>
        <p:spPr>
          <a:xfrm>
            <a:off x="576000" y="1188000"/>
            <a:ext cx="4608000" cy="4176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171" name="Rectangle 11"/>
          <p:cNvSpPr/>
          <p:nvPr/>
        </p:nvSpPr>
        <p:spPr>
          <a:xfrm>
            <a:off x="828000" y="1458000"/>
            <a:ext cx="1260000" cy="187200"/>
          </a:xfrm>
          <a:prstGeom prst="roundRect">
            <a:avLst/>
          </a:prstGeom>
          <a:solidFill>
            <a:srgbClr val="183154"/>
          </a:solidFill>
          <a:ln w="6480">
            <a:solidFill>
              <a:srgbClr val="28456b"/>
            </a:solidFill>
            <a:round/>
          </a:ln>
        </p:spPr>
      </p:sp>
      <p:sp>
        <p:nvSpPr>
          <p:cNvPr id="172" name="TextShape 12"/>
          <p:cNvSpPr txBox="1"/>
          <p:nvPr/>
        </p:nvSpPr>
        <p:spPr>
          <a:xfrm>
            <a:off x="871200" y="1509840"/>
            <a:ext cx="1173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8de8f5"/>
                </a:solidFill>
                <a:latin typeface="Noto Sans CJK JP"/>
              </a:rPr>
              <a:t>PHYSICAL ACTION</a:t>
            </a:r>
            <a:endParaRPr b="1" lang="en-US" sz="11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173" name="TextShape 13"/>
          <p:cNvSpPr txBox="1"/>
          <p:nvPr/>
        </p:nvSpPr>
        <p:spPr>
          <a:xfrm>
            <a:off x="828000" y="1872000"/>
            <a:ext cx="3888000" cy="34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JP"/>
              </a:rPr>
              <a:t>z_parent = R(Q) z_child + X</a:t>
            </a:r>
            <a:endParaRPr b="1" lang="en-US" sz="19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74" name="TextShape 14"/>
          <p:cNvSpPr txBox="1"/>
          <p:nvPr/>
        </p:nvSpPr>
        <p:spPr>
          <a:xfrm>
            <a:off x="936000" y="2520000"/>
            <a:ext cx="3672000" cy="104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900" spc="-1" strike="noStrike">
                <a:solidFill>
                  <a:srgbClr val="d7e4f5"/>
                </a:solidFill>
                <a:latin typeface="Noto Sans CJK JP"/>
              </a:rPr>
              <a:t>L ~ Categorical(w₁,…,wₖ)</a:t>
            </a:r>
            <a:endParaRPr b="0" lang="en-US" sz="19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900" spc="-1" strike="noStrike">
                <a:solidFill>
                  <a:srgbClr val="d7e4f5"/>
                </a:solidFill>
                <a:latin typeface="Noto Sans CJK JP"/>
              </a:rPr>
              <a:t>Q | L=ℓ ~ Bingham(Aℓ)</a:t>
            </a:r>
            <a:endParaRPr b="0" lang="en-US" sz="19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900" spc="-1" strike="noStrike">
                <a:solidFill>
                  <a:srgbClr val="d7e4f5"/>
                </a:solidFill>
                <a:latin typeface="Noto Sans CJK JP"/>
              </a:rPr>
              <a:t>X | Q,L=ℓ ~ conditional Gaussian</a:t>
            </a:r>
            <a:endParaRPr b="0" lang="en-US" sz="19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</p:txBody>
      </p:sp>
      <p:sp>
        <p:nvSpPr>
          <p:cNvPr id="175" name="Line 15"/>
          <p:cNvSpPr/>
          <p:nvPr/>
        </p:nvSpPr>
        <p:spPr>
          <a:xfrm>
            <a:off x="1080000" y="3852000"/>
            <a:ext cx="3600000" cy="0"/>
          </a:xfrm>
          <a:prstGeom prst="line">
            <a:avLst/>
          </a:prstGeom>
          <a:ln w="9000">
            <a:solidFill>
              <a:srgbClr val="31476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Shape 16"/>
          <p:cNvSpPr txBox="1"/>
          <p:nvPr/>
        </p:nvSpPr>
        <p:spPr>
          <a:xfrm>
            <a:off x="936000" y="4104000"/>
            <a:ext cx="3672000" cy="82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500" spc="-1" strike="noStrike">
                <a:solidFill>
                  <a:srgbClr val="9cb2ce"/>
                </a:solidFill>
                <a:latin typeface="Noto Sans CJK JP"/>
              </a:rPr>
              <a:t>parent / child / stamp / edge ID / authority</a:t>
            </a:r>
            <a:endParaRPr b="0" lang="en-US" sz="150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500" spc="-1" strike="noStrike">
                <a:solidFill>
                  <a:srgbClr val="9cb2ce"/>
                </a:solidFill>
                <a:latin typeface="Noto Sans CJK JP"/>
              </a:rPr>
              <a:t>+ approximation + provenance</a:t>
            </a:r>
            <a:endParaRPr b="0" lang="en-US" sz="150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177" name="Rectangle 17"/>
          <p:cNvSpPr/>
          <p:nvPr/>
        </p:nvSpPr>
        <p:spPr>
          <a:xfrm>
            <a:off x="5580000" y="1188000"/>
            <a:ext cx="5832000" cy="91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178" name="Rectangle 18"/>
          <p:cNvSpPr/>
          <p:nvPr/>
        </p:nvSpPr>
        <p:spPr>
          <a:xfrm>
            <a:off x="5580000" y="1188000"/>
            <a:ext cx="39600" cy="918000"/>
          </a:xfrm>
          <a:prstGeom prst="round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179" name="Ellipse 19"/>
          <p:cNvSpPr/>
          <p:nvPr/>
        </p:nvSpPr>
        <p:spPr>
          <a:xfrm>
            <a:off x="5734800" y="1324800"/>
            <a:ext cx="306000" cy="306000"/>
          </a:xfrm>
          <a:prstGeom prst="ellipse">
            <a:avLst/>
          </a:prstGeom>
          <a:solidFill>
            <a:srgbClr val="e0e9fc"/>
          </a:solidFill>
          <a:ln w="6480">
            <a:solidFill>
              <a:srgbClr val="e0e9fc">
                <a:alpha val="0"/>
              </a:srgbClr>
            </a:solidFill>
            <a:round/>
          </a:ln>
        </p:spPr>
      </p:sp>
      <p:sp>
        <p:nvSpPr>
          <p:cNvPr id="180" name="TextShape 20"/>
          <p:cNvSpPr txBox="1"/>
          <p:nvPr/>
        </p:nvSpPr>
        <p:spPr>
          <a:xfrm>
            <a:off x="5734800" y="1383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2563eb"/>
                </a:solidFill>
                <a:latin typeface="Noto Sans CJK JP"/>
              </a:rPr>
              <a:t>Q</a:t>
            </a:r>
            <a:endParaRPr b="1" lang="en-US" sz="2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81" name="TextShape 21"/>
          <p:cNvSpPr txBox="1"/>
          <p:nvPr/>
        </p:nvSpPr>
        <p:spPr>
          <a:xfrm>
            <a:off x="6120000" y="1296000"/>
            <a:ext cx="5148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BinghamOrientation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82" name="TextShape 22"/>
          <p:cNvSpPr txBox="1"/>
          <p:nvPr/>
        </p:nvSpPr>
        <p:spPr>
          <a:xfrm>
            <a:off x="5767200" y="1638000"/>
            <a:ext cx="550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FINITE_BINGHAM / DIRAC / UNIFORM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quaternion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antipodal symmetry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を保持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83" name="Rectangle 23"/>
          <p:cNvSpPr/>
          <p:nvPr/>
        </p:nvSpPr>
        <p:spPr>
          <a:xfrm>
            <a:off x="5580000" y="2268000"/>
            <a:ext cx="5832000" cy="91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184" name="Rectangle 24"/>
          <p:cNvSpPr/>
          <p:nvPr/>
        </p:nvSpPr>
        <p:spPr>
          <a:xfrm>
            <a:off x="5580000" y="2268000"/>
            <a:ext cx="39600" cy="918000"/>
          </a:xfrm>
          <a:prstGeom prst="round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185" name="Ellipse 25"/>
          <p:cNvSpPr/>
          <p:nvPr/>
        </p:nvSpPr>
        <p:spPr>
          <a:xfrm>
            <a:off x="5734800" y="2404800"/>
            <a:ext cx="306000" cy="306000"/>
          </a:xfrm>
          <a:prstGeom prst="ellipse">
            <a:avLst/>
          </a:prstGeom>
          <a:solidFill>
            <a:srgbClr val="dcf0f4"/>
          </a:solidFill>
          <a:ln w="6480">
            <a:solidFill>
              <a:srgbClr val="dcf0f4">
                <a:alpha val="0"/>
              </a:srgbClr>
            </a:solidFill>
            <a:round/>
          </a:ln>
        </p:spPr>
      </p:sp>
      <p:sp>
        <p:nvSpPr>
          <p:cNvPr id="186" name="TextShape 26"/>
          <p:cNvSpPr txBox="1"/>
          <p:nvPr/>
        </p:nvSpPr>
        <p:spPr>
          <a:xfrm>
            <a:off x="5734800" y="2463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0891b2"/>
                </a:solidFill>
                <a:latin typeface="Noto Sans CJK JP"/>
              </a:rPr>
              <a:t>X</a:t>
            </a:r>
            <a:endParaRPr b="1" lang="en-US" sz="20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87" name="TextShape 27"/>
          <p:cNvSpPr txBox="1"/>
          <p:nvPr/>
        </p:nvSpPr>
        <p:spPr>
          <a:xfrm>
            <a:off x="6120000" y="2376000"/>
            <a:ext cx="5148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ConditionalGaussianTranslation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88" name="TextShape 28"/>
          <p:cNvSpPr txBox="1"/>
          <p:nvPr/>
        </p:nvSpPr>
        <p:spPr>
          <a:xfrm>
            <a:off x="5767200" y="2718000"/>
            <a:ext cx="550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mean m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residual covariance S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rotation coupling C ∈ ℝ³ˣ⁹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89" name="Rectangle 29"/>
          <p:cNvSpPr/>
          <p:nvPr/>
        </p:nvSpPr>
        <p:spPr>
          <a:xfrm>
            <a:off x="5580000" y="3348000"/>
            <a:ext cx="5832000" cy="91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190" name="Rectangle 30"/>
          <p:cNvSpPr/>
          <p:nvPr/>
        </p:nvSpPr>
        <p:spPr>
          <a:xfrm>
            <a:off x="5580000" y="3348000"/>
            <a:ext cx="39600" cy="918000"/>
          </a:xfrm>
          <a:prstGeom prst="round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191" name="Ellipse 31"/>
          <p:cNvSpPr/>
          <p:nvPr/>
        </p:nvSpPr>
        <p:spPr>
          <a:xfrm>
            <a:off x="5734800" y="3484800"/>
            <a:ext cx="306000" cy="306000"/>
          </a:xfrm>
          <a:prstGeom prst="ellipse">
            <a:avLst/>
          </a:prstGeom>
          <a:solidFill>
            <a:srgbClr val="ede3fc"/>
          </a:solidFill>
          <a:ln w="6480">
            <a:solidFill>
              <a:srgbClr val="ede3fc">
                <a:alpha val="0"/>
              </a:srgbClr>
            </a:solidFill>
            <a:round/>
          </a:ln>
        </p:spPr>
      </p:sp>
      <p:sp>
        <p:nvSpPr>
          <p:cNvPr id="192" name="TextShape 32"/>
          <p:cNvSpPr txBox="1"/>
          <p:nvPr/>
        </p:nvSpPr>
        <p:spPr>
          <a:xfrm>
            <a:off x="5734800" y="3543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7c3aed"/>
                </a:solidFill>
                <a:latin typeface="Noto Sans CJK JP"/>
              </a:rPr>
              <a:t>ℓ</a:t>
            </a:r>
            <a:endParaRPr b="1" lang="en-US" sz="2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93" name="TextShape 33"/>
          <p:cNvSpPr txBox="1"/>
          <p:nvPr/>
        </p:nvSpPr>
        <p:spPr>
          <a:xfrm>
            <a:off x="6120000" y="3456000"/>
            <a:ext cx="5148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TransformComponent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4" name="TextShape 34"/>
          <p:cNvSpPr txBox="1"/>
          <p:nvPr/>
        </p:nvSpPr>
        <p:spPr>
          <a:xfrm>
            <a:off x="5767200" y="3798000"/>
            <a:ext cx="550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raw weight + 1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つの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joint pose hypothesis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不正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weight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は診断し、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identity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へ黙殺しない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95" name="Rectangle 35"/>
          <p:cNvSpPr/>
          <p:nvPr/>
        </p:nvSpPr>
        <p:spPr>
          <a:xfrm>
            <a:off x="5580000" y="4428000"/>
            <a:ext cx="5832000" cy="91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196" name="Rectangle 36"/>
          <p:cNvSpPr/>
          <p:nvPr/>
        </p:nvSpPr>
        <p:spPr>
          <a:xfrm>
            <a:off x="5580000" y="4428000"/>
            <a:ext cx="39600" cy="91800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197" name="Ellipse 37"/>
          <p:cNvSpPr/>
          <p:nvPr/>
        </p:nvSpPr>
        <p:spPr>
          <a:xfrm>
            <a:off x="5734800" y="4564800"/>
            <a:ext cx="306000" cy="306000"/>
          </a:xfrm>
          <a:prstGeom prst="ellipse">
            <a:avLst/>
          </a:prstGeom>
          <a:solidFill>
            <a:srgbClr val="dcf0ea"/>
          </a:solidFill>
          <a:ln w="6480">
            <a:solidFill>
              <a:srgbClr val="dcf0ea">
                <a:alpha val="0"/>
              </a:srgbClr>
            </a:solidFill>
            <a:round/>
          </a:ln>
        </p:spPr>
      </p:sp>
      <p:sp>
        <p:nvSpPr>
          <p:cNvPr id="198" name="TextShape 38"/>
          <p:cNvSpPr txBox="1"/>
          <p:nvPr/>
        </p:nvSpPr>
        <p:spPr>
          <a:xfrm>
            <a:off x="5734800" y="4623840"/>
            <a:ext cx="306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000" spc="-1" strike="noStrike">
                <a:solidFill>
                  <a:srgbClr val="059669"/>
                </a:solidFill>
                <a:latin typeface="Noto Sans CJK JP"/>
              </a:rPr>
              <a:t>Σ</a:t>
            </a:r>
            <a:endParaRPr b="1" lang="en-US" sz="2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199" name="TextShape 39"/>
          <p:cNvSpPr txBox="1"/>
          <p:nvPr/>
        </p:nvSpPr>
        <p:spPr>
          <a:xfrm>
            <a:off x="6120000" y="4536000"/>
            <a:ext cx="5148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TransformDistribution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00" name="TextShape 40"/>
          <p:cNvSpPr txBox="1"/>
          <p:nvPr/>
        </p:nvSpPr>
        <p:spPr>
          <a:xfrm>
            <a:off x="5767200" y="4878000"/>
            <a:ext cx="550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component mixture + status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full stamped physical SE(3) edge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01" name="Rectangle 41"/>
          <p:cNvSpPr/>
          <p:nvPr/>
        </p:nvSpPr>
        <p:spPr>
          <a:xfrm>
            <a:off x="5580000" y="5616000"/>
            <a:ext cx="5832000" cy="396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e8f7f1">
                <a:alpha val="0"/>
              </a:srgbClr>
            </a:solidFill>
            <a:round/>
          </a:ln>
        </p:spPr>
      </p:sp>
      <p:sp>
        <p:nvSpPr>
          <p:cNvPr id="202" name="TextShape 42"/>
          <p:cNvSpPr txBox="1"/>
          <p:nvPr/>
        </p:nvSpPr>
        <p:spPr>
          <a:xfrm>
            <a:off x="5724000" y="5724000"/>
            <a:ext cx="5544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059669"/>
                </a:solidFill>
                <a:latin typeface="Noto Sans CJK JP"/>
              </a:rPr>
              <a:t>exact deterministic ⇔ 1 component + Dirac Q + S=0 + C=0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204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205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891b2"/>
                </a:solidFill>
                <a:latin typeface="Noto Sans CJK JP"/>
              </a:rPr>
              <a:t>PROBTF COUPLING</a:t>
            </a:r>
            <a:endParaRPr b="1" lang="en-US" sz="10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06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回転と並進を独立にしない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07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Conditional translation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が、回転の揺らぎを位置へ写す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08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211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891b2"/>
                </a:solidFill>
                <a:latin typeface="Noto Sans CJK JP"/>
              </a:rPr>
              <a:t>05</a:t>
            </a:r>
            <a:endParaRPr b="1" lang="en-US" sz="11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12" name="Rectangle 10"/>
          <p:cNvSpPr/>
          <p:nvPr/>
        </p:nvSpPr>
        <p:spPr>
          <a:xfrm>
            <a:off x="576000" y="1188000"/>
            <a:ext cx="5148000" cy="19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213" name="Rectangle 11"/>
          <p:cNvSpPr/>
          <p:nvPr/>
        </p:nvSpPr>
        <p:spPr>
          <a:xfrm>
            <a:off x="792000" y="1386000"/>
            <a:ext cx="1152000" cy="1872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e6f7fb">
                <a:alpha val="0"/>
              </a:srgbClr>
            </a:solidFill>
            <a:round/>
          </a:ln>
        </p:spPr>
      </p:sp>
      <p:sp>
        <p:nvSpPr>
          <p:cNvPr id="214" name="TextShape 12"/>
          <p:cNvSpPr txBox="1"/>
          <p:nvPr/>
        </p:nvSpPr>
        <p:spPr>
          <a:xfrm>
            <a:off x="835200" y="1539000"/>
            <a:ext cx="1065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891b2"/>
                </a:solidFill>
                <a:latin typeface="Noto Sans CJK JP"/>
              </a:rPr>
              <a:t>JOINT COMPONENT</a:t>
            </a:r>
            <a:endParaRPr b="1" lang="en-US" sz="11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15" name="TextShape 13"/>
          <p:cNvSpPr txBox="1"/>
          <p:nvPr/>
        </p:nvSpPr>
        <p:spPr>
          <a:xfrm>
            <a:off x="900000" y="1800000"/>
            <a:ext cx="4464000" cy="628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X | Q=q  ~  𝒩(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m + C[vec R(q) − vec R_ref], S )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16" name="TextShape 14"/>
          <p:cNvSpPr txBox="1"/>
          <p:nvPr/>
        </p:nvSpPr>
        <p:spPr>
          <a:xfrm>
            <a:off x="900000" y="2340000"/>
            <a:ext cx="4464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C : 3 × 9 coupling matrix      vec(R) : column-major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17" name="TextShape 15"/>
          <p:cNvSpPr txBox="1"/>
          <p:nvPr/>
        </p:nvSpPr>
        <p:spPr>
          <a:xfrm>
            <a:off x="900000" y="2646000"/>
            <a:ext cx="4464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0891b2"/>
                </a:solidFill>
                <a:latin typeface="Noto Sans CJK JP"/>
              </a:rPr>
              <a:t>C=0 </a:t>
            </a:r>
            <a:r>
              <a:rPr b="1" lang="zh-CN" sz="1400" spc="-1" strike="noStrike">
                <a:solidFill>
                  <a:srgbClr val="0891b2"/>
                </a:solidFill>
                <a:latin typeface="Noto Sans CJK JP"/>
              </a:rPr>
              <a:t>なら回転・並進は条件付き平均上で独立</a:t>
            </a:r>
            <a:endParaRPr b="1" lang="en-US" sz="14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400" spc="-1" strike="noStrike">
                <a:solidFill>
                  <a:srgbClr val="0891b2"/>
                </a:solidFill>
                <a:latin typeface="Noto Sans CJK JP"/>
              </a:rPr>
              <a:t>C≠0 </a:t>
            </a:r>
            <a:r>
              <a:rPr b="1" lang="zh-CN" sz="1400" spc="-1" strike="noStrike">
                <a:solidFill>
                  <a:srgbClr val="0891b2"/>
                </a:solidFill>
                <a:latin typeface="Noto Sans CJK JP"/>
              </a:rPr>
              <a:t>なら姿勢の仮説ごとに並進平均も動く</a:t>
            </a:r>
            <a:endParaRPr b="1" lang="en-US" sz="14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18" name="Rectangle 16"/>
          <p:cNvSpPr/>
          <p:nvPr/>
        </p:nvSpPr>
        <p:spPr>
          <a:xfrm>
            <a:off x="6282000" y="1188000"/>
            <a:ext cx="5148000" cy="1908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219" name="Rectangle 17"/>
          <p:cNvSpPr/>
          <p:nvPr/>
        </p:nvSpPr>
        <p:spPr>
          <a:xfrm>
            <a:off x="6624000" y="1746000"/>
            <a:ext cx="1080000" cy="648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220" name="Rectangle 18"/>
          <p:cNvSpPr/>
          <p:nvPr/>
        </p:nvSpPr>
        <p:spPr>
          <a:xfrm>
            <a:off x="6624000" y="1746000"/>
            <a:ext cx="1080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221" name="TextShape 19"/>
          <p:cNvSpPr txBox="1"/>
          <p:nvPr/>
        </p:nvSpPr>
        <p:spPr>
          <a:xfrm>
            <a:off x="6688800" y="1855440"/>
            <a:ext cx="9504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ΔR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22" name="TextShape 20"/>
          <p:cNvSpPr txBox="1"/>
          <p:nvPr/>
        </p:nvSpPr>
        <p:spPr>
          <a:xfrm>
            <a:off x="6688800" y="2059200"/>
            <a:ext cx="950400" cy="19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回転揺らぎ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23" name="TextShape 21"/>
          <p:cNvSpPr txBox="1"/>
          <p:nvPr/>
        </p:nvSpPr>
        <p:spPr>
          <a:xfrm>
            <a:off x="7704000" y="197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24" name="Rectangle 22"/>
          <p:cNvSpPr/>
          <p:nvPr/>
        </p:nvSpPr>
        <p:spPr>
          <a:xfrm>
            <a:off x="8028000" y="1746000"/>
            <a:ext cx="1080000" cy="648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225" name="Rectangle 23"/>
          <p:cNvSpPr/>
          <p:nvPr/>
        </p:nvSpPr>
        <p:spPr>
          <a:xfrm>
            <a:off x="8028000" y="1746000"/>
            <a:ext cx="1080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226" name="TextShape 24"/>
          <p:cNvSpPr txBox="1"/>
          <p:nvPr/>
        </p:nvSpPr>
        <p:spPr>
          <a:xfrm>
            <a:off x="8092800" y="1855440"/>
            <a:ext cx="9504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C · Δr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27" name="TextShape 25"/>
          <p:cNvSpPr txBox="1"/>
          <p:nvPr/>
        </p:nvSpPr>
        <p:spPr>
          <a:xfrm>
            <a:off x="8092800" y="2059200"/>
            <a:ext cx="950400" cy="19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並進平均へ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28" name="TextShape 26"/>
          <p:cNvSpPr txBox="1"/>
          <p:nvPr/>
        </p:nvSpPr>
        <p:spPr>
          <a:xfrm>
            <a:off x="9108000" y="197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29" name="Rectangle 27"/>
          <p:cNvSpPr/>
          <p:nvPr/>
        </p:nvSpPr>
        <p:spPr>
          <a:xfrm>
            <a:off x="9432000" y="1746000"/>
            <a:ext cx="1512000" cy="648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b793f5"/>
            </a:solidFill>
            <a:round/>
          </a:ln>
        </p:spPr>
      </p:sp>
      <p:sp>
        <p:nvSpPr>
          <p:cNvPr id="230" name="Rectangle 28"/>
          <p:cNvSpPr/>
          <p:nvPr/>
        </p:nvSpPr>
        <p:spPr>
          <a:xfrm>
            <a:off x="9432000" y="1746000"/>
            <a:ext cx="1512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231" name="TextShape 29"/>
          <p:cNvSpPr txBox="1"/>
          <p:nvPr/>
        </p:nvSpPr>
        <p:spPr>
          <a:xfrm>
            <a:off x="9496800" y="1855440"/>
            <a:ext cx="13824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Y cloud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2" name="TextShape 30"/>
          <p:cNvSpPr txBox="1"/>
          <p:nvPr/>
        </p:nvSpPr>
        <p:spPr>
          <a:xfrm>
            <a:off x="9496800" y="2059200"/>
            <a:ext cx="1382400" cy="19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傾いた相関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33" name="TextShape 31"/>
          <p:cNvSpPr txBox="1"/>
          <p:nvPr/>
        </p:nvSpPr>
        <p:spPr>
          <a:xfrm>
            <a:off x="6804000" y="2628000"/>
            <a:ext cx="396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400" spc="-1" strike="noStrike">
                <a:solidFill>
                  <a:srgbClr val="afc3dd"/>
                </a:solidFill>
                <a:latin typeface="Noto Sans CJK JP"/>
              </a:rPr>
              <a:t>同じ </a:t>
            </a:r>
            <a:r>
              <a:rPr b="1" lang="en-US" sz="1400" spc="-1" strike="noStrike">
                <a:solidFill>
                  <a:srgbClr val="afc3dd"/>
                </a:solidFill>
                <a:latin typeface="Noto Sans CJK JP"/>
              </a:rPr>
              <a:t>orientation latent Q </a:t>
            </a:r>
            <a:r>
              <a:rPr b="1" lang="zh-CN" sz="1400" spc="-1" strike="noStrike">
                <a:solidFill>
                  <a:srgbClr val="afc3dd"/>
                </a:solidFill>
                <a:latin typeface="Noto Sans CJK JP"/>
              </a:rPr>
              <a:t>を共有</a:t>
            </a:r>
            <a:endParaRPr b="1" lang="en-US" sz="14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234" name="TextShape 32"/>
          <p:cNvSpPr txBox="1"/>
          <p:nvPr/>
        </p:nvSpPr>
        <p:spPr>
          <a:xfrm>
            <a:off x="648000" y="3528000"/>
            <a:ext cx="432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0891b2"/>
                </a:solidFill>
                <a:latin typeface="Noto Sans CJK JP"/>
              </a:rPr>
              <a:t>この</a:t>
            </a:r>
            <a:r>
              <a:rPr b="1" lang="en-US" sz="1300" spc="-1" strike="noStrike">
                <a:solidFill>
                  <a:srgbClr val="0891b2"/>
                </a:solidFill>
                <a:latin typeface="Noto Sans CJK JP"/>
              </a:rPr>
              <a:t>coupling</a:t>
            </a:r>
            <a:r>
              <a:rPr b="1" lang="zh-CN" sz="1300" spc="-1" strike="noStrike">
                <a:solidFill>
                  <a:srgbClr val="0891b2"/>
                </a:solidFill>
                <a:latin typeface="Noto Sans CJK JP"/>
              </a:rPr>
              <a:t>が効く場面</a:t>
            </a:r>
            <a:endParaRPr b="1" lang="en-US" sz="13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35" name="Rectangle 33"/>
          <p:cNvSpPr/>
          <p:nvPr/>
        </p:nvSpPr>
        <p:spPr>
          <a:xfrm>
            <a:off x="576000" y="3744000"/>
            <a:ext cx="3348000" cy="15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236" name="Rectangle 34"/>
          <p:cNvSpPr/>
          <p:nvPr/>
        </p:nvSpPr>
        <p:spPr>
          <a:xfrm>
            <a:off x="576000" y="3744000"/>
            <a:ext cx="39600" cy="1548000"/>
          </a:xfrm>
          <a:prstGeom prst="round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237" name="TextShape 35"/>
          <p:cNvSpPr txBox="1"/>
          <p:nvPr/>
        </p:nvSpPr>
        <p:spPr>
          <a:xfrm>
            <a:off x="763200" y="3852000"/>
            <a:ext cx="30168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152238"/>
                </a:solidFill>
                <a:latin typeface="Noto Sans CJK JP"/>
              </a:rPr>
              <a:t>IMU</a:t>
            </a:r>
            <a:r>
              <a:rPr b="1" lang="zh-CN" sz="1800" spc="-1" strike="noStrike">
                <a:solidFill>
                  <a:srgbClr val="152238"/>
                </a:solidFill>
                <a:latin typeface="Noto Sans CJK JP"/>
              </a:rPr>
              <a:t>間の相対</a:t>
            </a:r>
            <a:r>
              <a:rPr b="1" lang="en-US" sz="1800" spc="-1" strike="noStrike">
                <a:solidFill>
                  <a:srgbClr val="152238"/>
                </a:solidFill>
                <a:latin typeface="Noto Sans CJK JP"/>
              </a:rPr>
              <a:t>pose</a:t>
            </a:r>
            <a:endParaRPr b="1" lang="en-US" sz="1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8" name="TextShape 36"/>
          <p:cNvSpPr txBox="1"/>
          <p:nvPr/>
        </p:nvSpPr>
        <p:spPr>
          <a:xfrm>
            <a:off x="763200" y="4194000"/>
            <a:ext cx="3024000" cy="9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orientation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誤差と</a:t>
            </a:r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lever-arm translation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が相関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39" name="Rectangle 37"/>
          <p:cNvSpPr/>
          <p:nvPr/>
        </p:nvSpPr>
        <p:spPr>
          <a:xfrm>
            <a:off x="4212000" y="3744000"/>
            <a:ext cx="3348000" cy="15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240" name="Rectangle 38"/>
          <p:cNvSpPr/>
          <p:nvPr/>
        </p:nvSpPr>
        <p:spPr>
          <a:xfrm>
            <a:off x="4212000" y="3744000"/>
            <a:ext cx="39600" cy="1548000"/>
          </a:xfrm>
          <a:prstGeom prst="round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241" name="TextShape 39"/>
          <p:cNvSpPr txBox="1"/>
          <p:nvPr/>
        </p:nvSpPr>
        <p:spPr>
          <a:xfrm>
            <a:off x="4399200" y="3852000"/>
            <a:ext cx="30168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152238"/>
                </a:solidFill>
                <a:latin typeface="Noto Sans CJK JP"/>
              </a:rPr>
              <a:t>把持候補</a:t>
            </a:r>
            <a:endParaRPr b="1" lang="en-US" sz="1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42" name="TextShape 40"/>
          <p:cNvSpPr txBox="1"/>
          <p:nvPr/>
        </p:nvSpPr>
        <p:spPr>
          <a:xfrm>
            <a:off x="4399200" y="4194000"/>
            <a:ext cx="3024000" cy="9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object symmetry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の各姿勢仮説で</a:t>
            </a:r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grasp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位置も変化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43" name="Rectangle 41"/>
          <p:cNvSpPr/>
          <p:nvPr/>
        </p:nvSpPr>
        <p:spPr>
          <a:xfrm>
            <a:off x="7848000" y="3744000"/>
            <a:ext cx="3348000" cy="15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244" name="Rectangle 42"/>
          <p:cNvSpPr/>
          <p:nvPr/>
        </p:nvSpPr>
        <p:spPr>
          <a:xfrm>
            <a:off x="7848000" y="3744000"/>
            <a:ext cx="39600" cy="154800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245" name="TextShape 43"/>
          <p:cNvSpPr txBox="1"/>
          <p:nvPr/>
        </p:nvSpPr>
        <p:spPr>
          <a:xfrm>
            <a:off x="8035200" y="3852000"/>
            <a:ext cx="30168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152238"/>
                </a:solidFill>
                <a:latin typeface="Noto Sans CJK JP"/>
              </a:rPr>
              <a:t>ロボットリンク点</a:t>
            </a:r>
            <a:endParaRPr b="1" lang="en-US" sz="1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46" name="TextShape 44"/>
          <p:cNvSpPr txBox="1"/>
          <p:nvPr/>
        </p:nvSpPr>
        <p:spPr>
          <a:xfrm>
            <a:off x="8035200" y="4194000"/>
            <a:ext cx="3024000" cy="9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上流回転の不確かさが下流点位置へ累積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47" name="Rectangle 45"/>
          <p:cNvSpPr/>
          <p:nvPr/>
        </p:nvSpPr>
        <p:spPr>
          <a:xfrm>
            <a:off x="576000" y="5526000"/>
            <a:ext cx="10764000" cy="396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248" name="TextShape 46"/>
          <p:cNvSpPr txBox="1"/>
          <p:nvPr/>
        </p:nvSpPr>
        <p:spPr>
          <a:xfrm>
            <a:off x="684000" y="5634000"/>
            <a:ext cx="1054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注意：平均</a:t>
            </a:r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pose</a:t>
            </a:r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だけに潰すと、</a:t>
            </a:r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C</a:t>
            </a:r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と</a:t>
            </a:r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mixture</a:t>
            </a:r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が持つ下流位置の情報を失う</a:t>
            </a:r>
            <a:endParaRPr b="1" lang="en-US" sz="1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250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251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PROBTF QUERY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52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Graph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・時間・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query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の意味論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53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中央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RPC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ではなく、各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consumer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が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local graph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を所有する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54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257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06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58" name="Rectangle 10"/>
          <p:cNvSpPr/>
          <p:nvPr/>
        </p:nvSpPr>
        <p:spPr>
          <a:xfrm>
            <a:off x="576000" y="1188000"/>
            <a:ext cx="5220000" cy="38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259" name="TextShape 11"/>
          <p:cNvSpPr txBox="1"/>
          <p:nvPr/>
        </p:nvSpPr>
        <p:spPr>
          <a:xfrm>
            <a:off x="792000" y="1386000"/>
            <a:ext cx="18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TF-style forest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60" name="Ellipse 12"/>
          <p:cNvSpPr/>
          <p:nvPr/>
        </p:nvSpPr>
        <p:spPr>
          <a:xfrm>
            <a:off x="1296000" y="1836000"/>
            <a:ext cx="540000" cy="306000"/>
          </a:xfrm>
          <a:prstGeom prst="ellipse">
            <a:avLst/>
          </a:prstGeom>
          <a:solidFill>
            <a:srgbClr val="dee8fc"/>
          </a:solidFill>
          <a:ln w="12600">
            <a:solidFill>
              <a:srgbClr val="2563eb"/>
            </a:solidFill>
            <a:round/>
          </a:ln>
        </p:spPr>
      </p:sp>
      <p:sp>
        <p:nvSpPr>
          <p:cNvPr id="261" name="TextShape 13"/>
          <p:cNvSpPr txBox="1"/>
          <p:nvPr/>
        </p:nvSpPr>
        <p:spPr>
          <a:xfrm>
            <a:off x="1324800" y="1897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world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62" name="Ellipse 14"/>
          <p:cNvSpPr/>
          <p:nvPr/>
        </p:nvSpPr>
        <p:spPr>
          <a:xfrm>
            <a:off x="2484000" y="1836000"/>
            <a:ext cx="540000" cy="306000"/>
          </a:xfrm>
          <a:prstGeom prst="ellipse">
            <a:avLst/>
          </a:prstGeom>
          <a:solidFill>
            <a:srgbClr val="dee8fc"/>
          </a:solidFill>
          <a:ln w="12600">
            <a:solidFill>
              <a:srgbClr val="2563eb"/>
            </a:solidFill>
            <a:round/>
          </a:ln>
        </p:spPr>
      </p:sp>
      <p:sp>
        <p:nvSpPr>
          <p:cNvPr id="263" name="TextShape 15"/>
          <p:cNvSpPr txBox="1"/>
          <p:nvPr/>
        </p:nvSpPr>
        <p:spPr>
          <a:xfrm>
            <a:off x="2512800" y="1897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base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64" name="Ellipse 16"/>
          <p:cNvSpPr/>
          <p:nvPr/>
        </p:nvSpPr>
        <p:spPr>
          <a:xfrm>
            <a:off x="3600000" y="1548000"/>
            <a:ext cx="540000" cy="306000"/>
          </a:xfrm>
          <a:prstGeom prst="ellipse">
            <a:avLst/>
          </a:prstGeom>
          <a:solidFill>
            <a:srgbClr val="daeef3"/>
          </a:solidFill>
          <a:ln w="12600">
            <a:solidFill>
              <a:srgbClr val="0891b2"/>
            </a:solidFill>
            <a:round/>
          </a:ln>
        </p:spPr>
      </p:sp>
      <p:sp>
        <p:nvSpPr>
          <p:cNvPr id="265" name="TextShape 17"/>
          <p:cNvSpPr txBox="1"/>
          <p:nvPr/>
        </p:nvSpPr>
        <p:spPr>
          <a:xfrm>
            <a:off x="3628800" y="1609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arm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66" name="Ellipse 18"/>
          <p:cNvSpPr/>
          <p:nvPr/>
        </p:nvSpPr>
        <p:spPr>
          <a:xfrm>
            <a:off x="4644000" y="1548000"/>
            <a:ext cx="540000" cy="306000"/>
          </a:xfrm>
          <a:prstGeom prst="ellipse">
            <a:avLst/>
          </a:prstGeom>
          <a:solidFill>
            <a:srgbClr val="daeef3"/>
          </a:solidFill>
          <a:ln w="12600">
            <a:solidFill>
              <a:srgbClr val="0891b2"/>
            </a:solidFill>
            <a:round/>
          </a:ln>
        </p:spPr>
      </p:sp>
      <p:sp>
        <p:nvSpPr>
          <p:cNvPr id="267" name="TextShape 19"/>
          <p:cNvSpPr txBox="1"/>
          <p:nvPr/>
        </p:nvSpPr>
        <p:spPr>
          <a:xfrm>
            <a:off x="4672800" y="1609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tool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68" name="Ellipse 20"/>
          <p:cNvSpPr/>
          <p:nvPr/>
        </p:nvSpPr>
        <p:spPr>
          <a:xfrm>
            <a:off x="3600000" y="2340000"/>
            <a:ext cx="540000" cy="306000"/>
          </a:xfrm>
          <a:prstGeom prst="ellipse">
            <a:avLst/>
          </a:prstGeom>
          <a:solidFill>
            <a:srgbClr val="daeef3"/>
          </a:solidFill>
          <a:ln w="12600">
            <a:solidFill>
              <a:srgbClr val="0891b2"/>
            </a:solidFill>
            <a:round/>
          </a:ln>
        </p:spPr>
      </p:sp>
      <p:sp>
        <p:nvSpPr>
          <p:cNvPr id="269" name="TextShape 21"/>
          <p:cNvSpPr txBox="1"/>
          <p:nvPr/>
        </p:nvSpPr>
        <p:spPr>
          <a:xfrm>
            <a:off x="3628800" y="2401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camera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70" name="Ellipse 22"/>
          <p:cNvSpPr/>
          <p:nvPr/>
        </p:nvSpPr>
        <p:spPr>
          <a:xfrm>
            <a:off x="4644000" y="2340000"/>
            <a:ext cx="540000" cy="306000"/>
          </a:xfrm>
          <a:prstGeom prst="ellipse">
            <a:avLst/>
          </a:prstGeom>
          <a:solidFill>
            <a:srgbClr val="daeef3"/>
          </a:solidFill>
          <a:ln w="12600">
            <a:solidFill>
              <a:srgbClr val="0891b2"/>
            </a:solidFill>
            <a:round/>
          </a:ln>
        </p:spPr>
      </p:sp>
      <p:sp>
        <p:nvSpPr>
          <p:cNvPr id="271" name="TextShape 23"/>
          <p:cNvSpPr txBox="1"/>
          <p:nvPr/>
        </p:nvSpPr>
        <p:spPr>
          <a:xfrm>
            <a:off x="4672800" y="2401200"/>
            <a:ext cx="4824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object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72" name="Line 24"/>
          <p:cNvSpPr/>
          <p:nvPr/>
        </p:nvSpPr>
        <p:spPr>
          <a:xfrm>
            <a:off x="1836000" y="1987200"/>
            <a:ext cx="64800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Line 25"/>
          <p:cNvSpPr/>
          <p:nvPr/>
        </p:nvSpPr>
        <p:spPr>
          <a:xfrm flipV="1">
            <a:off x="3024000" y="1699200"/>
            <a:ext cx="576000" cy="288000"/>
          </a:xfrm>
          <a:prstGeom prst="line">
            <a:avLst/>
          </a:prstGeom>
          <a:ln w="126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Line 26"/>
          <p:cNvSpPr/>
          <p:nvPr/>
        </p:nvSpPr>
        <p:spPr>
          <a:xfrm>
            <a:off x="4140000" y="1699200"/>
            <a:ext cx="50400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Line 27"/>
          <p:cNvSpPr/>
          <p:nvPr/>
        </p:nvSpPr>
        <p:spPr>
          <a:xfrm>
            <a:off x="3024000" y="1987200"/>
            <a:ext cx="576000" cy="504000"/>
          </a:xfrm>
          <a:prstGeom prst="line">
            <a:avLst/>
          </a:prstGeom>
          <a:ln w="126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Line 28"/>
          <p:cNvSpPr/>
          <p:nvPr/>
        </p:nvSpPr>
        <p:spPr>
          <a:xfrm>
            <a:off x="4140000" y="2491200"/>
            <a:ext cx="504000" cy="0"/>
          </a:xfrm>
          <a:prstGeom prst="line">
            <a:avLst/>
          </a:prstGeom>
          <a:ln w="1260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Rectangle 29"/>
          <p:cNvSpPr/>
          <p:nvPr/>
        </p:nvSpPr>
        <p:spPr>
          <a:xfrm>
            <a:off x="1116000" y="2880000"/>
            <a:ext cx="3672000" cy="1872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278" name="TextShape 30"/>
          <p:cNvSpPr txBox="1"/>
          <p:nvPr/>
        </p:nvSpPr>
        <p:spPr>
          <a:xfrm>
            <a:off x="1159200" y="2931840"/>
            <a:ext cx="3585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lookup(target=world, source=tool)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79" name="TextShape 31"/>
          <p:cNvSpPr txBox="1"/>
          <p:nvPr/>
        </p:nvSpPr>
        <p:spPr>
          <a:xfrm>
            <a:off x="1260000" y="3204000"/>
            <a:ext cx="342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path = edge₁ ∘ edge₂ ∘ edge₃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80" name="TextShape 32"/>
          <p:cNvSpPr txBox="1"/>
          <p:nvPr/>
        </p:nvSpPr>
        <p:spPr>
          <a:xfrm>
            <a:off x="1080000" y="3600000"/>
            <a:ext cx="3780000" cy="77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cycle / multiple parent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は既定拒否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edge history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は</a:t>
            </a:r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timestamp</a:t>
            </a:r>
            <a:r>
              <a:rPr b="0" lang="zh-CN" sz="1400" spc="-1" strike="noStrike">
                <a:solidFill>
                  <a:srgbClr val="5c6b82"/>
                </a:solidFill>
                <a:latin typeface="Noto Sans CJK JP"/>
              </a:rPr>
              <a:t>順・</a:t>
            </a:r>
            <a:r>
              <a:rPr b="0" lang="en-US" sz="1400" spc="-1" strike="noStrike">
                <a:solidFill>
                  <a:srgbClr val="5c6b82"/>
                </a:solidFill>
                <a:latin typeface="Noto Sans CJK JP"/>
              </a:rPr>
              <a:t>bounded buffer</a:t>
            </a:r>
            <a:endParaRPr b="0" lang="en-US" sz="14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81" name="Rectangle 33"/>
          <p:cNvSpPr/>
          <p:nvPr/>
        </p:nvSpPr>
        <p:spPr>
          <a:xfrm>
            <a:off x="936000" y="4356000"/>
            <a:ext cx="4320000" cy="396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f1ebff">
                <a:alpha val="0"/>
              </a:srgbClr>
            </a:solidFill>
            <a:round/>
          </a:ln>
        </p:spPr>
      </p:sp>
      <p:sp>
        <p:nvSpPr>
          <p:cNvPr id="282" name="TextShape 34"/>
          <p:cNvSpPr txBox="1"/>
          <p:nvPr/>
        </p:nvSpPr>
        <p:spPr>
          <a:xfrm>
            <a:off x="1044000" y="4464000"/>
            <a:ext cx="4104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inverse = </a:t>
            </a:r>
            <a:r>
              <a:rPr b="1" lang="zh-CN" sz="1400" spc="-1" strike="noStrike">
                <a:solidFill>
                  <a:srgbClr val="7c3aed"/>
                </a:solidFill>
                <a:latin typeface="Noto Sans CJK JP"/>
              </a:rPr>
              <a:t>同じ</a:t>
            </a:r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physical latent edge</a:t>
            </a:r>
            <a:r>
              <a:rPr b="1" lang="zh-CN" sz="1400" spc="-1" strike="noStrike">
                <a:solidFill>
                  <a:srgbClr val="7c3aed"/>
                </a:solidFill>
                <a:latin typeface="Noto Sans CJK JP"/>
              </a:rPr>
              <a:t>の逆向き</a:t>
            </a:r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view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283" name="Rectangle 35"/>
          <p:cNvSpPr/>
          <p:nvPr/>
        </p:nvSpPr>
        <p:spPr>
          <a:xfrm>
            <a:off x="6282000" y="1188000"/>
            <a:ext cx="5148000" cy="3888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284" name="TextShape 36"/>
          <p:cNvSpPr txBox="1"/>
          <p:nvPr/>
        </p:nvSpPr>
        <p:spPr>
          <a:xfrm>
            <a:off x="6552000" y="1404000"/>
            <a:ext cx="288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Consumer-owned runtime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285" name="Rectangle 37"/>
          <p:cNvSpPr/>
          <p:nvPr/>
        </p:nvSpPr>
        <p:spPr>
          <a:xfrm>
            <a:off x="6696000" y="1800000"/>
            <a:ext cx="1404000" cy="756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286" name="Rectangle 38"/>
          <p:cNvSpPr/>
          <p:nvPr/>
        </p:nvSpPr>
        <p:spPr>
          <a:xfrm>
            <a:off x="6696000" y="1800000"/>
            <a:ext cx="1404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287" name="TextShape 39"/>
          <p:cNvSpPr txBox="1"/>
          <p:nvPr/>
        </p:nvSpPr>
        <p:spPr>
          <a:xfrm>
            <a:off x="6760800" y="1909440"/>
            <a:ext cx="1274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ROS topics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88" name="TextShape 40"/>
          <p:cNvSpPr txBox="1"/>
          <p:nvPr/>
        </p:nvSpPr>
        <p:spPr>
          <a:xfrm>
            <a:off x="6760800" y="2113200"/>
            <a:ext cx="12744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/probtf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/probtf_static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89" name="TextShape 41"/>
          <p:cNvSpPr txBox="1"/>
          <p:nvPr/>
        </p:nvSpPr>
        <p:spPr>
          <a:xfrm>
            <a:off x="8100000" y="206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90" name="Rectangle 42"/>
          <p:cNvSpPr/>
          <p:nvPr/>
        </p:nvSpPr>
        <p:spPr>
          <a:xfrm>
            <a:off x="8424000" y="1800000"/>
            <a:ext cx="1404000" cy="756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291" name="Rectangle 43"/>
          <p:cNvSpPr/>
          <p:nvPr/>
        </p:nvSpPr>
        <p:spPr>
          <a:xfrm>
            <a:off x="8424000" y="1800000"/>
            <a:ext cx="1404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292" name="TextShape 44"/>
          <p:cNvSpPr txBox="1"/>
          <p:nvPr/>
        </p:nvSpPr>
        <p:spPr>
          <a:xfrm>
            <a:off x="8488800" y="1909440"/>
            <a:ext cx="1274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local graph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93" name="TextShape 45"/>
          <p:cNvSpPr txBox="1"/>
          <p:nvPr/>
        </p:nvSpPr>
        <p:spPr>
          <a:xfrm>
            <a:off x="8488800" y="2113200"/>
            <a:ext cx="12744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topology +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time buffers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94" name="TextShape 46"/>
          <p:cNvSpPr txBox="1"/>
          <p:nvPr/>
        </p:nvSpPr>
        <p:spPr>
          <a:xfrm>
            <a:off x="9828000" y="206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95" name="Rectangle 47"/>
          <p:cNvSpPr/>
          <p:nvPr/>
        </p:nvSpPr>
        <p:spPr>
          <a:xfrm>
            <a:off x="10152000" y="1800000"/>
            <a:ext cx="972000" cy="756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b793f5"/>
            </a:solidFill>
            <a:round/>
          </a:ln>
        </p:spPr>
      </p:sp>
      <p:sp>
        <p:nvSpPr>
          <p:cNvPr id="296" name="Rectangle 48"/>
          <p:cNvSpPr/>
          <p:nvPr/>
        </p:nvSpPr>
        <p:spPr>
          <a:xfrm>
            <a:off x="10152000" y="1800000"/>
            <a:ext cx="972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297" name="TextShape 49"/>
          <p:cNvSpPr txBox="1"/>
          <p:nvPr/>
        </p:nvSpPr>
        <p:spPr>
          <a:xfrm>
            <a:off x="10216800" y="1909440"/>
            <a:ext cx="842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query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98" name="TextShape 50"/>
          <p:cNvSpPr txBox="1"/>
          <p:nvPr/>
        </p:nvSpPr>
        <p:spPr>
          <a:xfrm>
            <a:off x="10216800" y="2113200"/>
            <a:ext cx="842400" cy="54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path / kernel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point moments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99" name="TextShape 51"/>
          <p:cNvSpPr txBox="1"/>
          <p:nvPr/>
        </p:nvSpPr>
        <p:spPr>
          <a:xfrm>
            <a:off x="6696000" y="2934000"/>
            <a:ext cx="180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oto Sans CJK JP"/>
              </a:rPr>
              <a:t>Temporal policy</a:t>
            </a:r>
            <a:endParaRPr b="1" lang="en-US" sz="15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00" name="Rectangle 52"/>
          <p:cNvSpPr/>
          <p:nvPr/>
        </p:nvSpPr>
        <p:spPr>
          <a:xfrm>
            <a:off x="6696000" y="3240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01" name="TextShape 53"/>
          <p:cNvSpPr txBox="1"/>
          <p:nvPr/>
        </p:nvSpPr>
        <p:spPr>
          <a:xfrm>
            <a:off x="6739200" y="329184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EXACT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02" name="Rectangle 54"/>
          <p:cNvSpPr/>
          <p:nvPr/>
        </p:nvSpPr>
        <p:spPr>
          <a:xfrm>
            <a:off x="8208000" y="3240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03" name="TextShape 55"/>
          <p:cNvSpPr txBox="1"/>
          <p:nvPr/>
        </p:nvSpPr>
        <p:spPr>
          <a:xfrm>
            <a:off x="8251200" y="329184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NEAREST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04" name="Rectangle 56"/>
          <p:cNvSpPr/>
          <p:nvPr/>
        </p:nvSpPr>
        <p:spPr>
          <a:xfrm>
            <a:off x="9720000" y="3240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05" name="TextShape 57"/>
          <p:cNvSpPr txBox="1"/>
          <p:nvPr/>
        </p:nvSpPr>
        <p:spPr>
          <a:xfrm>
            <a:off x="9763200" y="329184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LATEST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06" name="Rectangle 58"/>
          <p:cNvSpPr/>
          <p:nvPr/>
        </p:nvSpPr>
        <p:spPr>
          <a:xfrm>
            <a:off x="6696000" y="3654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07" name="TextShape 59"/>
          <p:cNvSpPr txBox="1"/>
          <p:nvPr/>
        </p:nvSpPr>
        <p:spPr>
          <a:xfrm>
            <a:off x="6739200" y="379728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LATEST_COMMON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08" name="Rectangle 60"/>
          <p:cNvSpPr/>
          <p:nvPr/>
        </p:nvSpPr>
        <p:spPr>
          <a:xfrm>
            <a:off x="8208000" y="3654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09" name="TextShape 61"/>
          <p:cNvSpPr txBox="1"/>
          <p:nvPr/>
        </p:nvSpPr>
        <p:spPr>
          <a:xfrm>
            <a:off x="8251200" y="370584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INTERPOLATE*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10" name="Rectangle 62"/>
          <p:cNvSpPr/>
          <p:nvPr/>
        </p:nvSpPr>
        <p:spPr>
          <a:xfrm>
            <a:off x="9720000" y="3654000"/>
            <a:ext cx="1296000" cy="2340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311" name="TextShape 63"/>
          <p:cNvSpPr txBox="1"/>
          <p:nvPr/>
        </p:nvSpPr>
        <p:spPr>
          <a:xfrm>
            <a:off x="9763200" y="3705840"/>
            <a:ext cx="12096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000" spc="-1" strike="noStrike">
                <a:solidFill>
                  <a:srgbClr val="dce8f8"/>
                </a:solidFill>
                <a:latin typeface="Noto Sans CJK JP"/>
              </a:rPr>
              <a:t>PREDICT*</a:t>
            </a:r>
            <a:endParaRPr b="1" lang="en-US" sz="1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312" name="TextShape 64"/>
          <p:cNvSpPr txBox="1"/>
          <p:nvPr/>
        </p:nvSpPr>
        <p:spPr>
          <a:xfrm>
            <a:off x="6696000" y="4176000"/>
            <a:ext cx="432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9cb2ce"/>
                </a:solidFill>
                <a:latin typeface="Noto Sans CJK JP"/>
              </a:rPr>
              <a:t>* </a:t>
            </a:r>
            <a:r>
              <a:rPr b="0" lang="zh-CN" sz="1100" spc="-1" strike="noStrike">
                <a:solidFill>
                  <a:srgbClr val="9cb2ce"/>
                </a:solidFill>
                <a:latin typeface="Noto Sans CJK JP"/>
              </a:rPr>
              <a:t>明示</a:t>
            </a:r>
            <a:r>
              <a:rPr b="0" lang="en-US" sz="1100" spc="-1" strike="noStrike">
                <a:solidFill>
                  <a:srgbClr val="9cb2ce"/>
                </a:solidFill>
                <a:latin typeface="Noto Sans CJK JP"/>
              </a:rPr>
              <a:t>model</a:t>
            </a:r>
            <a:r>
              <a:rPr b="0" lang="zh-CN" sz="1100" spc="-1" strike="noStrike">
                <a:solidFill>
                  <a:srgbClr val="9cb2ce"/>
                </a:solidFill>
                <a:latin typeface="Noto Sans CJK JP"/>
              </a:rPr>
              <a:t>・</a:t>
            </a:r>
            <a:r>
              <a:rPr b="0" lang="en-US" sz="1100" spc="-1" strike="noStrike">
                <a:solidFill>
                  <a:srgbClr val="9cb2ce"/>
                </a:solidFill>
                <a:latin typeface="Noto Sans CJK JP"/>
              </a:rPr>
              <a:t>uncertainty growth</a:t>
            </a:r>
            <a:r>
              <a:rPr b="0" lang="zh-CN" sz="1100" spc="-1" strike="noStrike">
                <a:solidFill>
                  <a:srgbClr val="9cb2ce"/>
                </a:solidFill>
                <a:latin typeface="Noto Sans CJK JP"/>
              </a:rPr>
              <a:t>・</a:t>
            </a:r>
            <a:r>
              <a:rPr b="0" lang="en-US" sz="1100" spc="-1" strike="noStrike">
                <a:solidFill>
                  <a:srgbClr val="9cb2ce"/>
                </a:solidFill>
                <a:latin typeface="Noto Sans CJK JP"/>
              </a:rPr>
              <a:t>diagnostic</a:t>
            </a:r>
            <a:r>
              <a:rPr b="0" lang="zh-CN" sz="1100" spc="-1" strike="noStrike">
                <a:solidFill>
                  <a:srgbClr val="9cb2ce"/>
                </a:solidFill>
                <a:latin typeface="Noto Sans CJK JP"/>
              </a:rPr>
              <a:t>が必要</a:t>
            </a:r>
            <a:endParaRPr b="0" lang="en-US" sz="110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313" name="TextShape 65"/>
          <p:cNvSpPr txBox="1"/>
          <p:nvPr/>
        </p:nvSpPr>
        <p:spPr>
          <a:xfrm>
            <a:off x="6696000" y="4536000"/>
            <a:ext cx="4320000" cy="551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8de8f5"/>
                </a:solidFill>
                <a:latin typeface="Noto Sans CJK JP"/>
              </a:rPr>
              <a:t>lookup</a:t>
            </a:r>
            <a:r>
              <a:rPr b="1" lang="zh-CN" sz="1500" spc="-1" strike="noStrike">
                <a:solidFill>
                  <a:srgbClr val="8de8f5"/>
                </a:solidFill>
                <a:latin typeface="Noto Sans CJK JP"/>
              </a:rPr>
              <a:t>は分布を即座に</a:t>
            </a:r>
            <a:r>
              <a:rPr b="1" lang="en-US" sz="1500" spc="-1" strike="noStrike">
                <a:solidFill>
                  <a:srgbClr val="8de8f5"/>
                </a:solidFill>
                <a:latin typeface="Noto Sans CJK JP"/>
              </a:rPr>
              <a:t>1</a:t>
            </a:r>
            <a:r>
              <a:rPr b="1" lang="zh-CN" sz="1500" spc="-1" strike="noStrike">
                <a:solidFill>
                  <a:srgbClr val="8de8f5"/>
                </a:solidFill>
                <a:latin typeface="Noto Sans CJK JP"/>
              </a:rPr>
              <a:t>成分へ縮約せず、</a:t>
            </a:r>
            <a:endParaRPr b="1" lang="en-US" sz="15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500" spc="-1" strike="noStrike">
                <a:solidFill>
                  <a:srgbClr val="8de8f5"/>
                </a:solidFill>
                <a:latin typeface="Noto Sans CJK JP"/>
              </a:rPr>
              <a:t>lazy kernel expression</a:t>
            </a:r>
            <a:r>
              <a:rPr b="1" lang="zh-CN" sz="1500" spc="-1" strike="noStrike">
                <a:solidFill>
                  <a:srgbClr val="8de8f5"/>
                </a:solidFill>
                <a:latin typeface="Noto Sans CJK JP"/>
              </a:rPr>
              <a:t>を構築する</a:t>
            </a:r>
            <a:endParaRPr b="1" lang="en-US" sz="15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314" name="Rectangle 66"/>
          <p:cNvSpPr/>
          <p:nvPr/>
        </p:nvSpPr>
        <p:spPr>
          <a:xfrm>
            <a:off x="576000" y="5346000"/>
            <a:ext cx="10764000" cy="468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fff4e5">
                <a:alpha val="0"/>
              </a:srgbClr>
            </a:solidFill>
            <a:round/>
          </a:ln>
        </p:spPr>
      </p:sp>
      <p:sp>
        <p:nvSpPr>
          <p:cNvPr id="315" name="TextShape 67"/>
          <p:cNvSpPr txBox="1"/>
          <p:nvPr/>
        </p:nvSpPr>
        <p:spPr>
          <a:xfrm>
            <a:off x="684000" y="5475600"/>
            <a:ext cx="10548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500" spc="-1" strike="noStrike">
                <a:solidFill>
                  <a:srgbClr val="d97706"/>
                </a:solidFill>
                <a:latin typeface="Noto Sans CJK JP"/>
              </a:rPr>
              <a:t>時間の意味も分布の意味も</a:t>
            </a:r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policy</a:t>
            </a:r>
            <a:r>
              <a:rPr b="1" lang="zh-CN" sz="1500" spc="-1" strike="noStrike">
                <a:solidFill>
                  <a:srgbClr val="d97706"/>
                </a:solidFill>
                <a:latin typeface="Noto Sans CJK JP"/>
              </a:rPr>
              <a:t>で明示する — “最新っぽい値”を暗黙に返さない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317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318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891b2"/>
                </a:solidFill>
                <a:latin typeface="Noto Sans CJK JP"/>
              </a:rPr>
              <a:t>POINT KERNEL</a:t>
            </a:r>
            <a:endParaRPr b="1" lang="en-US" sz="10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19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Point moment query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：必要な点だけ評価する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20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完全な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pose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分布を保持したまま、下流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consumer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へ平均と共分散を返す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21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324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891b2"/>
                </a:solidFill>
                <a:latin typeface="Noto Sans CJK JP"/>
              </a:rPr>
              <a:t>07</a:t>
            </a:r>
            <a:endParaRPr b="1" lang="en-US" sz="11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25" name="Rectangle 10"/>
          <p:cNvSpPr/>
          <p:nvPr/>
        </p:nvSpPr>
        <p:spPr>
          <a:xfrm>
            <a:off x="648000" y="1584000"/>
            <a:ext cx="1800000" cy="900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326" name="Rectangle 11"/>
          <p:cNvSpPr/>
          <p:nvPr/>
        </p:nvSpPr>
        <p:spPr>
          <a:xfrm>
            <a:off x="648000" y="1584000"/>
            <a:ext cx="1800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327" name="TextShape 12"/>
          <p:cNvSpPr txBox="1"/>
          <p:nvPr/>
        </p:nvSpPr>
        <p:spPr>
          <a:xfrm>
            <a:off x="712800" y="1693440"/>
            <a:ext cx="16704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700" spc="-1" strike="noStrike">
                <a:solidFill>
                  <a:srgbClr val="152238"/>
                </a:solidFill>
                <a:latin typeface="Noto Sans CJK JP"/>
              </a:rPr>
              <a:t>入力点 </a:t>
            </a:r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z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28" name="TextShape 13"/>
          <p:cNvSpPr txBox="1"/>
          <p:nvPr/>
        </p:nvSpPr>
        <p:spPr>
          <a:xfrm>
            <a:off x="712800" y="1972800"/>
            <a:ext cx="1670400" cy="37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source frame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上の点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29" name="TextShape 14"/>
          <p:cNvSpPr txBox="1"/>
          <p:nvPr/>
        </p:nvSpPr>
        <p:spPr>
          <a:xfrm>
            <a:off x="2484000" y="1916640"/>
            <a:ext cx="468000" cy="590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32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32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30" name="Rectangle 15"/>
          <p:cNvSpPr/>
          <p:nvPr/>
        </p:nvSpPr>
        <p:spPr>
          <a:xfrm>
            <a:off x="2988000" y="1404000"/>
            <a:ext cx="2520000" cy="1260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331" name="Rectangle 16"/>
          <p:cNvSpPr/>
          <p:nvPr/>
        </p:nvSpPr>
        <p:spPr>
          <a:xfrm>
            <a:off x="2988000" y="1404000"/>
            <a:ext cx="2520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332" name="TextShape 17"/>
          <p:cNvSpPr txBox="1"/>
          <p:nvPr/>
        </p:nvSpPr>
        <p:spPr>
          <a:xfrm>
            <a:off x="3052800" y="1513440"/>
            <a:ext cx="23904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ProbTF path kernel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33" name="TextShape 18"/>
          <p:cNvSpPr txBox="1"/>
          <p:nvPr/>
        </p:nvSpPr>
        <p:spPr>
          <a:xfrm>
            <a:off x="3052800" y="1792800"/>
            <a:ext cx="2390400" cy="73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Y = R(Q)z + X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mixture + coupling + composition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34" name="TextShape 19"/>
          <p:cNvSpPr txBox="1"/>
          <p:nvPr/>
        </p:nvSpPr>
        <p:spPr>
          <a:xfrm>
            <a:off x="5544000" y="1916640"/>
            <a:ext cx="468000" cy="590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32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32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35" name="Rectangle 20"/>
          <p:cNvSpPr/>
          <p:nvPr/>
        </p:nvSpPr>
        <p:spPr>
          <a:xfrm>
            <a:off x="6084000" y="1584000"/>
            <a:ext cx="2016000" cy="900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b793f5"/>
            </a:solidFill>
            <a:round/>
          </a:ln>
        </p:spPr>
      </p:sp>
      <p:sp>
        <p:nvSpPr>
          <p:cNvPr id="336" name="Rectangle 21"/>
          <p:cNvSpPr/>
          <p:nvPr/>
        </p:nvSpPr>
        <p:spPr>
          <a:xfrm>
            <a:off x="6084000" y="1584000"/>
            <a:ext cx="2016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337" name="TextShape 22"/>
          <p:cNvSpPr txBox="1"/>
          <p:nvPr/>
        </p:nvSpPr>
        <p:spPr>
          <a:xfrm>
            <a:off x="6148800" y="1693440"/>
            <a:ext cx="18864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μ = E[Y]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38" name="TextShape 23"/>
          <p:cNvSpPr txBox="1"/>
          <p:nvPr/>
        </p:nvSpPr>
        <p:spPr>
          <a:xfrm>
            <a:off x="6148800" y="1972800"/>
            <a:ext cx="1886400" cy="37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Σ = Cov[Y]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39" name="Rectangle 24"/>
          <p:cNvSpPr/>
          <p:nvPr/>
        </p:nvSpPr>
        <p:spPr>
          <a:xfrm>
            <a:off x="8568000" y="1188000"/>
            <a:ext cx="2772000" cy="2160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340" name="Line 25"/>
          <p:cNvSpPr/>
          <p:nvPr/>
        </p:nvSpPr>
        <p:spPr>
          <a:xfrm>
            <a:off x="9036000" y="2250000"/>
            <a:ext cx="1836000" cy="0"/>
          </a:xfrm>
          <a:prstGeom prst="line">
            <a:avLst/>
          </a:prstGeom>
          <a:ln w="9000">
            <a:solidFill>
              <a:srgbClr val="55708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Line 26"/>
          <p:cNvSpPr/>
          <p:nvPr/>
        </p:nvSpPr>
        <p:spPr>
          <a:xfrm flipV="1">
            <a:off x="9936000" y="1494000"/>
            <a:ext cx="0" cy="1440000"/>
          </a:xfrm>
          <a:prstGeom prst="line">
            <a:avLst/>
          </a:prstGeom>
          <a:ln w="9000">
            <a:solidFill>
              <a:srgbClr val="55708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Ellipse 27"/>
          <p:cNvSpPr/>
          <p:nvPr/>
        </p:nvSpPr>
        <p:spPr>
          <a:xfrm>
            <a:off x="9144000" y="1872000"/>
            <a:ext cx="1584000" cy="756000"/>
          </a:xfrm>
          <a:prstGeom prst="ellipse">
            <a:avLst/>
          </a:prstGeom>
          <a:solidFill>
            <a:srgbClr val="7c3aed">
              <a:alpha val="22000"/>
            </a:srgbClr>
          </a:solidFill>
          <a:ln w="16200">
            <a:solidFill>
              <a:srgbClr val="0891b2"/>
            </a:solidFill>
            <a:round/>
          </a:ln>
        </p:spPr>
      </p:sp>
      <p:sp>
        <p:nvSpPr>
          <p:cNvPr id="343" name="Ellipse 28"/>
          <p:cNvSpPr/>
          <p:nvPr/>
        </p:nvSpPr>
        <p:spPr>
          <a:xfrm>
            <a:off x="9882000" y="2196000"/>
            <a:ext cx="108000" cy="108000"/>
          </a:xfrm>
          <a:prstGeom prst="ellipse">
            <a:avLst/>
          </a:prstGeom>
          <a:solidFill>
            <a:srgbClr val="ffffff"/>
          </a:solidFill>
          <a:ln w="14400">
            <a:solidFill>
              <a:srgbClr val="0891b2"/>
            </a:solidFill>
            <a:round/>
          </a:ln>
        </p:spPr>
      </p:sp>
      <p:sp>
        <p:nvSpPr>
          <p:cNvPr id="344" name="TextShape 29"/>
          <p:cNvSpPr txBox="1"/>
          <p:nvPr/>
        </p:nvSpPr>
        <p:spPr>
          <a:xfrm>
            <a:off x="10029600" y="2052000"/>
            <a:ext cx="324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μ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45" name="TextShape 30"/>
          <p:cNvSpPr txBox="1"/>
          <p:nvPr/>
        </p:nvSpPr>
        <p:spPr>
          <a:xfrm>
            <a:off x="8856000" y="2952000"/>
            <a:ext cx="2196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afc3dd"/>
                </a:solidFill>
                <a:latin typeface="Noto Sans CJK JP"/>
              </a:rPr>
              <a:t>covariance axes</a:t>
            </a:r>
            <a:endParaRPr b="0" lang="en-US" sz="12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346" name="TextShape 31"/>
          <p:cNvSpPr txBox="1"/>
          <p:nvPr/>
        </p:nvSpPr>
        <p:spPr>
          <a:xfrm>
            <a:off x="648000" y="3492000"/>
            <a:ext cx="39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0891b2"/>
                </a:solidFill>
                <a:latin typeface="Noto Sans CJK JP"/>
              </a:rPr>
              <a:t>C++ evaluator</a:t>
            </a:r>
            <a:r>
              <a:rPr b="1" lang="zh-CN" sz="1300" spc="-1" strike="noStrike">
                <a:solidFill>
                  <a:srgbClr val="0891b2"/>
                </a:solidFill>
                <a:latin typeface="Noto Sans CJK JP"/>
              </a:rPr>
              <a:t>が使う量</a:t>
            </a:r>
            <a:endParaRPr b="1" lang="en-US" sz="13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47" name="Rectangle 32"/>
          <p:cNvSpPr/>
          <p:nvPr/>
        </p:nvSpPr>
        <p:spPr>
          <a:xfrm>
            <a:off x="576000" y="3708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348" name="Ellipse 33"/>
          <p:cNvSpPr/>
          <p:nvPr/>
        </p:nvSpPr>
        <p:spPr>
          <a:xfrm>
            <a:off x="738000" y="3924000"/>
            <a:ext cx="270000" cy="2700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349" name="TextShape 34"/>
          <p:cNvSpPr txBox="1"/>
          <p:nvPr/>
        </p:nvSpPr>
        <p:spPr>
          <a:xfrm>
            <a:off x="738000" y="401544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50" name="TextShape 35"/>
          <p:cNvSpPr txBox="1"/>
          <p:nvPr/>
        </p:nvSpPr>
        <p:spPr>
          <a:xfrm>
            <a:off x="1098000" y="38880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Bingham moment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51" name="TextShape 36"/>
          <p:cNvSpPr txBox="1"/>
          <p:nvPr/>
        </p:nvSpPr>
        <p:spPr>
          <a:xfrm>
            <a:off x="792000" y="4320000"/>
            <a:ext cx="2088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E[vec R] 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と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E[vec R vec Rᵀ]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52" name="Rectangle 37"/>
          <p:cNvSpPr/>
          <p:nvPr/>
        </p:nvSpPr>
        <p:spPr>
          <a:xfrm>
            <a:off x="3312000" y="3708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353" name="Ellipse 38"/>
          <p:cNvSpPr/>
          <p:nvPr/>
        </p:nvSpPr>
        <p:spPr>
          <a:xfrm>
            <a:off x="3474000" y="3924000"/>
            <a:ext cx="270000" cy="270000"/>
          </a:xfrm>
          <a:prstGeom prst="ellipse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354" name="TextShape 39"/>
          <p:cNvSpPr txBox="1"/>
          <p:nvPr/>
        </p:nvSpPr>
        <p:spPr>
          <a:xfrm>
            <a:off x="3474000" y="401544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55" name="TextShape 40"/>
          <p:cNvSpPr txBox="1"/>
          <p:nvPr/>
        </p:nvSpPr>
        <p:spPr>
          <a:xfrm>
            <a:off x="3834000" y="3888000"/>
            <a:ext cx="1800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Conditional translation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56" name="TextShape 41"/>
          <p:cNvSpPr txBox="1"/>
          <p:nvPr/>
        </p:nvSpPr>
        <p:spPr>
          <a:xfrm>
            <a:off x="3528000" y="4320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と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S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を含めて平均・共分散へ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57" name="Rectangle 42"/>
          <p:cNvSpPr/>
          <p:nvPr/>
        </p:nvSpPr>
        <p:spPr>
          <a:xfrm>
            <a:off x="6048000" y="3708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358" name="Ellipse 43"/>
          <p:cNvSpPr/>
          <p:nvPr/>
        </p:nvSpPr>
        <p:spPr>
          <a:xfrm>
            <a:off x="6210000" y="3924000"/>
            <a:ext cx="270000" cy="270000"/>
          </a:xfrm>
          <a:prstGeom prst="ellipse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359" name="TextShape 44"/>
          <p:cNvSpPr txBox="1"/>
          <p:nvPr/>
        </p:nvSpPr>
        <p:spPr>
          <a:xfrm>
            <a:off x="6210000" y="401544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60" name="TextShape 45"/>
          <p:cNvSpPr txBox="1"/>
          <p:nvPr/>
        </p:nvSpPr>
        <p:spPr>
          <a:xfrm>
            <a:off x="6570000" y="38880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Mixture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61" name="TextShape 46"/>
          <p:cNvSpPr txBox="1"/>
          <p:nvPr/>
        </p:nvSpPr>
        <p:spPr>
          <a:xfrm>
            <a:off x="6264000" y="4320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成分内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+ 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成分間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covariance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62" name="Rectangle 47"/>
          <p:cNvSpPr/>
          <p:nvPr/>
        </p:nvSpPr>
        <p:spPr>
          <a:xfrm>
            <a:off x="8784000" y="3708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363" name="Ellipse 48"/>
          <p:cNvSpPr/>
          <p:nvPr/>
        </p:nvSpPr>
        <p:spPr>
          <a:xfrm>
            <a:off x="8946000" y="3924000"/>
            <a:ext cx="270000" cy="270000"/>
          </a:xfrm>
          <a:prstGeom prst="ellipse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364" name="TextShape 49"/>
          <p:cNvSpPr txBox="1"/>
          <p:nvPr/>
        </p:nvSpPr>
        <p:spPr>
          <a:xfrm>
            <a:off x="8946000" y="401544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65" name="TextShape 50"/>
          <p:cNvSpPr txBox="1"/>
          <p:nvPr/>
        </p:nvSpPr>
        <p:spPr>
          <a:xfrm>
            <a:off x="9306000" y="38880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Path composition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66" name="TextShape 51"/>
          <p:cNvSpPr txBox="1"/>
          <p:nvPr/>
        </p:nvSpPr>
        <p:spPr>
          <a:xfrm>
            <a:off x="9000000" y="4320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forward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順に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moment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を伝播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67" name="Rectangle 52"/>
          <p:cNvSpPr/>
          <p:nvPr/>
        </p:nvSpPr>
        <p:spPr>
          <a:xfrm>
            <a:off x="576000" y="5328000"/>
            <a:ext cx="10764000" cy="540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368" name="TextShape 53"/>
          <p:cNvSpPr txBox="1"/>
          <p:nvPr/>
        </p:nvSpPr>
        <p:spPr>
          <a:xfrm>
            <a:off x="720000" y="5436000"/>
            <a:ext cx="187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Terminal summary rule</a:t>
            </a:r>
            <a:endParaRPr b="1" lang="en-US" sz="1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369" name="TextShape 54"/>
          <p:cNvSpPr txBox="1"/>
          <p:nvPr/>
        </p:nvSpPr>
        <p:spPr>
          <a:xfrm>
            <a:off x="2592000" y="5436000"/>
            <a:ext cx="846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moment / sample / representative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を新しい独立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edge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として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graph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へ戻さない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371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372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IMPLEMENTATION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373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実装レイヤと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package ownership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74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ROS-free foundation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と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transport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application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を分離する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75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378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08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379" name="Rectangle 10"/>
          <p:cNvSpPr/>
          <p:nvPr/>
        </p:nvSpPr>
        <p:spPr>
          <a:xfrm>
            <a:off x="1368000" y="1152000"/>
            <a:ext cx="8820000" cy="792000"/>
          </a:xfrm>
          <a:prstGeom prst="roundRect">
            <a:avLst/>
          </a:prstGeom>
          <a:solidFill>
            <a:srgbClr val="f3edfd"/>
          </a:solidFill>
          <a:ln w="6480">
            <a:solidFill>
              <a:srgbClr val="c4a6f7"/>
            </a:solidFill>
            <a:round/>
          </a:ln>
        </p:spPr>
      </p:sp>
      <p:sp>
        <p:nvSpPr>
          <p:cNvPr id="380" name="Rectangle 11"/>
          <p:cNvSpPr/>
          <p:nvPr/>
        </p:nvSpPr>
        <p:spPr>
          <a:xfrm>
            <a:off x="1368000" y="1152000"/>
            <a:ext cx="1296000" cy="792000"/>
          </a:xfrm>
          <a:prstGeom prst="round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381" name="TextShape 12"/>
          <p:cNvSpPr txBox="1"/>
          <p:nvPr/>
        </p:nvSpPr>
        <p:spPr>
          <a:xfrm>
            <a:off x="1440000" y="1322640"/>
            <a:ext cx="1152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APPLICATIONS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82" name="TextShape 13"/>
          <p:cNvSpPr txBox="1"/>
          <p:nvPr/>
        </p:nvSpPr>
        <p:spPr>
          <a:xfrm>
            <a:off x="2844000" y="1340640"/>
            <a:ext cx="7020000" cy="41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two-IMU  /  orientation demo  /  symaware grasp  /  deflecomp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83" name="Rectangle 14"/>
          <p:cNvSpPr/>
          <p:nvPr/>
        </p:nvSpPr>
        <p:spPr>
          <a:xfrm>
            <a:off x="1368000" y="2034000"/>
            <a:ext cx="8820000" cy="792000"/>
          </a:xfrm>
          <a:prstGeom prst="roundRect">
            <a:avLst/>
          </a:prstGeom>
          <a:solidFill>
            <a:srgbClr val="e9f5f8"/>
          </a:solidFill>
          <a:ln w="6480">
            <a:solidFill>
              <a:srgbClr val="90cedc"/>
            </a:solidFill>
            <a:round/>
          </a:ln>
        </p:spPr>
      </p:sp>
      <p:sp>
        <p:nvSpPr>
          <p:cNvPr id="384" name="Rectangle 15"/>
          <p:cNvSpPr/>
          <p:nvPr/>
        </p:nvSpPr>
        <p:spPr>
          <a:xfrm>
            <a:off x="1368000" y="2034000"/>
            <a:ext cx="1296000" cy="792000"/>
          </a:xfrm>
          <a:prstGeom prst="round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385" name="TextShape 16"/>
          <p:cNvSpPr txBox="1"/>
          <p:nvPr/>
        </p:nvSpPr>
        <p:spPr>
          <a:xfrm>
            <a:off x="1440000" y="2204640"/>
            <a:ext cx="1152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ROS ADAPTERS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86" name="TextShape 17"/>
          <p:cNvSpPr txBox="1"/>
          <p:nvPr/>
        </p:nvSpPr>
        <p:spPr>
          <a:xfrm>
            <a:off x="2844000" y="2222640"/>
            <a:ext cx="7020000" cy="41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probtf_ros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：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broadcaster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listener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conversion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policy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87" name="Rectangle 18"/>
          <p:cNvSpPr/>
          <p:nvPr/>
        </p:nvSpPr>
        <p:spPr>
          <a:xfrm>
            <a:off x="1368000" y="2916000"/>
            <a:ext cx="8820000" cy="792000"/>
          </a:xfrm>
          <a:prstGeom prst="roundRect">
            <a:avLst/>
          </a:prstGeom>
          <a:solidFill>
            <a:srgbClr val="e8f6f2"/>
          </a:solidFill>
          <a:ln w="6480">
            <a:solidFill>
              <a:srgbClr val="8ed0bc"/>
            </a:solidFill>
            <a:round/>
          </a:ln>
        </p:spPr>
      </p:sp>
      <p:sp>
        <p:nvSpPr>
          <p:cNvPr id="388" name="Rectangle 19"/>
          <p:cNvSpPr/>
          <p:nvPr/>
        </p:nvSpPr>
        <p:spPr>
          <a:xfrm>
            <a:off x="1368000" y="2916000"/>
            <a:ext cx="1296000" cy="79200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389" name="TextShape 20"/>
          <p:cNvSpPr txBox="1"/>
          <p:nvPr/>
        </p:nvSpPr>
        <p:spPr>
          <a:xfrm>
            <a:off x="1440000" y="3086640"/>
            <a:ext cx="1152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C++ LATEST RUNTIME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90" name="TextShape 21"/>
          <p:cNvSpPr txBox="1"/>
          <p:nvPr/>
        </p:nvSpPr>
        <p:spPr>
          <a:xfrm>
            <a:off x="2844000" y="3104640"/>
            <a:ext cx="7020000" cy="41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LatestSnapshot + probtf_bridge_node + point-moment worker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91" name="Rectangle 22"/>
          <p:cNvSpPr/>
          <p:nvPr/>
        </p:nvSpPr>
        <p:spPr>
          <a:xfrm>
            <a:off x="1368000" y="3798000"/>
            <a:ext cx="8820000" cy="900000"/>
          </a:xfrm>
          <a:prstGeom prst="roundRect">
            <a:avLst/>
          </a:prstGeom>
          <a:solidFill>
            <a:srgbClr val="ebf1fd"/>
          </a:solidFill>
          <a:ln w="6480">
            <a:solidFill>
              <a:srgbClr val="9db9f6"/>
            </a:solidFill>
            <a:round/>
          </a:ln>
        </p:spPr>
      </p:sp>
      <p:sp>
        <p:nvSpPr>
          <p:cNvPr id="392" name="Rectangle 23"/>
          <p:cNvSpPr/>
          <p:nvPr/>
        </p:nvSpPr>
        <p:spPr>
          <a:xfrm>
            <a:off x="1368000" y="3798000"/>
            <a:ext cx="1296000" cy="900000"/>
          </a:xfrm>
          <a:prstGeom prst="round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393" name="TextShape 24"/>
          <p:cNvSpPr txBox="1"/>
          <p:nvPr/>
        </p:nvSpPr>
        <p:spPr>
          <a:xfrm>
            <a:off x="1440000" y="4021200"/>
            <a:ext cx="1152000" cy="55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ROS-FREE FOUNDATION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94" name="TextShape 25"/>
          <p:cNvSpPr txBox="1"/>
          <p:nvPr/>
        </p:nvSpPr>
        <p:spPr>
          <a:xfrm>
            <a:off x="2844000" y="3986640"/>
            <a:ext cx="7020000" cy="551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distributions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graph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kernel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geometry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Bingham numerics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sampling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95" name="Rectangle 26"/>
          <p:cNvSpPr/>
          <p:nvPr/>
        </p:nvSpPr>
        <p:spPr>
          <a:xfrm>
            <a:off x="1368000" y="4788000"/>
            <a:ext cx="8820000" cy="792000"/>
          </a:xfrm>
          <a:prstGeom prst="roundRect">
            <a:avLst/>
          </a:prstGeom>
          <a:solidFill>
            <a:srgbClr val="fcf3e9"/>
          </a:solidFill>
          <a:ln w="6480">
            <a:solidFill>
              <a:srgbClr val="eec28f"/>
            </a:solidFill>
            <a:round/>
          </a:ln>
        </p:spPr>
      </p:sp>
      <p:sp>
        <p:nvSpPr>
          <p:cNvPr id="396" name="Rectangle 27"/>
          <p:cNvSpPr/>
          <p:nvPr/>
        </p:nvSpPr>
        <p:spPr>
          <a:xfrm>
            <a:off x="1368000" y="4788000"/>
            <a:ext cx="1296000" cy="792000"/>
          </a:xfrm>
          <a:prstGeom prst="round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397" name="TextShape 28"/>
          <p:cNvSpPr txBox="1"/>
          <p:nvPr/>
        </p:nvSpPr>
        <p:spPr>
          <a:xfrm>
            <a:off x="1440000" y="4958640"/>
            <a:ext cx="1152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WIRE CONTRACT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98" name="TextShape 29"/>
          <p:cNvSpPr txBox="1"/>
          <p:nvPr/>
        </p:nvSpPr>
        <p:spPr>
          <a:xfrm>
            <a:off x="2844000" y="4976640"/>
            <a:ext cx="7020000" cy="41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probtf_msgs native v2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：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full SE(3) / orientation-only / evidence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99" name="Rectangle 30"/>
          <p:cNvSpPr/>
          <p:nvPr/>
        </p:nvSpPr>
        <p:spPr>
          <a:xfrm>
            <a:off x="10476000" y="1260000"/>
            <a:ext cx="936000" cy="1872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f1ebff">
                <a:alpha val="0"/>
              </a:srgbClr>
            </a:solidFill>
            <a:round/>
          </a:ln>
        </p:spPr>
      </p:sp>
      <p:sp>
        <p:nvSpPr>
          <p:cNvPr id="400" name="TextShape 31"/>
          <p:cNvSpPr txBox="1"/>
          <p:nvPr/>
        </p:nvSpPr>
        <p:spPr>
          <a:xfrm>
            <a:off x="10519200" y="1311840"/>
            <a:ext cx="84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Python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401" name="Rectangle 32"/>
          <p:cNvSpPr/>
          <p:nvPr/>
        </p:nvSpPr>
        <p:spPr>
          <a:xfrm>
            <a:off x="10476000" y="2142000"/>
            <a:ext cx="936000" cy="1872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e6f7fb">
                <a:alpha val="0"/>
              </a:srgbClr>
            </a:solidFill>
            <a:round/>
          </a:ln>
        </p:spPr>
      </p:sp>
      <p:sp>
        <p:nvSpPr>
          <p:cNvPr id="402" name="TextShape 33"/>
          <p:cNvSpPr txBox="1"/>
          <p:nvPr/>
        </p:nvSpPr>
        <p:spPr>
          <a:xfrm>
            <a:off x="10519200" y="2193840"/>
            <a:ext cx="84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891b2"/>
                </a:solidFill>
                <a:latin typeface="Noto Sans CJK JP"/>
              </a:rPr>
              <a:t>Python</a:t>
            </a:r>
            <a:endParaRPr b="1" lang="en-US" sz="11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403" name="Rectangle 34"/>
          <p:cNvSpPr/>
          <p:nvPr/>
        </p:nvSpPr>
        <p:spPr>
          <a:xfrm>
            <a:off x="10476000" y="3024000"/>
            <a:ext cx="936000" cy="1872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e8f7f1">
                <a:alpha val="0"/>
              </a:srgbClr>
            </a:solidFill>
            <a:round/>
          </a:ln>
        </p:spPr>
      </p:sp>
      <p:sp>
        <p:nvSpPr>
          <p:cNvPr id="404" name="TextShape 35"/>
          <p:cNvSpPr txBox="1"/>
          <p:nvPr/>
        </p:nvSpPr>
        <p:spPr>
          <a:xfrm>
            <a:off x="10519200" y="3075840"/>
            <a:ext cx="84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C++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05" name="Rectangle 36"/>
          <p:cNvSpPr/>
          <p:nvPr/>
        </p:nvSpPr>
        <p:spPr>
          <a:xfrm>
            <a:off x="10296000" y="4014000"/>
            <a:ext cx="1116000" cy="1872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406" name="TextShape 37"/>
          <p:cNvSpPr txBox="1"/>
          <p:nvPr/>
        </p:nvSpPr>
        <p:spPr>
          <a:xfrm>
            <a:off x="10339200" y="4167000"/>
            <a:ext cx="102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Python + C++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407" name="Rectangle 38"/>
          <p:cNvSpPr/>
          <p:nvPr/>
        </p:nvSpPr>
        <p:spPr>
          <a:xfrm>
            <a:off x="10476000" y="4896000"/>
            <a:ext cx="936000" cy="1872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fff4e5">
                <a:alpha val="0"/>
              </a:srgbClr>
            </a:solidFill>
            <a:round/>
          </a:ln>
        </p:spPr>
      </p:sp>
      <p:sp>
        <p:nvSpPr>
          <p:cNvPr id="408" name="TextShape 39"/>
          <p:cNvSpPr txBox="1"/>
          <p:nvPr/>
        </p:nvSpPr>
        <p:spPr>
          <a:xfrm>
            <a:off x="10519200" y="4947840"/>
            <a:ext cx="849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d97706"/>
                </a:solidFill>
                <a:latin typeface="Noto Sans CJK JP"/>
              </a:rPr>
              <a:t>ROS msg</a:t>
            </a:r>
            <a:endParaRPr b="1" lang="en-US" sz="11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409" name="Rectangle 40"/>
          <p:cNvSpPr/>
          <p:nvPr/>
        </p:nvSpPr>
        <p:spPr>
          <a:xfrm>
            <a:off x="576000" y="5760000"/>
            <a:ext cx="10764000" cy="360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410" name="TextShape 41"/>
          <p:cNvSpPr txBox="1"/>
          <p:nvPr/>
        </p:nvSpPr>
        <p:spPr>
          <a:xfrm>
            <a:off x="684000" y="5850000"/>
            <a:ext cx="1054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依存方向は下向きのみ：</a:t>
            </a:r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foundation</a:t>
            </a:r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は</a:t>
            </a:r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ROS</a:t>
            </a:r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や</a:t>
            </a:r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application</a:t>
            </a:r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へ逆依存しない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412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413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C++ RUNTIME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14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低遅延化の核心：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latest-only C++ runtime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15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履歴を処理する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viewer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ではなく、現在状態を最短で返す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monitor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として設計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16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419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09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20" name="TextShape 10"/>
          <p:cNvSpPr txBox="1"/>
          <p:nvPr/>
        </p:nvSpPr>
        <p:spPr>
          <a:xfrm>
            <a:off x="612000" y="1188000"/>
            <a:ext cx="432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旧：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per-edge FIFO</a:t>
            </a:r>
            <a:endParaRPr b="1" lang="en-US" sz="13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21" name="Rectangle 11"/>
          <p:cNvSpPr/>
          <p:nvPr/>
        </p:nvSpPr>
        <p:spPr>
          <a:xfrm>
            <a:off x="576000" y="1368000"/>
            <a:ext cx="5112000" cy="2160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ef9d9d"/>
            </a:solidFill>
            <a:round/>
          </a:ln>
        </p:spPr>
      </p:sp>
      <p:sp>
        <p:nvSpPr>
          <p:cNvPr id="422" name="Rectangle 12"/>
          <p:cNvSpPr/>
          <p:nvPr/>
        </p:nvSpPr>
        <p:spPr>
          <a:xfrm>
            <a:off x="828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23" name="TextShape 13"/>
          <p:cNvSpPr txBox="1"/>
          <p:nvPr/>
        </p:nvSpPr>
        <p:spPr>
          <a:xfrm>
            <a:off x="856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e1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24" name="Rectangle 14"/>
          <p:cNvSpPr/>
          <p:nvPr/>
        </p:nvSpPr>
        <p:spPr>
          <a:xfrm>
            <a:off x="1350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25" name="TextShape 15"/>
          <p:cNvSpPr txBox="1"/>
          <p:nvPr/>
        </p:nvSpPr>
        <p:spPr>
          <a:xfrm>
            <a:off x="1378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e2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26" name="Rectangle 16"/>
          <p:cNvSpPr/>
          <p:nvPr/>
        </p:nvSpPr>
        <p:spPr>
          <a:xfrm>
            <a:off x="1872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27" name="TextShape 17"/>
          <p:cNvSpPr txBox="1"/>
          <p:nvPr/>
        </p:nvSpPr>
        <p:spPr>
          <a:xfrm>
            <a:off x="1900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e3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28" name="Rectangle 18"/>
          <p:cNvSpPr/>
          <p:nvPr/>
        </p:nvSpPr>
        <p:spPr>
          <a:xfrm>
            <a:off x="2394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29" name="TextShape 19"/>
          <p:cNvSpPr txBox="1"/>
          <p:nvPr/>
        </p:nvSpPr>
        <p:spPr>
          <a:xfrm>
            <a:off x="2422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e4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30" name="Rectangle 20"/>
          <p:cNvSpPr/>
          <p:nvPr/>
        </p:nvSpPr>
        <p:spPr>
          <a:xfrm>
            <a:off x="2916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31" name="TextShape 21"/>
          <p:cNvSpPr txBox="1"/>
          <p:nvPr/>
        </p:nvSpPr>
        <p:spPr>
          <a:xfrm>
            <a:off x="2944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e5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32" name="Rectangle 22"/>
          <p:cNvSpPr/>
          <p:nvPr/>
        </p:nvSpPr>
        <p:spPr>
          <a:xfrm>
            <a:off x="3438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33" name="TextShape 23"/>
          <p:cNvSpPr txBox="1"/>
          <p:nvPr/>
        </p:nvSpPr>
        <p:spPr>
          <a:xfrm>
            <a:off x="3466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e6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34" name="Rectangle 24"/>
          <p:cNvSpPr/>
          <p:nvPr/>
        </p:nvSpPr>
        <p:spPr>
          <a:xfrm>
            <a:off x="3960000" y="1800000"/>
            <a:ext cx="360000" cy="3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35" name="TextShape 25"/>
          <p:cNvSpPr txBox="1"/>
          <p:nvPr/>
        </p:nvSpPr>
        <p:spPr>
          <a:xfrm>
            <a:off x="3988800" y="1890000"/>
            <a:ext cx="302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e7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36" name="TextShape 26"/>
          <p:cNvSpPr txBox="1"/>
          <p:nvPr/>
        </p:nvSpPr>
        <p:spPr>
          <a:xfrm>
            <a:off x="4500000" y="1898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dc2626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37" name="Rectangle 27"/>
          <p:cNvSpPr/>
          <p:nvPr/>
        </p:nvSpPr>
        <p:spPr>
          <a:xfrm>
            <a:off x="4860000" y="1692000"/>
            <a:ext cx="432000" cy="8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c2626"/>
            </a:solidFill>
            <a:round/>
          </a:ln>
        </p:spPr>
      </p:sp>
      <p:sp>
        <p:nvSpPr>
          <p:cNvPr id="438" name="Line 28"/>
          <p:cNvSpPr/>
          <p:nvPr/>
        </p:nvSpPr>
        <p:spPr>
          <a:xfrm>
            <a:off x="4932000" y="1800000"/>
            <a:ext cx="288000" cy="0"/>
          </a:xfrm>
          <a:prstGeom prst="line">
            <a:avLst/>
          </a:prstGeom>
          <a:ln w="108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Line 29"/>
          <p:cNvSpPr/>
          <p:nvPr/>
        </p:nvSpPr>
        <p:spPr>
          <a:xfrm>
            <a:off x="4932000" y="1954800"/>
            <a:ext cx="288000" cy="0"/>
          </a:xfrm>
          <a:prstGeom prst="line">
            <a:avLst/>
          </a:prstGeom>
          <a:ln w="108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Line 30"/>
          <p:cNvSpPr/>
          <p:nvPr/>
        </p:nvSpPr>
        <p:spPr>
          <a:xfrm>
            <a:off x="4932000" y="2109600"/>
            <a:ext cx="288000" cy="0"/>
          </a:xfrm>
          <a:prstGeom prst="line">
            <a:avLst/>
          </a:prstGeom>
          <a:ln w="108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Line 31"/>
          <p:cNvSpPr/>
          <p:nvPr/>
        </p:nvSpPr>
        <p:spPr>
          <a:xfrm>
            <a:off x="4932000" y="2264400"/>
            <a:ext cx="288000" cy="0"/>
          </a:xfrm>
          <a:prstGeom prst="line">
            <a:avLst/>
          </a:prstGeom>
          <a:ln w="108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Shape 32"/>
          <p:cNvSpPr txBox="1"/>
          <p:nvPr/>
        </p:nvSpPr>
        <p:spPr>
          <a:xfrm>
            <a:off x="1080000" y="2430000"/>
            <a:ext cx="3312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600" spc="-1" strike="noStrike">
                <a:solidFill>
                  <a:srgbClr val="dc2626"/>
                </a:solidFill>
                <a:latin typeface="Noto Sans CJK JP"/>
              </a:rPr>
              <a:t>約</a:t>
            </a:r>
            <a:r>
              <a:rPr b="1" lang="en-US" sz="1600" spc="-1" strike="noStrike">
                <a:solidFill>
                  <a:srgbClr val="dc2626"/>
                </a:solidFill>
                <a:latin typeface="Noto Sans CJK JP"/>
              </a:rPr>
              <a:t>1,350 records/s</a:t>
            </a:r>
            <a:endParaRPr b="1" lang="en-US" sz="16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43" name="TextShape 33"/>
          <p:cNvSpPr txBox="1"/>
          <p:nvPr/>
        </p:nvSpPr>
        <p:spPr>
          <a:xfrm>
            <a:off x="936000" y="2736000"/>
            <a:ext cx="367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Python graph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更新 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+ 3 path query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が直列化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計算が追いつかず、古い状態を順番に表示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44" name="TextShape 34"/>
          <p:cNvSpPr txBox="1"/>
          <p:nvPr/>
        </p:nvSpPr>
        <p:spPr>
          <a:xfrm>
            <a:off x="6264000" y="1188000"/>
            <a:ext cx="48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新：</a:t>
            </a:r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atomic latest snapshot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45" name="Rectangle 35"/>
          <p:cNvSpPr/>
          <p:nvPr/>
        </p:nvSpPr>
        <p:spPr>
          <a:xfrm>
            <a:off x="6174000" y="1368000"/>
            <a:ext cx="5256000" cy="2160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8ed0bc"/>
            </a:solidFill>
            <a:round/>
          </a:ln>
        </p:spPr>
      </p:sp>
      <p:sp>
        <p:nvSpPr>
          <p:cNvPr id="446" name="Rectangle 36"/>
          <p:cNvSpPr/>
          <p:nvPr/>
        </p:nvSpPr>
        <p:spPr>
          <a:xfrm>
            <a:off x="6444000" y="1692000"/>
            <a:ext cx="1260000" cy="756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447" name="Rectangle 37"/>
          <p:cNvSpPr/>
          <p:nvPr/>
        </p:nvSpPr>
        <p:spPr>
          <a:xfrm>
            <a:off x="6444000" y="1692000"/>
            <a:ext cx="1260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448" name="TextShape 38"/>
          <p:cNvSpPr txBox="1"/>
          <p:nvPr/>
        </p:nvSpPr>
        <p:spPr>
          <a:xfrm>
            <a:off x="6508800" y="1801440"/>
            <a:ext cx="1130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callback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49" name="TextShape 39"/>
          <p:cNvSpPr txBox="1"/>
          <p:nvPr/>
        </p:nvSpPr>
        <p:spPr>
          <a:xfrm>
            <a:off x="6508800" y="2005200"/>
            <a:ext cx="1130400" cy="60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queue=1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latest pointer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交換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50" name="TextShape 40"/>
          <p:cNvSpPr txBox="1"/>
          <p:nvPr/>
        </p:nvSpPr>
        <p:spPr>
          <a:xfrm>
            <a:off x="7704000" y="197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59669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51" name="Rectangle 41"/>
          <p:cNvSpPr/>
          <p:nvPr/>
        </p:nvSpPr>
        <p:spPr>
          <a:xfrm>
            <a:off x="8028000" y="1692000"/>
            <a:ext cx="1260000" cy="756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76c5ac"/>
            </a:solidFill>
            <a:round/>
          </a:ln>
        </p:spPr>
      </p:sp>
      <p:sp>
        <p:nvSpPr>
          <p:cNvPr id="452" name="Rectangle 42"/>
          <p:cNvSpPr/>
          <p:nvPr/>
        </p:nvSpPr>
        <p:spPr>
          <a:xfrm>
            <a:off x="8028000" y="1692000"/>
            <a:ext cx="1260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453" name="TextShape 43"/>
          <p:cNvSpPr txBox="1"/>
          <p:nvPr/>
        </p:nvSpPr>
        <p:spPr>
          <a:xfrm>
            <a:off x="8092800" y="1801440"/>
            <a:ext cx="1130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worker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54" name="TextShape 44"/>
          <p:cNvSpPr txBox="1"/>
          <p:nvPr/>
        </p:nvSpPr>
        <p:spPr>
          <a:xfrm>
            <a:off x="8092800" y="2005200"/>
            <a:ext cx="11304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snapshot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計算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世代を確認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55" name="TextShape 45"/>
          <p:cNvSpPr txBox="1"/>
          <p:nvPr/>
        </p:nvSpPr>
        <p:spPr>
          <a:xfrm>
            <a:off x="9288000" y="1970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59669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56" name="Rectangle 46"/>
          <p:cNvSpPr/>
          <p:nvPr/>
        </p:nvSpPr>
        <p:spPr>
          <a:xfrm>
            <a:off x="9612000" y="1692000"/>
            <a:ext cx="1440000" cy="756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457" name="Rectangle 47"/>
          <p:cNvSpPr/>
          <p:nvPr/>
        </p:nvSpPr>
        <p:spPr>
          <a:xfrm>
            <a:off x="9612000" y="1692000"/>
            <a:ext cx="1440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458" name="TextShape 48"/>
          <p:cNvSpPr txBox="1"/>
          <p:nvPr/>
        </p:nvSpPr>
        <p:spPr>
          <a:xfrm>
            <a:off x="9676800" y="1801440"/>
            <a:ext cx="1310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/probtf_batch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59" name="TextShape 49"/>
          <p:cNvSpPr txBox="1"/>
          <p:nvPr/>
        </p:nvSpPr>
        <p:spPr>
          <a:xfrm>
            <a:off x="9676800" y="2005200"/>
            <a:ext cx="13104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complete set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atomic publish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60" name="TextShape 50"/>
          <p:cNvSpPr txBox="1"/>
          <p:nvPr/>
        </p:nvSpPr>
        <p:spPr>
          <a:xfrm>
            <a:off x="6624000" y="2628000"/>
            <a:ext cx="432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600" spc="-1" strike="noStrike">
                <a:solidFill>
                  <a:srgbClr val="059669"/>
                </a:solidFill>
                <a:latin typeface="Noto Sans CJK JP"/>
              </a:rPr>
              <a:t>新世代が到着したら完了済みの旧結果を破棄</a:t>
            </a:r>
            <a:endParaRPr b="1" lang="en-US" sz="1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61" name="TextShape 51"/>
          <p:cNvSpPr txBox="1"/>
          <p:nvPr/>
        </p:nvSpPr>
        <p:spPr>
          <a:xfrm>
            <a:off x="6624000" y="2970000"/>
            <a:ext cx="432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古い中間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sample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は意図的に処理しない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62" name="TextShape 52"/>
          <p:cNvSpPr txBox="1"/>
          <p:nvPr/>
        </p:nvSpPr>
        <p:spPr>
          <a:xfrm>
            <a:off x="612000" y="3888000"/>
            <a:ext cx="57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固定</a:t>
            </a:r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2</a:t>
            </a:r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実行主体 — </a:t>
            </a:r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PC</a:t>
            </a:r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のコア数に依存しない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63" name="Rectangle 53"/>
          <p:cNvSpPr/>
          <p:nvPr/>
        </p:nvSpPr>
        <p:spPr>
          <a:xfrm>
            <a:off x="576000" y="4104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464" name="Ellipse 54"/>
          <p:cNvSpPr/>
          <p:nvPr/>
        </p:nvSpPr>
        <p:spPr>
          <a:xfrm>
            <a:off x="738000" y="4320000"/>
            <a:ext cx="270000" cy="270000"/>
          </a:xfrm>
          <a:prstGeom prst="ellipse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465" name="TextShape 55"/>
          <p:cNvSpPr txBox="1"/>
          <p:nvPr/>
        </p:nvSpPr>
        <p:spPr>
          <a:xfrm>
            <a:off x="738000" y="436680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66" name="TextShape 56"/>
          <p:cNvSpPr txBox="1"/>
          <p:nvPr/>
        </p:nvSpPr>
        <p:spPr>
          <a:xfrm>
            <a:off x="1098000" y="42912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ROS callback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67" name="TextShape 57"/>
          <p:cNvSpPr txBox="1"/>
          <p:nvPr/>
        </p:nvSpPr>
        <p:spPr>
          <a:xfrm>
            <a:off x="792000" y="4716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受信・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pointer swap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だけ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重い計算をしない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68" name="Rectangle 58"/>
          <p:cNvSpPr/>
          <p:nvPr/>
        </p:nvSpPr>
        <p:spPr>
          <a:xfrm>
            <a:off x="3312000" y="4104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469" name="Ellipse 59"/>
          <p:cNvSpPr/>
          <p:nvPr/>
        </p:nvSpPr>
        <p:spPr>
          <a:xfrm>
            <a:off x="3474000" y="4320000"/>
            <a:ext cx="270000" cy="270000"/>
          </a:xfrm>
          <a:prstGeom prst="ellipse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470" name="TextShape 60"/>
          <p:cNvSpPr txBox="1"/>
          <p:nvPr/>
        </p:nvSpPr>
        <p:spPr>
          <a:xfrm>
            <a:off x="3474000" y="436680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71" name="TextShape 61"/>
          <p:cNvSpPr txBox="1"/>
          <p:nvPr/>
        </p:nvSpPr>
        <p:spPr>
          <a:xfrm>
            <a:off x="3834000" y="42912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worker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72" name="TextShape 62"/>
          <p:cNvSpPr txBox="1"/>
          <p:nvPr/>
        </p:nvSpPr>
        <p:spPr>
          <a:xfrm>
            <a:off x="3528000" y="4716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bridge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変換または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point moments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計算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73" name="Rectangle 63"/>
          <p:cNvSpPr/>
          <p:nvPr/>
        </p:nvSpPr>
        <p:spPr>
          <a:xfrm>
            <a:off x="6048000" y="4104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474" name="Ellipse 64"/>
          <p:cNvSpPr/>
          <p:nvPr/>
        </p:nvSpPr>
        <p:spPr>
          <a:xfrm>
            <a:off x="6210000" y="4320000"/>
            <a:ext cx="270000" cy="270000"/>
          </a:xfrm>
          <a:prstGeom prst="ellipse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475" name="TextShape 65"/>
          <p:cNvSpPr txBox="1"/>
          <p:nvPr/>
        </p:nvSpPr>
        <p:spPr>
          <a:xfrm>
            <a:off x="6210000" y="436680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76" name="TextShape 66"/>
          <p:cNvSpPr txBox="1"/>
          <p:nvPr/>
        </p:nvSpPr>
        <p:spPr>
          <a:xfrm>
            <a:off x="6570000" y="42912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generation check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77" name="TextShape 67"/>
          <p:cNvSpPr txBox="1"/>
          <p:nvPr/>
        </p:nvSpPr>
        <p:spPr>
          <a:xfrm>
            <a:off x="6264000" y="4716000"/>
            <a:ext cx="2088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計算前後で比較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superseded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なら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discard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78" name="Rectangle 68"/>
          <p:cNvSpPr/>
          <p:nvPr/>
        </p:nvSpPr>
        <p:spPr>
          <a:xfrm>
            <a:off x="8784000" y="4104000"/>
            <a:ext cx="2520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479" name="Ellipse 69"/>
          <p:cNvSpPr/>
          <p:nvPr/>
        </p:nvSpPr>
        <p:spPr>
          <a:xfrm>
            <a:off x="8946000" y="4320000"/>
            <a:ext cx="270000" cy="2700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480" name="TextShape 70"/>
          <p:cNvSpPr txBox="1"/>
          <p:nvPr/>
        </p:nvSpPr>
        <p:spPr>
          <a:xfrm>
            <a:off x="8946000" y="4366800"/>
            <a:ext cx="27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81" name="TextShape 71"/>
          <p:cNvSpPr txBox="1"/>
          <p:nvPr/>
        </p:nvSpPr>
        <p:spPr>
          <a:xfrm>
            <a:off x="9306000" y="42912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rate cap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82" name="TextShape 72"/>
          <p:cNvSpPr txBox="1"/>
          <p:nvPr/>
        </p:nvSpPr>
        <p:spPr>
          <a:xfrm>
            <a:off x="9000000" y="4716000"/>
            <a:ext cx="2088000" cy="713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最大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50 Hz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compute time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を周期へ加算しない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83" name="Rectangle 73"/>
          <p:cNvSpPr/>
          <p:nvPr/>
        </p:nvSpPr>
        <p:spPr>
          <a:xfrm>
            <a:off x="576000" y="5616000"/>
            <a:ext cx="10764000" cy="342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fff4e5">
                <a:alpha val="0"/>
              </a:srgbClr>
            </a:solidFill>
            <a:round/>
          </a:ln>
        </p:spPr>
      </p:sp>
      <p:sp>
        <p:nvSpPr>
          <p:cNvPr id="484" name="TextShape 74"/>
          <p:cNvSpPr txBox="1"/>
          <p:nvPr/>
        </p:nvSpPr>
        <p:spPr>
          <a:xfrm>
            <a:off x="684000" y="5695200"/>
            <a:ext cx="1054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300" spc="-1" strike="noStrike">
                <a:solidFill>
                  <a:srgbClr val="d97706"/>
                </a:solidFill>
                <a:latin typeface="Noto Sans CJK JP"/>
              </a:rPr>
              <a:t>全履歴が必要な推定・</a:t>
            </a:r>
            <a:r>
              <a:rPr b="1" lang="en-US" sz="1300" spc="-1" strike="noStrike">
                <a:solidFill>
                  <a:srgbClr val="d97706"/>
                </a:solidFill>
                <a:latin typeface="Noto Sans CJK JP"/>
              </a:rPr>
              <a:t>offline</a:t>
            </a:r>
            <a:r>
              <a:rPr b="1" lang="zh-CN" sz="1300" spc="-1" strike="noStrike">
                <a:solidFill>
                  <a:srgbClr val="d97706"/>
                </a:solidFill>
                <a:latin typeface="Noto Sans CJK JP"/>
              </a:rPr>
              <a:t>解析は、個別</a:t>
            </a:r>
            <a:r>
              <a:rPr b="1" lang="en-US" sz="1300" spc="-1" strike="noStrike">
                <a:solidFill>
                  <a:srgbClr val="d97706"/>
                </a:solidFill>
                <a:latin typeface="Noto Sans CJK JP"/>
              </a:rPr>
              <a:t>topic</a:t>
            </a:r>
            <a:r>
              <a:rPr b="1" lang="zh-CN" sz="1300" spc="-1" strike="noStrike">
                <a:solidFill>
                  <a:srgbClr val="d97706"/>
                </a:solidFill>
                <a:latin typeface="Noto Sans CJK JP"/>
              </a:rPr>
              <a:t>または</a:t>
            </a:r>
            <a:r>
              <a:rPr b="1" lang="en-US" sz="1300" spc="-1" strike="noStrike">
                <a:solidFill>
                  <a:srgbClr val="d97706"/>
                </a:solidFill>
                <a:latin typeface="Noto Sans CJK JP"/>
              </a:rPr>
              <a:t>rosbag</a:t>
            </a:r>
            <a:r>
              <a:rPr b="1" lang="zh-CN" sz="1300" spc="-1" strike="noStrike">
                <a:solidFill>
                  <a:srgbClr val="d97706"/>
                </a:solidFill>
                <a:latin typeface="Noto Sans CJK JP"/>
              </a:rPr>
              <a:t>を使う</a:t>
            </a:r>
            <a:endParaRPr b="1" lang="en-US" sz="13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486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487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DEFLECOMP PHYSICS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488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deflecomp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：柔軟関節の重力たわみを補償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89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目標リンク角 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qᵣ 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を実現するため、ばね基準角 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u 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を先回りしてずらす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90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493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10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494" name="Rectangle 10"/>
          <p:cNvSpPr/>
          <p:nvPr/>
        </p:nvSpPr>
        <p:spPr>
          <a:xfrm>
            <a:off x="576000" y="1188000"/>
            <a:ext cx="5112000" cy="37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495" name="TextShape 11"/>
          <p:cNvSpPr txBox="1"/>
          <p:nvPr/>
        </p:nvSpPr>
        <p:spPr>
          <a:xfrm>
            <a:off x="792000" y="1404000"/>
            <a:ext cx="198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7c3aed"/>
                </a:solidFill>
                <a:latin typeface="Noto Sans CJK JP"/>
              </a:rPr>
              <a:t>1</a:t>
            </a:r>
            <a:r>
              <a:rPr b="1" lang="zh-CN" sz="1300" spc="-1" strike="noStrike">
                <a:solidFill>
                  <a:srgbClr val="7c3aed"/>
                </a:solidFill>
                <a:latin typeface="Noto Sans CJK JP"/>
              </a:rPr>
              <a:t>関節の直感</a:t>
            </a:r>
            <a:endParaRPr b="1" lang="en-US" sz="13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496" name="Line 12"/>
          <p:cNvSpPr/>
          <p:nvPr/>
        </p:nvSpPr>
        <p:spPr>
          <a:xfrm flipV="1">
            <a:off x="1800000" y="2376000"/>
            <a:ext cx="0" cy="1764000"/>
          </a:xfrm>
          <a:prstGeom prst="line">
            <a:avLst/>
          </a:prstGeom>
          <a:ln w="57600">
            <a:solidFill>
              <a:srgbClr val="15223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Ellipse 13"/>
          <p:cNvSpPr/>
          <p:nvPr/>
        </p:nvSpPr>
        <p:spPr>
          <a:xfrm>
            <a:off x="1638000" y="3996000"/>
            <a:ext cx="324000" cy="324000"/>
          </a:xfrm>
          <a:prstGeom prst="ellipse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498" name="Line 14"/>
          <p:cNvSpPr/>
          <p:nvPr/>
        </p:nvSpPr>
        <p:spPr>
          <a:xfrm flipV="1">
            <a:off x="1800000" y="1836000"/>
            <a:ext cx="1548000" cy="540000"/>
          </a:xfrm>
          <a:prstGeom prst="line">
            <a:avLst/>
          </a:prstGeom>
          <a:ln w="540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Ellipse 15"/>
          <p:cNvSpPr/>
          <p:nvPr/>
        </p:nvSpPr>
        <p:spPr>
          <a:xfrm>
            <a:off x="1674000" y="2250000"/>
            <a:ext cx="252000" cy="25200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59669"/>
            </a:solidFill>
            <a:round/>
          </a:ln>
        </p:spPr>
      </p:sp>
      <p:sp>
        <p:nvSpPr>
          <p:cNvPr id="500" name="TextShape 16"/>
          <p:cNvSpPr txBox="1"/>
          <p:nvPr/>
        </p:nvSpPr>
        <p:spPr>
          <a:xfrm>
            <a:off x="3312000" y="1638000"/>
            <a:ext cx="1260000" cy="551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q</a:t>
            </a:r>
            <a:r>
              <a:rPr b="1" lang="zh-CN" sz="1500" spc="-1" strike="noStrike">
                <a:solidFill>
                  <a:srgbClr val="059669"/>
                </a:solidFill>
                <a:latin typeface="Noto Sans CJK JP"/>
              </a:rPr>
              <a:t>：実リンク角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01" name="Line 17"/>
          <p:cNvSpPr/>
          <p:nvPr/>
        </p:nvSpPr>
        <p:spPr>
          <a:xfrm>
            <a:off x="1800000" y="2376000"/>
            <a:ext cx="1296000" cy="216000"/>
          </a:xfrm>
          <a:prstGeom prst="line">
            <a:avLst/>
          </a:prstGeom>
          <a:ln w="28800">
            <a:solidFill>
              <a:srgbClr val="2563eb"/>
            </a:solidFill>
            <a:custDash>
              <a:ds d="25000" sp="25000"/>
              <a:ds d="25000" sp="25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TextShape 18"/>
          <p:cNvSpPr txBox="1"/>
          <p:nvPr/>
        </p:nvSpPr>
        <p:spPr>
          <a:xfrm>
            <a:off x="3060000" y="2520000"/>
            <a:ext cx="97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qᵣ</a:t>
            </a:r>
            <a:r>
              <a:rPr b="1" lang="zh-CN" sz="1400" spc="-1" strike="noStrike">
                <a:solidFill>
                  <a:srgbClr val="2563eb"/>
                </a:solidFill>
                <a:latin typeface="Noto Sans CJK JP"/>
              </a:rPr>
              <a:t>：目標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503" name="Line 19"/>
          <p:cNvSpPr/>
          <p:nvPr/>
        </p:nvSpPr>
        <p:spPr>
          <a:xfrm>
            <a:off x="1800000" y="2376000"/>
            <a:ext cx="864000" cy="936000"/>
          </a:xfrm>
          <a:prstGeom prst="line">
            <a:avLst/>
          </a:prstGeom>
          <a:ln w="28800">
            <a:solidFill>
              <a:srgbClr val="dc2626"/>
            </a:solidFill>
            <a:custDash>
              <a:ds d="25000" sp="25000"/>
              <a:ds d="25000" sp="25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Shape 20"/>
          <p:cNvSpPr txBox="1"/>
          <p:nvPr/>
        </p:nvSpPr>
        <p:spPr>
          <a:xfrm>
            <a:off x="2628000" y="3312000"/>
            <a:ext cx="14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u</a:t>
            </a:r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：ばね基準角</a:t>
            </a:r>
            <a:endParaRPr b="1" lang="en-US" sz="1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505" name="Line 21"/>
          <p:cNvSpPr/>
          <p:nvPr/>
        </p:nvSpPr>
        <p:spPr>
          <a:xfrm>
            <a:off x="4068000" y="1692000"/>
            <a:ext cx="0" cy="1836000"/>
          </a:xfrm>
          <a:prstGeom prst="line">
            <a:avLst/>
          </a:prstGeom>
          <a:ln w="25200">
            <a:solidFill>
              <a:srgbClr val="d9770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TextShape 22"/>
          <p:cNvSpPr txBox="1"/>
          <p:nvPr/>
        </p:nvSpPr>
        <p:spPr>
          <a:xfrm>
            <a:off x="4176000" y="2448000"/>
            <a:ext cx="93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d97706"/>
                </a:solidFill>
                <a:latin typeface="Noto Sans CJK JP"/>
              </a:rPr>
              <a:t>gravity</a:t>
            </a:r>
            <a:endParaRPr b="1" lang="en-US" sz="13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507" name="TextShape 23"/>
          <p:cNvSpPr txBox="1"/>
          <p:nvPr/>
        </p:nvSpPr>
        <p:spPr>
          <a:xfrm>
            <a:off x="1116000" y="4356000"/>
            <a:ext cx="3744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重力で 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q 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が下がる分だけ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u 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を逆向きに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offset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08" name="Rectangle 24"/>
          <p:cNvSpPr/>
          <p:nvPr/>
        </p:nvSpPr>
        <p:spPr>
          <a:xfrm>
            <a:off x="6174000" y="1188000"/>
            <a:ext cx="5256000" cy="3744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509" name="Rectangle 25"/>
          <p:cNvSpPr/>
          <p:nvPr/>
        </p:nvSpPr>
        <p:spPr>
          <a:xfrm>
            <a:off x="6552000" y="1476000"/>
            <a:ext cx="1512000" cy="1872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510" name="TextShape 26"/>
          <p:cNvSpPr txBox="1"/>
          <p:nvPr/>
        </p:nvSpPr>
        <p:spPr>
          <a:xfrm>
            <a:off x="6595200" y="1527840"/>
            <a:ext cx="1425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8de8f5"/>
                </a:solidFill>
                <a:latin typeface="Noto Sans CJK JP"/>
              </a:rPr>
              <a:t>STATIC EQUILIBRIUM</a:t>
            </a:r>
            <a:endParaRPr b="1" lang="en-US" sz="11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11" name="TextShape 27"/>
          <p:cNvSpPr txBox="1"/>
          <p:nvPr/>
        </p:nvSpPr>
        <p:spPr>
          <a:xfrm>
            <a:off x="6588000" y="1890000"/>
            <a:ext cx="4428000" cy="42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300" spc="-1" strike="noStrike">
                <a:solidFill>
                  <a:srgbClr val="ffffff"/>
                </a:solidFill>
                <a:latin typeface="Noto Sans CJK JP"/>
              </a:rPr>
              <a:t>τ_g(q) + τ_s(q,u,K) = 0</a:t>
            </a:r>
            <a:endParaRPr b="1" lang="en-US" sz="2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12" name="TextShape 28"/>
          <p:cNvSpPr txBox="1"/>
          <p:nvPr/>
        </p:nvSpPr>
        <p:spPr>
          <a:xfrm>
            <a:off x="6588000" y="2430000"/>
            <a:ext cx="18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9cb2ce"/>
                </a:solidFill>
                <a:latin typeface="Noto Sans CJK JP"/>
              </a:rPr>
              <a:t>periodic spring</a:t>
            </a:r>
            <a:endParaRPr b="1" lang="en-US" sz="130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513" name="TextShape 29"/>
          <p:cNvSpPr txBox="1"/>
          <p:nvPr/>
        </p:nvSpPr>
        <p:spPr>
          <a:xfrm>
            <a:off x="6588000" y="2682000"/>
            <a:ext cx="4428000" cy="34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900" spc="-1" strike="noStrike">
                <a:solidFill>
                  <a:srgbClr val="d7e4f5"/>
                </a:solidFill>
                <a:latin typeface="Noto Sans CJK JP"/>
              </a:rPr>
              <a:t>τ_s = 2K ⊙ sin((q−u)/2)</a:t>
            </a:r>
            <a:endParaRPr b="0" lang="en-US" sz="19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</p:txBody>
      </p:sp>
      <p:sp>
        <p:nvSpPr>
          <p:cNvPr id="514" name="Line 30"/>
          <p:cNvSpPr/>
          <p:nvPr/>
        </p:nvSpPr>
        <p:spPr>
          <a:xfrm>
            <a:off x="6588000" y="3150000"/>
            <a:ext cx="4428000" cy="0"/>
          </a:xfrm>
          <a:prstGeom prst="line">
            <a:avLst/>
          </a:prstGeom>
          <a:ln w="9000">
            <a:solidFill>
              <a:srgbClr val="31476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Shape 31"/>
          <p:cNvSpPr txBox="1"/>
          <p:nvPr/>
        </p:nvSpPr>
        <p:spPr>
          <a:xfrm>
            <a:off x="6588000" y="3348000"/>
            <a:ext cx="18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inverse statics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16" name="TextShape 32"/>
          <p:cNvSpPr txBox="1"/>
          <p:nvPr/>
        </p:nvSpPr>
        <p:spPr>
          <a:xfrm>
            <a:off x="6480000" y="3618000"/>
            <a:ext cx="46440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u_ff = qᵣ + 2 asin( τ_g(qᵣ) / 2K_exec )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17" name="TextShape 33"/>
          <p:cNvSpPr txBox="1"/>
          <p:nvPr/>
        </p:nvSpPr>
        <p:spPr>
          <a:xfrm>
            <a:off x="6768000" y="4176000"/>
            <a:ext cx="4068000" cy="551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500" spc="-1" strike="noStrike">
                <a:solidFill>
                  <a:srgbClr val="afc3dd"/>
                </a:solidFill>
                <a:latin typeface="Noto Sans CJK JP"/>
              </a:rPr>
              <a:t>K_est</a:t>
            </a:r>
            <a:r>
              <a:rPr b="0" lang="zh-CN" sz="1500" spc="-1" strike="noStrike">
                <a:solidFill>
                  <a:srgbClr val="afc3dd"/>
                </a:solidFill>
                <a:latin typeface="Noto Sans CJK JP"/>
              </a:rPr>
              <a:t>：推定の現在値</a:t>
            </a:r>
            <a:endParaRPr b="0" lang="en-US" sz="15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500" spc="-1" strike="noStrike">
                <a:solidFill>
                  <a:srgbClr val="afc3dd"/>
                </a:solidFill>
                <a:latin typeface="Noto Sans CJK JP"/>
              </a:rPr>
              <a:t>K_exec</a:t>
            </a:r>
            <a:r>
              <a:rPr b="0" lang="zh-CN" sz="1500" spc="-1" strike="noStrike">
                <a:solidFill>
                  <a:srgbClr val="afc3dd"/>
                </a:solidFill>
                <a:latin typeface="Noto Sans CJK JP"/>
              </a:rPr>
              <a:t>：</a:t>
            </a:r>
            <a:r>
              <a:rPr b="0" lang="en-US" sz="1500" spc="-1" strike="noStrike">
                <a:solidFill>
                  <a:srgbClr val="afc3dd"/>
                </a:solidFill>
                <a:latin typeface="Noto Sans CJK JP"/>
              </a:rPr>
              <a:t>command</a:t>
            </a:r>
            <a:r>
              <a:rPr b="0" lang="zh-CN" sz="1500" spc="-1" strike="noStrike">
                <a:solidFill>
                  <a:srgbClr val="afc3dd"/>
                </a:solidFill>
                <a:latin typeface="Noto Sans CJK JP"/>
              </a:rPr>
              <a:t>用に</a:t>
            </a:r>
            <a:r>
              <a:rPr b="0" lang="en-US" sz="1500" spc="-1" strike="noStrike">
                <a:solidFill>
                  <a:srgbClr val="afc3dd"/>
                </a:solidFill>
                <a:latin typeface="Noto Sans CJK JP"/>
              </a:rPr>
              <a:t>0.5 s</a:t>
            </a:r>
            <a:r>
              <a:rPr b="0" lang="zh-CN" sz="1500" spc="-1" strike="noStrike">
                <a:solidFill>
                  <a:srgbClr val="afc3dd"/>
                </a:solidFill>
                <a:latin typeface="Noto Sans CJK JP"/>
              </a:rPr>
              <a:t>で平滑化</a:t>
            </a:r>
            <a:endParaRPr b="0" lang="en-US" sz="15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518" name="Rectangle 34"/>
          <p:cNvSpPr/>
          <p:nvPr/>
        </p:nvSpPr>
        <p:spPr>
          <a:xfrm>
            <a:off x="576000" y="5220000"/>
            <a:ext cx="10764000" cy="576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519" name="TextShape 35"/>
          <p:cNvSpPr txBox="1"/>
          <p:nvPr/>
        </p:nvSpPr>
        <p:spPr>
          <a:xfrm>
            <a:off x="738000" y="5364000"/>
            <a:ext cx="72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重要</a:t>
            </a:r>
            <a:endParaRPr b="1" lang="en-US" sz="1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520" name="TextShape 36"/>
          <p:cNvSpPr txBox="1"/>
          <p:nvPr/>
        </p:nvSpPr>
        <p:spPr>
          <a:xfrm>
            <a:off x="1548000" y="5342400"/>
            <a:ext cx="954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cmd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の赤いロボットは“物理姿勢”ではなく、ばね基準角 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u 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を剛体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FK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した反実仮想表示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522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523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DEFLECOMP ESTIMATION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24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IMU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重力方向から有効剛性を更新する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25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動作中ではなく、主に準静的区間で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log K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を局所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Laplace / iterated MAP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更新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26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29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11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30" name="Rectangle 10"/>
          <p:cNvSpPr/>
          <p:nvPr/>
        </p:nvSpPr>
        <p:spPr>
          <a:xfrm>
            <a:off x="432000" y="1404000"/>
            <a:ext cx="1944000" cy="1044000"/>
          </a:xfrm>
          <a:prstGeom prst="roundRect">
            <a:avLst/>
          </a:prstGeom>
          <a:solidFill>
            <a:srgbClr val="e9effd"/>
          </a:solidFill>
          <a:ln w="6480">
            <a:solidFill>
              <a:srgbClr val="87a9f4"/>
            </a:solidFill>
            <a:round/>
          </a:ln>
        </p:spPr>
      </p:sp>
      <p:sp>
        <p:nvSpPr>
          <p:cNvPr id="531" name="Rectangle 11"/>
          <p:cNvSpPr/>
          <p:nvPr/>
        </p:nvSpPr>
        <p:spPr>
          <a:xfrm>
            <a:off x="432000" y="1404000"/>
            <a:ext cx="1944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532" name="TextShape 12"/>
          <p:cNvSpPr txBox="1"/>
          <p:nvPr/>
        </p:nvSpPr>
        <p:spPr>
          <a:xfrm>
            <a:off x="496800" y="1513440"/>
            <a:ext cx="1814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Multi-frame IMU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33" name="TextShape 13"/>
          <p:cNvSpPr txBox="1"/>
          <p:nvPr/>
        </p:nvSpPr>
        <p:spPr>
          <a:xfrm>
            <a:off x="496800" y="1792800"/>
            <a:ext cx="1814400" cy="51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specific force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+ gyro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34" name="TextShape 14"/>
          <p:cNvSpPr txBox="1"/>
          <p:nvPr/>
        </p:nvSpPr>
        <p:spPr>
          <a:xfrm>
            <a:off x="2394000" y="1790640"/>
            <a:ext cx="306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2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2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35" name="Rectangle 15"/>
          <p:cNvSpPr/>
          <p:nvPr/>
        </p:nvSpPr>
        <p:spPr>
          <a:xfrm>
            <a:off x="2736000" y="1404000"/>
            <a:ext cx="1944000" cy="1044000"/>
          </a:xfrm>
          <a:prstGeom prst="roundRect">
            <a:avLst/>
          </a:prstGeom>
          <a:solidFill>
            <a:srgbClr val="e6f4f7"/>
          </a:solidFill>
          <a:ln w="6480">
            <a:solidFill>
              <a:srgbClr val="77c2d5"/>
            </a:solidFill>
            <a:round/>
          </a:ln>
        </p:spPr>
      </p:sp>
      <p:sp>
        <p:nvSpPr>
          <p:cNvPr id="536" name="Rectangle 16"/>
          <p:cNvSpPr/>
          <p:nvPr/>
        </p:nvSpPr>
        <p:spPr>
          <a:xfrm>
            <a:off x="2736000" y="1404000"/>
            <a:ext cx="1944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537" name="TextShape 17"/>
          <p:cNvSpPr txBox="1"/>
          <p:nvPr/>
        </p:nvSpPr>
        <p:spPr>
          <a:xfrm>
            <a:off x="2800800" y="1513440"/>
            <a:ext cx="1814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quality gate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38" name="TextShape 18"/>
          <p:cNvSpPr txBox="1"/>
          <p:nvPr/>
        </p:nvSpPr>
        <p:spPr>
          <a:xfrm>
            <a:off x="2800800" y="1792800"/>
            <a:ext cx="1814400" cy="51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|‖f‖−g|≤0.75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‖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ω‖≤0.20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39" name="TextShape 19"/>
          <p:cNvSpPr txBox="1"/>
          <p:nvPr/>
        </p:nvSpPr>
        <p:spPr>
          <a:xfrm>
            <a:off x="4698000" y="1790640"/>
            <a:ext cx="306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2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2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40" name="Rectangle 20"/>
          <p:cNvSpPr/>
          <p:nvPr/>
        </p:nvSpPr>
        <p:spPr>
          <a:xfrm>
            <a:off x="5040000" y="1404000"/>
            <a:ext cx="1944000" cy="1044000"/>
          </a:xfrm>
          <a:prstGeom prst="roundRect">
            <a:avLst/>
          </a:prstGeom>
          <a:solidFill>
            <a:srgbClr val="e6f4f0"/>
          </a:solidFill>
          <a:ln w="6480">
            <a:solidFill>
              <a:srgbClr val="76c5ac"/>
            </a:solidFill>
            <a:round/>
          </a:ln>
        </p:spPr>
      </p:sp>
      <p:sp>
        <p:nvSpPr>
          <p:cNvPr id="541" name="Rectangle 21"/>
          <p:cNvSpPr/>
          <p:nvPr/>
        </p:nvSpPr>
        <p:spPr>
          <a:xfrm>
            <a:off x="5040000" y="1404000"/>
            <a:ext cx="1944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542" name="TextShape 22"/>
          <p:cNvSpPr txBox="1"/>
          <p:nvPr/>
        </p:nvSpPr>
        <p:spPr>
          <a:xfrm>
            <a:off x="5104800" y="1513440"/>
            <a:ext cx="1814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gravity direction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43" name="TextShape 23"/>
          <p:cNvSpPr txBox="1"/>
          <p:nvPr/>
        </p:nvSpPr>
        <p:spPr>
          <a:xfrm>
            <a:off x="5104800" y="1792800"/>
            <a:ext cx="1814400" cy="51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ĝ_f = −f/‖f‖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extrinsic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補正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44" name="TextShape 24"/>
          <p:cNvSpPr txBox="1"/>
          <p:nvPr/>
        </p:nvSpPr>
        <p:spPr>
          <a:xfrm>
            <a:off x="7002000" y="1790640"/>
            <a:ext cx="306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2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2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45" name="Rectangle 25"/>
          <p:cNvSpPr/>
          <p:nvPr/>
        </p:nvSpPr>
        <p:spPr>
          <a:xfrm>
            <a:off x="7344000" y="1404000"/>
            <a:ext cx="1944000" cy="1044000"/>
          </a:xfrm>
          <a:prstGeom prst="roundRect">
            <a:avLst/>
          </a:prstGeom>
          <a:solidFill>
            <a:srgbClr val="f2ebfd"/>
          </a:solidFill>
          <a:ln w="6480">
            <a:solidFill>
              <a:srgbClr val="b793f5"/>
            </a:solidFill>
            <a:round/>
          </a:ln>
        </p:spPr>
      </p:sp>
      <p:sp>
        <p:nvSpPr>
          <p:cNvPr id="546" name="Rectangle 26"/>
          <p:cNvSpPr/>
          <p:nvPr/>
        </p:nvSpPr>
        <p:spPr>
          <a:xfrm>
            <a:off x="7344000" y="1404000"/>
            <a:ext cx="1944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547" name="TextShape 27"/>
          <p:cNvSpPr txBox="1"/>
          <p:nvPr/>
        </p:nvSpPr>
        <p:spPr>
          <a:xfrm>
            <a:off x="7408800" y="1513440"/>
            <a:ext cx="1814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Bingham likelihood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48" name="TextShape 28"/>
          <p:cNvSpPr txBox="1"/>
          <p:nvPr/>
        </p:nvSpPr>
        <p:spPr>
          <a:xfrm>
            <a:off x="7408800" y="1792800"/>
            <a:ext cx="1814400" cy="51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A_f = −α/4 PᵀP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α=1000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49" name="TextShape 29"/>
          <p:cNvSpPr txBox="1"/>
          <p:nvPr/>
        </p:nvSpPr>
        <p:spPr>
          <a:xfrm>
            <a:off x="9306000" y="1790640"/>
            <a:ext cx="306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2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2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50" name="Rectangle 30"/>
          <p:cNvSpPr/>
          <p:nvPr/>
        </p:nvSpPr>
        <p:spPr>
          <a:xfrm>
            <a:off x="9648000" y="1404000"/>
            <a:ext cx="1944000" cy="1044000"/>
          </a:xfrm>
          <a:prstGeom prst="roundRect">
            <a:avLst/>
          </a:prstGeom>
          <a:solidFill>
            <a:srgbClr val="fbf1e6"/>
          </a:solidFill>
          <a:ln w="6480">
            <a:solidFill>
              <a:srgbClr val="eab476"/>
            </a:solidFill>
            <a:round/>
          </a:ln>
        </p:spPr>
      </p:sp>
      <p:sp>
        <p:nvSpPr>
          <p:cNvPr id="551" name="Rectangle 31"/>
          <p:cNvSpPr/>
          <p:nvPr/>
        </p:nvSpPr>
        <p:spPr>
          <a:xfrm>
            <a:off x="9648000" y="1404000"/>
            <a:ext cx="1944000" cy="32400"/>
          </a:xfrm>
          <a:prstGeom prst="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552" name="TextShape 32"/>
          <p:cNvSpPr txBox="1"/>
          <p:nvPr/>
        </p:nvSpPr>
        <p:spPr>
          <a:xfrm>
            <a:off x="9712800" y="1513440"/>
            <a:ext cx="1814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iterated MAP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53" name="TextShape 33"/>
          <p:cNvSpPr txBox="1"/>
          <p:nvPr/>
        </p:nvSpPr>
        <p:spPr>
          <a:xfrm>
            <a:off x="9712800" y="1792800"/>
            <a:ext cx="1814400" cy="51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x=log K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最大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5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再線形化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54" name="Rectangle 34"/>
          <p:cNvSpPr/>
          <p:nvPr/>
        </p:nvSpPr>
        <p:spPr>
          <a:xfrm>
            <a:off x="576000" y="2844000"/>
            <a:ext cx="5148000" cy="23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555" name="TextShape 35"/>
          <p:cNvSpPr txBox="1"/>
          <p:nvPr/>
        </p:nvSpPr>
        <p:spPr>
          <a:xfrm>
            <a:off x="792000" y="3060000"/>
            <a:ext cx="223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7c3aed"/>
                </a:solidFill>
                <a:latin typeface="Noto Sans CJK JP"/>
              </a:rPr>
              <a:t>推定器の位置づけ</a:t>
            </a:r>
            <a:endParaRPr b="1" lang="en-US" sz="13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56" name="TextShape 36"/>
          <p:cNvSpPr txBox="1"/>
          <p:nvPr/>
        </p:nvSpPr>
        <p:spPr>
          <a:xfrm>
            <a:off x="864000" y="3420000"/>
            <a:ext cx="4248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Gaussian prior + Bingham likelihood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を局所二次化して</a:t>
            </a:r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MAP</a:t>
            </a:r>
            <a:r>
              <a:rPr b="1" lang="zh-CN" sz="1600" spc="-1" strike="noStrike">
                <a:solidFill>
                  <a:srgbClr val="152238"/>
                </a:solidFill>
                <a:latin typeface="Noto Sans CJK JP"/>
              </a:rPr>
              <a:t>更新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57" name="TextShape 37"/>
          <p:cNvSpPr txBox="1"/>
          <p:nvPr/>
        </p:nvSpPr>
        <p:spPr>
          <a:xfrm>
            <a:off x="1008000" y="4032000"/>
            <a:ext cx="3780000" cy="950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✓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observable subspace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のみ更新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✓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exact posterior objective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で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backtracking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✓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covariance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は最終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MAP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点で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1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回だけ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commit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✓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K_est 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と 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K_exec 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を分離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58" name="Rectangle 38"/>
          <p:cNvSpPr/>
          <p:nvPr/>
        </p:nvSpPr>
        <p:spPr>
          <a:xfrm>
            <a:off x="6282000" y="2844000"/>
            <a:ext cx="5148000" cy="2304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559" name="TextShape 39"/>
          <p:cNvSpPr txBox="1"/>
          <p:nvPr/>
        </p:nvSpPr>
        <p:spPr>
          <a:xfrm>
            <a:off x="6552000" y="3060000"/>
            <a:ext cx="252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K_est </a:t>
            </a:r>
            <a:r>
              <a:rPr b="1" lang="zh-CN" sz="1300" spc="-1" strike="noStrike">
                <a:solidFill>
                  <a:srgbClr val="8de8f5"/>
                </a:solidFill>
                <a:latin typeface="Noto Sans CJK JP"/>
              </a:rPr>
              <a:t>が意味するもの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60" name="TextShape 40"/>
          <p:cNvSpPr txBox="1"/>
          <p:nvPr/>
        </p:nvSpPr>
        <p:spPr>
          <a:xfrm>
            <a:off x="6588000" y="3438000"/>
            <a:ext cx="4356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2200" spc="-1" strike="noStrike">
                <a:solidFill>
                  <a:srgbClr val="ffffff"/>
                </a:solidFill>
                <a:latin typeface="Noto Sans CJK JP"/>
              </a:rPr>
              <a:t>材料剛性の真値  ≠  </a:t>
            </a:r>
            <a:r>
              <a:rPr b="1" lang="en-US" sz="2200" spc="-1" strike="noStrike">
                <a:solidFill>
                  <a:srgbClr val="ffffff"/>
                </a:solidFill>
                <a:latin typeface="Noto Sans CJK JP"/>
              </a:rPr>
              <a:t>K_est</a:t>
            </a:r>
            <a:endParaRPr b="1" lang="en-US" sz="2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61" name="TextShape 41"/>
          <p:cNvSpPr txBox="1"/>
          <p:nvPr/>
        </p:nvSpPr>
        <p:spPr>
          <a:xfrm>
            <a:off x="6660000" y="3888000"/>
            <a:ext cx="4212000" cy="1171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600" spc="-1" strike="noStrike">
                <a:solidFill>
                  <a:srgbClr val="d7e4f5"/>
                </a:solidFill>
                <a:latin typeface="Noto Sans CJK JP"/>
              </a:rPr>
              <a:t>未知</a:t>
            </a:r>
            <a:r>
              <a:rPr b="0" lang="en-US" sz="1600" spc="-1" strike="noStrike">
                <a:solidFill>
                  <a:srgbClr val="d7e4f5"/>
                </a:solidFill>
                <a:latin typeface="Noto Sans CJK JP"/>
              </a:rPr>
              <a:t>payload</a:t>
            </a:r>
            <a:r>
              <a:rPr b="0" lang="zh-CN" sz="1600" spc="-1" strike="noStrike">
                <a:solidFill>
                  <a:srgbClr val="d7e4f5"/>
                </a:solidFill>
                <a:latin typeface="Noto Sans CJK JP"/>
              </a:rPr>
              <a:t>・定常外力・摩擦・</a:t>
            </a:r>
            <a:r>
              <a:rPr b="0" lang="en-US" sz="1600" spc="-1" strike="noStrike">
                <a:solidFill>
                  <a:srgbClr val="d7e4f5"/>
                </a:solidFill>
                <a:latin typeface="Noto Sans CJK JP"/>
              </a:rPr>
              <a:t>URDF</a:t>
            </a:r>
            <a:r>
              <a:rPr b="0" lang="zh-CN" sz="1600" spc="-1" strike="noStrike">
                <a:solidFill>
                  <a:srgbClr val="d7e4f5"/>
                </a:solidFill>
                <a:latin typeface="Noto Sans CJK JP"/>
              </a:rPr>
              <a:t>誤差を</a:t>
            </a:r>
            <a:endParaRPr b="0" lang="en-US" sz="16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600" spc="-1" strike="noStrike">
                <a:solidFill>
                  <a:srgbClr val="d7e4f5"/>
                </a:solidFill>
                <a:latin typeface="Noto Sans CJK JP"/>
              </a:rPr>
              <a:t>縮約モデルへ吸収した“有効対角パラメータ”</a:t>
            </a:r>
            <a:endParaRPr b="0" lang="en-US" sz="16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</p:txBody>
      </p:sp>
      <p:sp>
        <p:nvSpPr>
          <p:cNvPr id="562" name="Rectangle 42"/>
          <p:cNvSpPr/>
          <p:nvPr/>
        </p:nvSpPr>
        <p:spPr>
          <a:xfrm>
            <a:off x="7416000" y="4572000"/>
            <a:ext cx="2844000" cy="1872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563" name="TextShape 43"/>
          <p:cNvSpPr txBox="1"/>
          <p:nvPr/>
        </p:nvSpPr>
        <p:spPr>
          <a:xfrm>
            <a:off x="7459200" y="4623840"/>
            <a:ext cx="27576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K_eff @ current pose / load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64" name="Rectangle 44"/>
          <p:cNvSpPr/>
          <p:nvPr/>
        </p:nvSpPr>
        <p:spPr>
          <a:xfrm>
            <a:off x="576000" y="5436000"/>
            <a:ext cx="10764000" cy="396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fff4e5">
                <a:alpha val="0"/>
              </a:srgbClr>
            </a:solidFill>
            <a:round/>
          </a:ln>
        </p:spPr>
      </p:sp>
      <p:sp>
        <p:nvSpPr>
          <p:cNvPr id="565" name="TextShape 45"/>
          <p:cNvSpPr txBox="1"/>
          <p:nvPr/>
        </p:nvSpPr>
        <p:spPr>
          <a:xfrm>
            <a:off x="684000" y="5544000"/>
            <a:ext cx="1054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0.5 kg</a:t>
            </a:r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荷重を加えて</a:t>
            </a:r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K_est</a:t>
            </a:r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が変化しても、</a:t>
            </a:r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mass</a:t>
            </a:r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や</a:t>
            </a:r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force vector</a:t>
            </a:r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を同定したことにはならない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567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568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CONTROL DATAFLOW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69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因果関係：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controller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が読むもの／読まないもの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70" name="Line 5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Line 6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TextShape 7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73" name="TextShape 8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12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74" name="TextShape 9"/>
          <p:cNvSpPr txBox="1"/>
          <p:nvPr/>
        </p:nvSpPr>
        <p:spPr>
          <a:xfrm>
            <a:off x="576000" y="1170000"/>
            <a:ext cx="36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7c3aed"/>
                </a:solidFill>
                <a:latin typeface="Noto Sans CJK JP"/>
              </a:rPr>
              <a:t>Controller</a:t>
            </a:r>
            <a:endParaRPr b="1" lang="en-US" sz="13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75" name="Rectangle 10"/>
          <p:cNvSpPr/>
          <p:nvPr/>
        </p:nvSpPr>
        <p:spPr>
          <a:xfrm>
            <a:off x="540000" y="1332000"/>
            <a:ext cx="7380000" cy="3672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c4a6f7"/>
            </a:solidFill>
            <a:round/>
          </a:ln>
        </p:spPr>
      </p:sp>
      <p:sp>
        <p:nvSpPr>
          <p:cNvPr id="576" name="Rectangle 11"/>
          <p:cNvSpPr/>
          <p:nvPr/>
        </p:nvSpPr>
        <p:spPr>
          <a:xfrm>
            <a:off x="792000" y="1800000"/>
            <a:ext cx="1404000" cy="792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577" name="Rectangle 12"/>
          <p:cNvSpPr/>
          <p:nvPr/>
        </p:nvSpPr>
        <p:spPr>
          <a:xfrm>
            <a:off x="792000" y="1800000"/>
            <a:ext cx="1404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578" name="TextShape 13"/>
          <p:cNvSpPr txBox="1"/>
          <p:nvPr/>
        </p:nvSpPr>
        <p:spPr>
          <a:xfrm>
            <a:off x="856800" y="1909440"/>
            <a:ext cx="1274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qᵣ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79" name="TextShape 14"/>
          <p:cNvSpPr txBox="1"/>
          <p:nvPr/>
        </p:nvSpPr>
        <p:spPr>
          <a:xfrm>
            <a:off x="856800" y="2188800"/>
            <a:ext cx="1274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/ref/joint_states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80" name="Rectangle 15"/>
          <p:cNvSpPr/>
          <p:nvPr/>
        </p:nvSpPr>
        <p:spPr>
          <a:xfrm>
            <a:off x="792000" y="3348000"/>
            <a:ext cx="1404000" cy="792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581" name="Rectangle 16"/>
          <p:cNvSpPr/>
          <p:nvPr/>
        </p:nvSpPr>
        <p:spPr>
          <a:xfrm>
            <a:off x="792000" y="3348000"/>
            <a:ext cx="1404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582" name="TextShape 17"/>
          <p:cNvSpPr txBox="1"/>
          <p:nvPr/>
        </p:nvSpPr>
        <p:spPr>
          <a:xfrm>
            <a:off x="856800" y="3457440"/>
            <a:ext cx="1274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IMU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83" name="TextShape 18"/>
          <p:cNvSpPr txBox="1"/>
          <p:nvPr/>
        </p:nvSpPr>
        <p:spPr>
          <a:xfrm>
            <a:off x="856800" y="3736800"/>
            <a:ext cx="12744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specific force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+ gyro gate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84" name="TextShape 19"/>
          <p:cNvSpPr txBox="1"/>
          <p:nvPr/>
        </p:nvSpPr>
        <p:spPr>
          <a:xfrm>
            <a:off x="2196000" y="211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7c3aed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85" name="TextShape 20"/>
          <p:cNvSpPr txBox="1"/>
          <p:nvPr/>
        </p:nvSpPr>
        <p:spPr>
          <a:xfrm>
            <a:off x="2196000" y="3662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7c3aed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86" name="Rectangle 21"/>
          <p:cNvSpPr/>
          <p:nvPr/>
        </p:nvSpPr>
        <p:spPr>
          <a:xfrm>
            <a:off x="2520000" y="2232000"/>
            <a:ext cx="1548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b793f5"/>
            </a:solidFill>
            <a:round/>
          </a:ln>
        </p:spPr>
      </p:sp>
      <p:sp>
        <p:nvSpPr>
          <p:cNvPr id="587" name="Rectangle 22"/>
          <p:cNvSpPr/>
          <p:nvPr/>
        </p:nvSpPr>
        <p:spPr>
          <a:xfrm>
            <a:off x="2520000" y="2232000"/>
            <a:ext cx="1548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588" name="TextShape 23"/>
          <p:cNvSpPr txBox="1"/>
          <p:nvPr/>
        </p:nvSpPr>
        <p:spPr>
          <a:xfrm>
            <a:off x="2584800" y="2341440"/>
            <a:ext cx="1418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K estimator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89" name="TextShape 24"/>
          <p:cNvSpPr txBox="1"/>
          <p:nvPr/>
        </p:nvSpPr>
        <p:spPr>
          <a:xfrm>
            <a:off x="2584800" y="2620800"/>
            <a:ext cx="1418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Bingham likelihood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→ 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K_est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90" name="TextShape 25"/>
          <p:cNvSpPr txBox="1"/>
          <p:nvPr/>
        </p:nvSpPr>
        <p:spPr>
          <a:xfrm>
            <a:off x="4068000" y="263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7c3aed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91" name="Rectangle 26"/>
          <p:cNvSpPr/>
          <p:nvPr/>
        </p:nvSpPr>
        <p:spPr>
          <a:xfrm>
            <a:off x="4392000" y="2232000"/>
            <a:ext cx="1368000" cy="1188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eab476"/>
            </a:solidFill>
            <a:round/>
          </a:ln>
        </p:spPr>
      </p:sp>
      <p:sp>
        <p:nvSpPr>
          <p:cNvPr id="592" name="Rectangle 27"/>
          <p:cNvSpPr/>
          <p:nvPr/>
        </p:nvSpPr>
        <p:spPr>
          <a:xfrm>
            <a:off x="4392000" y="2232000"/>
            <a:ext cx="1368000" cy="32400"/>
          </a:xfrm>
          <a:prstGeom prst="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593" name="TextShape 28"/>
          <p:cNvSpPr txBox="1"/>
          <p:nvPr/>
        </p:nvSpPr>
        <p:spPr>
          <a:xfrm>
            <a:off x="4456800" y="2341440"/>
            <a:ext cx="1238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K_exec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94" name="TextShape 29"/>
          <p:cNvSpPr txBox="1"/>
          <p:nvPr/>
        </p:nvSpPr>
        <p:spPr>
          <a:xfrm>
            <a:off x="4456800" y="2620800"/>
            <a:ext cx="1238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log smoothing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0.5 s + cap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95" name="TextShape 30"/>
          <p:cNvSpPr txBox="1"/>
          <p:nvPr/>
        </p:nvSpPr>
        <p:spPr>
          <a:xfrm>
            <a:off x="5760000" y="263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7c3aed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96" name="Rectangle 31"/>
          <p:cNvSpPr/>
          <p:nvPr/>
        </p:nvSpPr>
        <p:spPr>
          <a:xfrm>
            <a:off x="6084000" y="2232000"/>
            <a:ext cx="1512000" cy="1188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76c5ac"/>
            </a:solidFill>
            <a:round/>
          </a:ln>
        </p:spPr>
      </p:sp>
      <p:sp>
        <p:nvSpPr>
          <p:cNvPr id="597" name="Rectangle 32"/>
          <p:cNvSpPr/>
          <p:nvPr/>
        </p:nvSpPr>
        <p:spPr>
          <a:xfrm>
            <a:off x="6084000" y="2232000"/>
            <a:ext cx="1512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598" name="TextShape 33"/>
          <p:cNvSpPr txBox="1"/>
          <p:nvPr/>
        </p:nvSpPr>
        <p:spPr>
          <a:xfrm>
            <a:off x="6148800" y="2341440"/>
            <a:ext cx="1382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inverse statics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99" name="TextShape 34"/>
          <p:cNvSpPr txBox="1"/>
          <p:nvPr/>
        </p:nvSpPr>
        <p:spPr>
          <a:xfrm>
            <a:off x="6148800" y="2620800"/>
            <a:ext cx="1382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qᵣ, K_exec → u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command LPF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00" name="TextShape 35"/>
          <p:cNvSpPr txBox="1"/>
          <p:nvPr/>
        </p:nvSpPr>
        <p:spPr>
          <a:xfrm>
            <a:off x="5400000" y="3888000"/>
            <a:ext cx="223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059669"/>
                </a:solidFill>
                <a:latin typeface="Noto Sans CJK JP"/>
              </a:rPr>
              <a:t>publish /cmd/joint_states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01" name="TextShape 36"/>
          <p:cNvSpPr txBox="1"/>
          <p:nvPr/>
        </p:nvSpPr>
        <p:spPr>
          <a:xfrm>
            <a:off x="8388000" y="1170000"/>
            <a:ext cx="30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Flexible-joint simulator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02" name="Rectangle 37"/>
          <p:cNvSpPr/>
          <p:nvPr/>
        </p:nvSpPr>
        <p:spPr>
          <a:xfrm>
            <a:off x="8136000" y="1332000"/>
            <a:ext cx="3312000" cy="3672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8ed0bc"/>
            </a:solidFill>
            <a:round/>
          </a:ln>
        </p:spPr>
      </p:sp>
      <p:sp>
        <p:nvSpPr>
          <p:cNvPr id="603" name="Rectangle 38"/>
          <p:cNvSpPr/>
          <p:nvPr/>
        </p:nvSpPr>
        <p:spPr>
          <a:xfrm>
            <a:off x="8532000" y="1800000"/>
            <a:ext cx="2520000" cy="7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76c5ac"/>
            </a:solidFill>
            <a:round/>
          </a:ln>
        </p:spPr>
      </p:sp>
      <p:sp>
        <p:nvSpPr>
          <p:cNvPr id="604" name="Rectangle 39"/>
          <p:cNvSpPr/>
          <p:nvPr/>
        </p:nvSpPr>
        <p:spPr>
          <a:xfrm>
            <a:off x="8532000" y="1800000"/>
            <a:ext cx="2520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605" name="TextShape 40"/>
          <p:cNvSpPr txBox="1"/>
          <p:nvPr/>
        </p:nvSpPr>
        <p:spPr>
          <a:xfrm>
            <a:off x="8596800" y="1909440"/>
            <a:ext cx="2390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command shaping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06" name="TextShape 41"/>
          <p:cNvSpPr txBox="1"/>
          <p:nvPr/>
        </p:nvSpPr>
        <p:spPr>
          <a:xfrm>
            <a:off x="8596800" y="2188800"/>
            <a:ext cx="2390400" cy="26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slew 4 rad/s + τ_ref=0.1 s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07" name="TextShape 42"/>
          <p:cNvSpPr txBox="1"/>
          <p:nvPr/>
        </p:nvSpPr>
        <p:spPr>
          <a:xfrm>
            <a:off x="9540000" y="2672640"/>
            <a:ext cx="360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59669"/>
                </a:solidFill>
                <a:latin typeface="Noto Sans CJK JP"/>
              </a:rPr>
              <a:t>↓</a:t>
            </a:r>
            <a:endParaRPr b="1" lang="en-US" sz="2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08" name="Rectangle 43"/>
          <p:cNvSpPr/>
          <p:nvPr/>
        </p:nvSpPr>
        <p:spPr>
          <a:xfrm>
            <a:off x="8532000" y="2880000"/>
            <a:ext cx="2520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76c5ac"/>
            </a:solidFill>
            <a:round/>
          </a:ln>
        </p:spPr>
      </p:sp>
      <p:sp>
        <p:nvSpPr>
          <p:cNvPr id="609" name="Rectangle 44"/>
          <p:cNvSpPr/>
          <p:nvPr/>
        </p:nvSpPr>
        <p:spPr>
          <a:xfrm>
            <a:off x="8532000" y="2880000"/>
            <a:ext cx="2520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610" name="TextShape 45"/>
          <p:cNvSpPr txBox="1"/>
          <p:nvPr/>
        </p:nvSpPr>
        <p:spPr>
          <a:xfrm>
            <a:off x="8596800" y="2989440"/>
            <a:ext cx="2390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dynamics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11" name="TextShape 46"/>
          <p:cNvSpPr txBox="1"/>
          <p:nvPr/>
        </p:nvSpPr>
        <p:spPr>
          <a:xfrm>
            <a:off x="8596800" y="3268800"/>
            <a:ext cx="2390400" cy="37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M(q)q̈ + b + Dq̇ + τ_s = τ_ext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2" name="TextShape 47"/>
          <p:cNvSpPr txBox="1"/>
          <p:nvPr/>
        </p:nvSpPr>
        <p:spPr>
          <a:xfrm>
            <a:off x="9540000" y="3860640"/>
            <a:ext cx="360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600" spc="-1" strike="noStrike">
                <a:solidFill>
                  <a:srgbClr val="059669"/>
                </a:solidFill>
                <a:latin typeface="Noto Sans CJK JP"/>
              </a:rPr>
              <a:t>↓</a:t>
            </a:r>
            <a:endParaRPr b="1" lang="en-US" sz="2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13" name="Rectangle 48"/>
          <p:cNvSpPr/>
          <p:nvPr/>
        </p:nvSpPr>
        <p:spPr>
          <a:xfrm>
            <a:off x="8532000" y="4068000"/>
            <a:ext cx="2520000" cy="648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614" name="Rectangle 49"/>
          <p:cNvSpPr/>
          <p:nvPr/>
        </p:nvSpPr>
        <p:spPr>
          <a:xfrm>
            <a:off x="8532000" y="4068000"/>
            <a:ext cx="2520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615" name="TextShape 50"/>
          <p:cNvSpPr txBox="1"/>
          <p:nvPr/>
        </p:nvSpPr>
        <p:spPr>
          <a:xfrm>
            <a:off x="8596800" y="4177440"/>
            <a:ext cx="23904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q / synthetic IMU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16" name="TextShape 51"/>
          <p:cNvSpPr txBox="1"/>
          <p:nvPr/>
        </p:nvSpPr>
        <p:spPr>
          <a:xfrm>
            <a:off x="8596800" y="4381200"/>
            <a:ext cx="2390400" cy="19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/equil + /imu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7" name="Line 52"/>
          <p:cNvSpPr/>
          <p:nvPr/>
        </p:nvSpPr>
        <p:spPr>
          <a:xfrm>
            <a:off x="9000000" y="4716000"/>
            <a:ext cx="0" cy="648000"/>
          </a:xfrm>
          <a:prstGeom prst="line">
            <a:avLst/>
          </a:prstGeom>
          <a:ln w="16200">
            <a:solidFill>
              <a:srgbClr val="0891b2"/>
            </a:solidFill>
            <a:custDash>
              <a:ds d="44444" sp="44444"/>
              <a:ds d="44444" sp="44444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Line 53"/>
          <p:cNvSpPr/>
          <p:nvPr/>
        </p:nvSpPr>
        <p:spPr>
          <a:xfrm flipH="1">
            <a:off x="1512000" y="5364000"/>
            <a:ext cx="7488000" cy="0"/>
          </a:xfrm>
          <a:prstGeom prst="line">
            <a:avLst/>
          </a:prstGeom>
          <a:ln w="16200">
            <a:solidFill>
              <a:srgbClr val="0891b2"/>
            </a:solidFill>
            <a:custDash>
              <a:ds d="44444" sp="44444"/>
              <a:ds d="44444" sp="44444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9" name="Line 54"/>
          <p:cNvSpPr/>
          <p:nvPr/>
        </p:nvSpPr>
        <p:spPr>
          <a:xfrm flipV="1">
            <a:off x="1512000" y="4140000"/>
            <a:ext cx="0" cy="1224000"/>
          </a:xfrm>
          <a:prstGeom prst="line">
            <a:avLst/>
          </a:prstGeom>
          <a:ln w="16200">
            <a:solidFill>
              <a:srgbClr val="0891b2"/>
            </a:solidFill>
            <a:custDash>
              <a:ds d="44444" sp="44444"/>
              <a:ds d="44444" sp="44444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TextShape 55"/>
          <p:cNvSpPr txBox="1"/>
          <p:nvPr/>
        </p:nvSpPr>
        <p:spPr>
          <a:xfrm>
            <a:off x="4608000" y="5238000"/>
            <a:ext cx="223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0891b2"/>
                </a:solidFill>
                <a:latin typeface="Noto Sans CJK JP"/>
              </a:rPr>
              <a:t>feedback</a:t>
            </a:r>
            <a:r>
              <a:rPr b="1" lang="zh-CN" sz="1300" spc="-1" strike="noStrike">
                <a:solidFill>
                  <a:srgbClr val="0891b2"/>
                </a:solidFill>
                <a:latin typeface="Noto Sans CJK JP"/>
              </a:rPr>
              <a:t>は</a:t>
            </a:r>
            <a:r>
              <a:rPr b="1" lang="en-US" sz="1300" spc="-1" strike="noStrike">
                <a:solidFill>
                  <a:srgbClr val="0891b2"/>
                </a:solidFill>
                <a:latin typeface="Noto Sans CJK JP"/>
              </a:rPr>
              <a:t>IMU</a:t>
            </a:r>
            <a:r>
              <a:rPr b="1" lang="zh-CN" sz="1300" spc="-1" strike="noStrike">
                <a:solidFill>
                  <a:srgbClr val="0891b2"/>
                </a:solidFill>
                <a:latin typeface="Noto Sans CJK JP"/>
              </a:rPr>
              <a:t>のみ</a:t>
            </a:r>
            <a:endParaRPr b="1" lang="en-US" sz="13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621" name="Rectangle 56"/>
          <p:cNvSpPr/>
          <p:nvPr/>
        </p:nvSpPr>
        <p:spPr>
          <a:xfrm>
            <a:off x="576000" y="5652000"/>
            <a:ext cx="10764000" cy="306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622" name="TextShape 57"/>
          <p:cNvSpPr txBox="1"/>
          <p:nvPr/>
        </p:nvSpPr>
        <p:spPr>
          <a:xfrm>
            <a:off x="684000" y="5720400"/>
            <a:ext cx="1054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controller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は 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K_true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/equil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simulator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内部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u_eff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・外力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truth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を購読しない</a:t>
            </a:r>
            <a:endParaRPr b="1" lang="en-US" sz="13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624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625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VISUALIZATION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626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RViz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で見えている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3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つのロボットの意味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27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色は同じ時刻の異なる“意味”を表し、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3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つの実機状態ではない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28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631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13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632" name="Rectangle 10"/>
          <p:cNvSpPr/>
          <p:nvPr/>
        </p:nvSpPr>
        <p:spPr>
          <a:xfrm>
            <a:off x="576000" y="1224000"/>
            <a:ext cx="3348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633" name="Rectangle 11"/>
          <p:cNvSpPr/>
          <p:nvPr/>
        </p:nvSpPr>
        <p:spPr>
          <a:xfrm>
            <a:off x="774000" y="1440000"/>
            <a:ext cx="1080000" cy="187200"/>
          </a:xfrm>
          <a:prstGeom prst="roundRect">
            <a:avLst/>
          </a:prstGeom>
          <a:solidFill>
            <a:srgbClr val="e5ecfd"/>
          </a:solidFill>
          <a:ln w="6480">
            <a:solidFill>
              <a:srgbClr val="e5ecfd">
                <a:alpha val="0"/>
              </a:srgbClr>
            </a:solidFill>
            <a:round/>
          </a:ln>
        </p:spPr>
      </p:sp>
      <p:sp>
        <p:nvSpPr>
          <p:cNvPr id="634" name="TextShape 12"/>
          <p:cNvSpPr txBox="1"/>
          <p:nvPr/>
        </p:nvSpPr>
        <p:spPr>
          <a:xfrm>
            <a:off x="817200" y="1491840"/>
            <a:ext cx="99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400" spc="-1" strike="noStrike">
                <a:solidFill>
                  <a:srgbClr val="2563eb"/>
                </a:solidFill>
                <a:latin typeface="Noto Sans CJK JP"/>
              </a:rPr>
              <a:t>青  </a:t>
            </a:r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ref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635" name="Line 13"/>
          <p:cNvSpPr/>
          <p:nvPr/>
        </p:nvSpPr>
        <p:spPr>
          <a:xfrm flipV="1">
            <a:off x="1512000" y="2376000"/>
            <a:ext cx="252000" cy="432000"/>
          </a:xfrm>
          <a:prstGeom prst="line">
            <a:avLst/>
          </a:prstGeom>
          <a:ln w="360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Line 14"/>
          <p:cNvSpPr/>
          <p:nvPr/>
        </p:nvSpPr>
        <p:spPr>
          <a:xfrm>
            <a:off x="1764000" y="2376000"/>
            <a:ext cx="396000" cy="144000"/>
          </a:xfrm>
          <a:prstGeom prst="line">
            <a:avLst/>
          </a:prstGeom>
          <a:ln w="360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Line 15"/>
          <p:cNvSpPr/>
          <p:nvPr/>
        </p:nvSpPr>
        <p:spPr>
          <a:xfrm flipV="1">
            <a:off x="2160000" y="2124000"/>
            <a:ext cx="252000" cy="396000"/>
          </a:xfrm>
          <a:prstGeom prst="line">
            <a:avLst/>
          </a:prstGeom>
          <a:ln w="360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Line 16"/>
          <p:cNvSpPr/>
          <p:nvPr/>
        </p:nvSpPr>
        <p:spPr>
          <a:xfrm>
            <a:off x="2412000" y="2124000"/>
            <a:ext cx="360000" cy="108000"/>
          </a:xfrm>
          <a:prstGeom prst="line">
            <a:avLst/>
          </a:prstGeom>
          <a:ln w="360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Ellipse 17"/>
          <p:cNvSpPr/>
          <p:nvPr/>
        </p:nvSpPr>
        <p:spPr>
          <a:xfrm>
            <a:off x="1447200" y="2743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2563eb"/>
            </a:solidFill>
            <a:round/>
          </a:ln>
        </p:spPr>
      </p:sp>
      <p:sp>
        <p:nvSpPr>
          <p:cNvPr id="640" name="Ellipse 18"/>
          <p:cNvSpPr/>
          <p:nvPr/>
        </p:nvSpPr>
        <p:spPr>
          <a:xfrm>
            <a:off x="1699200" y="2311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2563eb"/>
            </a:solidFill>
            <a:round/>
          </a:ln>
        </p:spPr>
      </p:sp>
      <p:sp>
        <p:nvSpPr>
          <p:cNvPr id="641" name="Ellipse 19"/>
          <p:cNvSpPr/>
          <p:nvPr/>
        </p:nvSpPr>
        <p:spPr>
          <a:xfrm>
            <a:off x="2095200" y="2455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2563eb"/>
            </a:solidFill>
            <a:round/>
          </a:ln>
        </p:spPr>
      </p:sp>
      <p:sp>
        <p:nvSpPr>
          <p:cNvPr id="642" name="Ellipse 20"/>
          <p:cNvSpPr/>
          <p:nvPr/>
        </p:nvSpPr>
        <p:spPr>
          <a:xfrm>
            <a:off x="2347200" y="2059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2563eb"/>
            </a:solidFill>
            <a:round/>
          </a:ln>
        </p:spPr>
      </p:sp>
      <p:sp>
        <p:nvSpPr>
          <p:cNvPr id="643" name="Ellipse 21"/>
          <p:cNvSpPr/>
          <p:nvPr/>
        </p:nvSpPr>
        <p:spPr>
          <a:xfrm>
            <a:off x="2707200" y="2167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2563eb"/>
            </a:solidFill>
            <a:round/>
          </a:ln>
        </p:spPr>
      </p:sp>
      <p:sp>
        <p:nvSpPr>
          <p:cNvPr id="644" name="TextShape 22"/>
          <p:cNvSpPr txBox="1"/>
          <p:nvPr/>
        </p:nvSpPr>
        <p:spPr>
          <a:xfrm>
            <a:off x="864000" y="2952000"/>
            <a:ext cx="277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参照リンク関節角 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qᵣ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評価の目標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45" name="Rectangle 23"/>
          <p:cNvSpPr/>
          <p:nvPr/>
        </p:nvSpPr>
        <p:spPr>
          <a:xfrm>
            <a:off x="4212000" y="1224000"/>
            <a:ext cx="3348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646" name="Rectangle 24"/>
          <p:cNvSpPr/>
          <p:nvPr/>
        </p:nvSpPr>
        <p:spPr>
          <a:xfrm>
            <a:off x="4410000" y="1440000"/>
            <a:ext cx="1080000" cy="187200"/>
          </a:xfrm>
          <a:prstGeom prst="roundRect">
            <a:avLst/>
          </a:prstGeom>
          <a:solidFill>
            <a:srgbClr val="fbe5e5"/>
          </a:solidFill>
          <a:ln w="6480">
            <a:solidFill>
              <a:srgbClr val="fbe5e5">
                <a:alpha val="0"/>
              </a:srgbClr>
            </a:solidFill>
            <a:round/>
          </a:ln>
        </p:spPr>
      </p:sp>
      <p:sp>
        <p:nvSpPr>
          <p:cNvPr id="647" name="TextShape 25"/>
          <p:cNvSpPr txBox="1"/>
          <p:nvPr/>
        </p:nvSpPr>
        <p:spPr>
          <a:xfrm>
            <a:off x="4453200" y="1491840"/>
            <a:ext cx="99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400" spc="-1" strike="noStrike">
                <a:solidFill>
                  <a:srgbClr val="dc2626"/>
                </a:solidFill>
                <a:latin typeface="Noto Sans CJK JP"/>
              </a:rPr>
              <a:t>赤  </a:t>
            </a:r>
            <a:r>
              <a:rPr b="1" lang="en-US" sz="1400" spc="-1" strike="noStrike">
                <a:solidFill>
                  <a:srgbClr val="dc2626"/>
                </a:solidFill>
                <a:latin typeface="Noto Sans CJK JP"/>
              </a:rPr>
              <a:t>cmd</a:t>
            </a:r>
            <a:endParaRPr b="1" lang="en-US" sz="1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648" name="Line 26"/>
          <p:cNvSpPr/>
          <p:nvPr/>
        </p:nvSpPr>
        <p:spPr>
          <a:xfrm flipV="1">
            <a:off x="5148000" y="2376000"/>
            <a:ext cx="252000" cy="432000"/>
          </a:xfrm>
          <a:prstGeom prst="line">
            <a:avLst/>
          </a:prstGeom>
          <a:ln w="360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9" name="Line 27"/>
          <p:cNvSpPr/>
          <p:nvPr/>
        </p:nvSpPr>
        <p:spPr>
          <a:xfrm>
            <a:off x="5400000" y="2376000"/>
            <a:ext cx="396000" cy="90000"/>
          </a:xfrm>
          <a:prstGeom prst="line">
            <a:avLst/>
          </a:prstGeom>
          <a:ln w="360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Line 28"/>
          <p:cNvSpPr/>
          <p:nvPr/>
        </p:nvSpPr>
        <p:spPr>
          <a:xfrm flipV="1">
            <a:off x="5796000" y="2070000"/>
            <a:ext cx="252000" cy="396000"/>
          </a:xfrm>
          <a:prstGeom prst="line">
            <a:avLst/>
          </a:prstGeom>
          <a:ln w="360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Line 29"/>
          <p:cNvSpPr/>
          <p:nvPr/>
        </p:nvSpPr>
        <p:spPr>
          <a:xfrm>
            <a:off x="6048000" y="2070000"/>
            <a:ext cx="360000" cy="108000"/>
          </a:xfrm>
          <a:prstGeom prst="line">
            <a:avLst/>
          </a:prstGeom>
          <a:ln w="360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2" name="Ellipse 30"/>
          <p:cNvSpPr/>
          <p:nvPr/>
        </p:nvSpPr>
        <p:spPr>
          <a:xfrm>
            <a:off x="5083200" y="2743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dc2626"/>
            </a:solidFill>
            <a:round/>
          </a:ln>
        </p:spPr>
      </p:sp>
      <p:sp>
        <p:nvSpPr>
          <p:cNvPr id="653" name="Ellipse 31"/>
          <p:cNvSpPr/>
          <p:nvPr/>
        </p:nvSpPr>
        <p:spPr>
          <a:xfrm>
            <a:off x="5335200" y="2311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dc2626"/>
            </a:solidFill>
            <a:round/>
          </a:ln>
        </p:spPr>
      </p:sp>
      <p:sp>
        <p:nvSpPr>
          <p:cNvPr id="654" name="Ellipse 32"/>
          <p:cNvSpPr/>
          <p:nvPr/>
        </p:nvSpPr>
        <p:spPr>
          <a:xfrm>
            <a:off x="5731200" y="2401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dc2626"/>
            </a:solidFill>
            <a:round/>
          </a:ln>
        </p:spPr>
      </p:sp>
      <p:sp>
        <p:nvSpPr>
          <p:cNvPr id="655" name="Ellipse 33"/>
          <p:cNvSpPr/>
          <p:nvPr/>
        </p:nvSpPr>
        <p:spPr>
          <a:xfrm>
            <a:off x="5983200" y="2005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dc2626"/>
            </a:solidFill>
            <a:round/>
          </a:ln>
        </p:spPr>
      </p:sp>
      <p:sp>
        <p:nvSpPr>
          <p:cNvPr id="656" name="Ellipse 34"/>
          <p:cNvSpPr/>
          <p:nvPr/>
        </p:nvSpPr>
        <p:spPr>
          <a:xfrm>
            <a:off x="6343200" y="2113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dc2626"/>
            </a:solidFill>
            <a:round/>
          </a:ln>
        </p:spPr>
      </p:sp>
      <p:sp>
        <p:nvSpPr>
          <p:cNvPr id="657" name="TextShape 35"/>
          <p:cNvSpPr txBox="1"/>
          <p:nvPr/>
        </p:nvSpPr>
        <p:spPr>
          <a:xfrm>
            <a:off x="4500000" y="2952000"/>
            <a:ext cx="277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要求ばね基準角 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u 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を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剛体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URDF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で描いた補助表示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58" name="Rectangle 36"/>
          <p:cNvSpPr/>
          <p:nvPr/>
        </p:nvSpPr>
        <p:spPr>
          <a:xfrm>
            <a:off x="7848000" y="1224000"/>
            <a:ext cx="3348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659" name="Rectangle 37"/>
          <p:cNvSpPr/>
          <p:nvPr/>
        </p:nvSpPr>
        <p:spPr>
          <a:xfrm>
            <a:off x="8046000" y="1440000"/>
            <a:ext cx="1080000" cy="187200"/>
          </a:xfrm>
          <a:prstGeom prst="roundRect">
            <a:avLst/>
          </a:prstGeom>
          <a:solidFill>
            <a:srgbClr val="e1f2ed"/>
          </a:solidFill>
          <a:ln w="6480">
            <a:solidFill>
              <a:srgbClr val="e1f2ed">
                <a:alpha val="0"/>
              </a:srgbClr>
            </a:solidFill>
            <a:round/>
          </a:ln>
        </p:spPr>
      </p:sp>
      <p:sp>
        <p:nvSpPr>
          <p:cNvPr id="660" name="TextShape 38"/>
          <p:cNvSpPr txBox="1"/>
          <p:nvPr/>
        </p:nvSpPr>
        <p:spPr>
          <a:xfrm>
            <a:off x="8089200" y="1491840"/>
            <a:ext cx="99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400" spc="-1" strike="noStrike">
                <a:solidFill>
                  <a:srgbClr val="059669"/>
                </a:solidFill>
                <a:latin typeface="Noto Sans CJK JP"/>
              </a:rPr>
              <a:t>緑  </a:t>
            </a:r>
            <a:r>
              <a:rPr b="1" lang="en-US" sz="1400" spc="-1" strike="noStrike">
                <a:solidFill>
                  <a:srgbClr val="059669"/>
                </a:solidFill>
                <a:latin typeface="Noto Sans CJK JP"/>
              </a:rPr>
              <a:t>equil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61" name="Line 39"/>
          <p:cNvSpPr/>
          <p:nvPr/>
        </p:nvSpPr>
        <p:spPr>
          <a:xfrm flipV="1">
            <a:off x="8784000" y="2376000"/>
            <a:ext cx="252000" cy="432000"/>
          </a:xfrm>
          <a:prstGeom prst="line">
            <a:avLst/>
          </a:prstGeom>
          <a:ln w="360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Line 40"/>
          <p:cNvSpPr/>
          <p:nvPr/>
        </p:nvSpPr>
        <p:spPr>
          <a:xfrm>
            <a:off x="9036000" y="2376000"/>
            <a:ext cx="396000" cy="244800"/>
          </a:xfrm>
          <a:prstGeom prst="line">
            <a:avLst/>
          </a:prstGeom>
          <a:ln w="360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Line 41"/>
          <p:cNvSpPr/>
          <p:nvPr/>
        </p:nvSpPr>
        <p:spPr>
          <a:xfrm flipV="1">
            <a:off x="9432000" y="2224800"/>
            <a:ext cx="252000" cy="396000"/>
          </a:xfrm>
          <a:prstGeom prst="line">
            <a:avLst/>
          </a:prstGeom>
          <a:ln w="360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Line 42"/>
          <p:cNvSpPr/>
          <p:nvPr/>
        </p:nvSpPr>
        <p:spPr>
          <a:xfrm>
            <a:off x="9684000" y="2224800"/>
            <a:ext cx="360000" cy="108000"/>
          </a:xfrm>
          <a:prstGeom prst="line">
            <a:avLst/>
          </a:prstGeom>
          <a:ln w="360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Ellipse 43"/>
          <p:cNvSpPr/>
          <p:nvPr/>
        </p:nvSpPr>
        <p:spPr>
          <a:xfrm>
            <a:off x="8719200" y="2743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59669"/>
            </a:solidFill>
            <a:round/>
          </a:ln>
        </p:spPr>
      </p:sp>
      <p:sp>
        <p:nvSpPr>
          <p:cNvPr id="666" name="Ellipse 44"/>
          <p:cNvSpPr/>
          <p:nvPr/>
        </p:nvSpPr>
        <p:spPr>
          <a:xfrm>
            <a:off x="8971200" y="23112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59669"/>
            </a:solidFill>
            <a:round/>
          </a:ln>
        </p:spPr>
      </p:sp>
      <p:sp>
        <p:nvSpPr>
          <p:cNvPr id="667" name="Ellipse 45"/>
          <p:cNvSpPr/>
          <p:nvPr/>
        </p:nvSpPr>
        <p:spPr>
          <a:xfrm>
            <a:off x="9367200" y="25560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59669"/>
            </a:solidFill>
            <a:round/>
          </a:ln>
        </p:spPr>
      </p:sp>
      <p:sp>
        <p:nvSpPr>
          <p:cNvPr id="668" name="Ellipse 46"/>
          <p:cNvSpPr/>
          <p:nvPr/>
        </p:nvSpPr>
        <p:spPr>
          <a:xfrm>
            <a:off x="9619200" y="21600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59669"/>
            </a:solidFill>
            <a:round/>
          </a:ln>
        </p:spPr>
      </p:sp>
      <p:sp>
        <p:nvSpPr>
          <p:cNvPr id="669" name="Ellipse 47"/>
          <p:cNvSpPr/>
          <p:nvPr/>
        </p:nvSpPr>
        <p:spPr>
          <a:xfrm>
            <a:off x="9979200" y="2268000"/>
            <a:ext cx="129600" cy="129600"/>
          </a:xfrm>
          <a:prstGeom prst="ellipse">
            <a:avLst/>
          </a:prstGeom>
          <a:solidFill>
            <a:srgbClr val="ffffff"/>
          </a:solidFill>
          <a:ln w="19800">
            <a:solidFill>
              <a:srgbClr val="059669"/>
            </a:solidFill>
            <a:round/>
          </a:ln>
        </p:spPr>
      </p:sp>
      <p:sp>
        <p:nvSpPr>
          <p:cNvPr id="670" name="TextShape 48"/>
          <p:cNvSpPr txBox="1"/>
          <p:nvPr/>
        </p:nvSpPr>
        <p:spPr>
          <a:xfrm>
            <a:off x="8136000" y="2952000"/>
            <a:ext cx="277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dynamic simulator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の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実リンク側状態 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q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71" name="Rectangle 49"/>
          <p:cNvSpPr/>
          <p:nvPr/>
        </p:nvSpPr>
        <p:spPr>
          <a:xfrm>
            <a:off x="576000" y="3816000"/>
            <a:ext cx="5184000" cy="1548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672" name="TextShape 50"/>
          <p:cNvSpPr txBox="1"/>
          <p:nvPr/>
        </p:nvSpPr>
        <p:spPr>
          <a:xfrm>
            <a:off x="792000" y="4032000"/>
            <a:ext cx="23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ProbTF point marker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673" name="Ellipse 51"/>
          <p:cNvSpPr/>
          <p:nvPr/>
        </p:nvSpPr>
        <p:spPr>
          <a:xfrm>
            <a:off x="1080000" y="4464000"/>
            <a:ext cx="1260000" cy="540000"/>
          </a:xfrm>
          <a:prstGeom prst="ellipse">
            <a:avLst/>
          </a:prstGeom>
          <a:solidFill>
            <a:srgbClr val="7c3aed">
              <a:alpha val="22000"/>
            </a:srgbClr>
          </a:solidFill>
          <a:ln w="16200">
            <a:solidFill>
              <a:srgbClr val="0891b2"/>
            </a:solidFill>
            <a:round/>
          </a:ln>
        </p:spPr>
      </p:sp>
      <p:sp>
        <p:nvSpPr>
          <p:cNvPr id="674" name="Ellipse 52"/>
          <p:cNvSpPr/>
          <p:nvPr/>
        </p:nvSpPr>
        <p:spPr>
          <a:xfrm>
            <a:off x="1638000" y="4662000"/>
            <a:ext cx="144000" cy="144000"/>
          </a:xfrm>
          <a:prstGeom prst="ellipse">
            <a:avLst/>
          </a:prstGeom>
          <a:solidFill>
            <a:srgbClr val="ffffff"/>
          </a:solidFill>
          <a:ln w="14400">
            <a:solidFill>
              <a:srgbClr val="0891b2"/>
            </a:solidFill>
            <a:round/>
          </a:ln>
        </p:spPr>
      </p:sp>
      <p:sp>
        <p:nvSpPr>
          <p:cNvPr id="675" name="Line 53"/>
          <p:cNvSpPr/>
          <p:nvPr/>
        </p:nvSpPr>
        <p:spPr>
          <a:xfrm>
            <a:off x="1710000" y="4734000"/>
            <a:ext cx="918000" cy="0"/>
          </a:xfrm>
          <a:prstGeom prst="line">
            <a:avLst/>
          </a:prstGeom>
          <a:ln w="198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6" name="Line 54"/>
          <p:cNvSpPr/>
          <p:nvPr/>
        </p:nvSpPr>
        <p:spPr>
          <a:xfrm flipV="1">
            <a:off x="1710000" y="4176000"/>
            <a:ext cx="0" cy="558000"/>
          </a:xfrm>
          <a:prstGeom prst="line">
            <a:avLst/>
          </a:prstGeom>
          <a:ln w="198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TextShape 55"/>
          <p:cNvSpPr txBox="1"/>
          <p:nvPr/>
        </p:nvSpPr>
        <p:spPr>
          <a:xfrm>
            <a:off x="2880000" y="4392000"/>
            <a:ext cx="2340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sphere = mean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axes = covariance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78" name="Rectangle 56"/>
          <p:cNvSpPr/>
          <p:nvPr/>
        </p:nvSpPr>
        <p:spPr>
          <a:xfrm>
            <a:off x="6228000" y="3816000"/>
            <a:ext cx="5202000" cy="1548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eec28f"/>
            </a:solidFill>
            <a:round/>
          </a:ln>
        </p:spPr>
      </p:sp>
      <p:sp>
        <p:nvSpPr>
          <p:cNvPr id="679" name="TextShape 57"/>
          <p:cNvSpPr txBox="1"/>
          <p:nvPr/>
        </p:nvSpPr>
        <p:spPr>
          <a:xfrm>
            <a:off x="6480000" y="4032000"/>
            <a:ext cx="18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d97706"/>
                </a:solidFill>
                <a:latin typeface="Noto Sans CJK JP"/>
              </a:rPr>
              <a:t>外力矢印</a:t>
            </a:r>
            <a:endParaRPr b="1" lang="en-US" sz="13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680" name="Rectangle 58"/>
          <p:cNvSpPr/>
          <p:nvPr/>
        </p:nvSpPr>
        <p:spPr>
          <a:xfrm>
            <a:off x="6552000" y="4392000"/>
            <a:ext cx="1728000" cy="5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b793f5"/>
            </a:solidFill>
            <a:round/>
          </a:ln>
        </p:spPr>
      </p:sp>
      <p:sp>
        <p:nvSpPr>
          <p:cNvPr id="681" name="Rectangle 59"/>
          <p:cNvSpPr/>
          <p:nvPr/>
        </p:nvSpPr>
        <p:spPr>
          <a:xfrm>
            <a:off x="6552000" y="4392000"/>
            <a:ext cx="1728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682" name="TextShape 60"/>
          <p:cNvSpPr txBox="1"/>
          <p:nvPr/>
        </p:nvSpPr>
        <p:spPr>
          <a:xfrm>
            <a:off x="6616800" y="4501440"/>
            <a:ext cx="1598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gripper frame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83" name="TextShape 61"/>
          <p:cNvSpPr txBox="1"/>
          <p:nvPr/>
        </p:nvSpPr>
        <p:spPr>
          <a:xfrm>
            <a:off x="6616800" y="4705200"/>
            <a:ext cx="15984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load point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84" name="Line 62"/>
          <p:cNvSpPr/>
          <p:nvPr/>
        </p:nvSpPr>
        <p:spPr>
          <a:xfrm>
            <a:off x="8928000" y="4284000"/>
            <a:ext cx="0" cy="756000"/>
          </a:xfrm>
          <a:prstGeom prst="line">
            <a:avLst/>
          </a:prstGeom>
          <a:ln w="43200">
            <a:solidFill>
              <a:srgbClr val="d9770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85" name="TextShape 63"/>
          <p:cNvSpPr txBox="1"/>
          <p:nvPr/>
        </p:nvSpPr>
        <p:spPr>
          <a:xfrm>
            <a:off x="9288000" y="4392000"/>
            <a:ext cx="1512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applied force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686" name="TextShape 64"/>
          <p:cNvSpPr txBox="1"/>
          <p:nvPr/>
        </p:nvSpPr>
        <p:spPr>
          <a:xfrm>
            <a:off x="9252000" y="4680000"/>
            <a:ext cx="162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world −Z 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方向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0.5 kg → 4.905 N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87" name="Rectangle 65"/>
          <p:cNvSpPr/>
          <p:nvPr/>
        </p:nvSpPr>
        <p:spPr>
          <a:xfrm>
            <a:off x="576000" y="5598000"/>
            <a:ext cx="10764000" cy="342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688" name="TextShape 66"/>
          <p:cNvSpPr txBox="1"/>
          <p:nvPr/>
        </p:nvSpPr>
        <p:spPr>
          <a:xfrm>
            <a:off x="684000" y="5677200"/>
            <a:ext cx="1054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marker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動画は状態確認用。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lag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overshoot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settling time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は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timestamp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付き</a:t>
            </a:r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raw topic</a:t>
            </a:r>
            <a:r>
              <a:rPr b="1" lang="zh-CN" sz="1300" spc="-1" strike="noStrike">
                <a:solidFill>
                  <a:srgbClr val="dc2626"/>
                </a:solidFill>
                <a:latin typeface="Noto Sans CJK JP"/>
              </a:rPr>
              <a:t>で測る</a:t>
            </a:r>
            <a:endParaRPr b="1" lang="en-US" sz="13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690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691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INTEGRATION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92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deflecomp × ProbTF 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の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scoped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統合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93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既存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TF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native v2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へ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mirror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し、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stiffness posterior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SE(3) graph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へ混ぜない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94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5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6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697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14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698" name="Rectangle 10"/>
          <p:cNvSpPr/>
          <p:nvPr/>
        </p:nvSpPr>
        <p:spPr>
          <a:xfrm>
            <a:off x="432000" y="1764000"/>
            <a:ext cx="1872000" cy="11880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b793f5"/>
            </a:solidFill>
            <a:round/>
          </a:ln>
        </p:spPr>
      </p:sp>
      <p:sp>
        <p:nvSpPr>
          <p:cNvPr id="699" name="Rectangle 11"/>
          <p:cNvSpPr/>
          <p:nvPr/>
        </p:nvSpPr>
        <p:spPr>
          <a:xfrm>
            <a:off x="432000" y="1764000"/>
            <a:ext cx="1872000" cy="324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700" name="TextShape 12"/>
          <p:cNvSpPr txBox="1"/>
          <p:nvPr/>
        </p:nvSpPr>
        <p:spPr>
          <a:xfrm>
            <a:off x="496800" y="1873440"/>
            <a:ext cx="17424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ref / cmd / equil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01" name="TextShape 13"/>
          <p:cNvSpPr txBox="1"/>
          <p:nvPr/>
        </p:nvSpPr>
        <p:spPr>
          <a:xfrm>
            <a:off x="496800" y="2152800"/>
            <a:ext cx="1742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robot_state_publisher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+ static anchors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02" name="TextShape 14"/>
          <p:cNvSpPr txBox="1"/>
          <p:nvPr/>
        </p:nvSpPr>
        <p:spPr>
          <a:xfrm>
            <a:off x="2304000" y="2240640"/>
            <a:ext cx="360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4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4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03" name="Rectangle 15"/>
          <p:cNvSpPr/>
          <p:nvPr/>
        </p:nvSpPr>
        <p:spPr>
          <a:xfrm>
            <a:off x="2664000" y="1764000"/>
            <a:ext cx="1692000" cy="1188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87a9f4"/>
            </a:solidFill>
            <a:round/>
          </a:ln>
        </p:spPr>
      </p:sp>
      <p:sp>
        <p:nvSpPr>
          <p:cNvPr id="704" name="Rectangle 16"/>
          <p:cNvSpPr/>
          <p:nvPr/>
        </p:nvSpPr>
        <p:spPr>
          <a:xfrm>
            <a:off x="2664000" y="1764000"/>
            <a:ext cx="1692000" cy="324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705" name="TextShape 17"/>
          <p:cNvSpPr txBox="1"/>
          <p:nvPr/>
        </p:nvSpPr>
        <p:spPr>
          <a:xfrm>
            <a:off x="2728800" y="1873440"/>
            <a:ext cx="15624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/tf + /tf_static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06" name="TextShape 18"/>
          <p:cNvSpPr txBox="1"/>
          <p:nvPr/>
        </p:nvSpPr>
        <p:spPr>
          <a:xfrm>
            <a:off x="2728800" y="2152800"/>
            <a:ext cx="1562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deterministic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scoped prefixes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07" name="TextShape 19"/>
          <p:cNvSpPr txBox="1"/>
          <p:nvPr/>
        </p:nvSpPr>
        <p:spPr>
          <a:xfrm>
            <a:off x="4356000" y="2240640"/>
            <a:ext cx="360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4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4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08" name="Rectangle 20"/>
          <p:cNvSpPr/>
          <p:nvPr/>
        </p:nvSpPr>
        <p:spPr>
          <a:xfrm>
            <a:off x="4716000" y="1764000"/>
            <a:ext cx="2016000" cy="1188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76c5ac"/>
            </a:solidFill>
            <a:round/>
          </a:ln>
        </p:spPr>
      </p:sp>
      <p:sp>
        <p:nvSpPr>
          <p:cNvPr id="709" name="Rectangle 21"/>
          <p:cNvSpPr/>
          <p:nvPr/>
        </p:nvSpPr>
        <p:spPr>
          <a:xfrm>
            <a:off x="4716000" y="1764000"/>
            <a:ext cx="2016000" cy="324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710" name="TextShape 22"/>
          <p:cNvSpPr txBox="1"/>
          <p:nvPr/>
        </p:nvSpPr>
        <p:spPr>
          <a:xfrm>
            <a:off x="4780800" y="1873440"/>
            <a:ext cx="18864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C++ bridge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11" name="TextShape 23"/>
          <p:cNvSpPr txBox="1"/>
          <p:nvPr/>
        </p:nvSpPr>
        <p:spPr>
          <a:xfrm>
            <a:off x="4780800" y="2152800"/>
            <a:ext cx="1886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latest edge staging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import=true / export=false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12" name="TextShape 24"/>
          <p:cNvSpPr txBox="1"/>
          <p:nvPr/>
        </p:nvSpPr>
        <p:spPr>
          <a:xfrm>
            <a:off x="6732000" y="2240640"/>
            <a:ext cx="360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4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4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13" name="Rectangle 25"/>
          <p:cNvSpPr/>
          <p:nvPr/>
        </p:nvSpPr>
        <p:spPr>
          <a:xfrm>
            <a:off x="7092000" y="1764000"/>
            <a:ext cx="1872000" cy="1188000"/>
          </a:xfrm>
          <a:prstGeom prst="roundRect">
            <a:avLst/>
          </a:prstGeom>
          <a:solidFill>
            <a:srgbClr val="e6f7fb"/>
          </a:solidFill>
          <a:ln w="6480">
            <a:solidFill>
              <a:srgbClr val="77c2d5"/>
            </a:solidFill>
            <a:round/>
          </a:ln>
        </p:spPr>
      </p:sp>
      <p:sp>
        <p:nvSpPr>
          <p:cNvPr id="714" name="Rectangle 26"/>
          <p:cNvSpPr/>
          <p:nvPr/>
        </p:nvSpPr>
        <p:spPr>
          <a:xfrm>
            <a:off x="7092000" y="1764000"/>
            <a:ext cx="1872000" cy="32400"/>
          </a:xfrm>
          <a:prstGeom prst="rect">
            <a:avLst/>
          </a:prstGeom>
          <a:solidFill>
            <a:srgbClr val="0891b2"/>
          </a:solidFill>
          <a:ln w="6480">
            <a:solidFill>
              <a:srgbClr val="0891b2">
                <a:alpha val="0"/>
              </a:srgbClr>
            </a:solidFill>
            <a:round/>
          </a:ln>
        </p:spPr>
      </p:sp>
      <p:sp>
        <p:nvSpPr>
          <p:cNvPr id="715" name="TextShape 27"/>
          <p:cNvSpPr txBox="1"/>
          <p:nvPr/>
        </p:nvSpPr>
        <p:spPr>
          <a:xfrm>
            <a:off x="7156800" y="1873440"/>
            <a:ext cx="17424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v2 snapshot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16" name="TextShape 28"/>
          <p:cNvSpPr txBox="1"/>
          <p:nvPr/>
        </p:nvSpPr>
        <p:spPr>
          <a:xfrm>
            <a:off x="7156800" y="2152800"/>
            <a:ext cx="1742400" cy="6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/probtf_batch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/probtf_static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17" name="TextShape 29"/>
          <p:cNvSpPr txBox="1"/>
          <p:nvPr/>
        </p:nvSpPr>
        <p:spPr>
          <a:xfrm>
            <a:off x="8964000" y="2240640"/>
            <a:ext cx="360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2400" spc="-1" strike="noStrike">
                <a:solidFill>
                  <a:srgbClr val="94a3b8"/>
                </a:solidFill>
                <a:latin typeface="Noto Sans CJK JP"/>
              </a:rPr>
              <a:t>→</a:t>
            </a:r>
            <a:endParaRPr b="1" lang="en-US" sz="24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18" name="Rectangle 30"/>
          <p:cNvSpPr/>
          <p:nvPr/>
        </p:nvSpPr>
        <p:spPr>
          <a:xfrm>
            <a:off x="9324000" y="1764000"/>
            <a:ext cx="1980000" cy="1188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eab476"/>
            </a:solidFill>
            <a:round/>
          </a:ln>
        </p:spPr>
      </p:sp>
      <p:sp>
        <p:nvSpPr>
          <p:cNvPr id="719" name="Rectangle 31"/>
          <p:cNvSpPr/>
          <p:nvPr/>
        </p:nvSpPr>
        <p:spPr>
          <a:xfrm>
            <a:off x="9324000" y="1764000"/>
            <a:ext cx="1980000" cy="32400"/>
          </a:xfrm>
          <a:prstGeom prst="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720" name="TextShape 32"/>
          <p:cNvSpPr txBox="1"/>
          <p:nvPr/>
        </p:nvSpPr>
        <p:spPr>
          <a:xfrm>
            <a:off x="9388800" y="1873440"/>
            <a:ext cx="18504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CJK JP"/>
              </a:rPr>
              <a:t>C++ consumer</a:t>
            </a:r>
            <a:endParaRPr b="1" lang="en-US" sz="16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21" name="TextShape 33"/>
          <p:cNvSpPr txBox="1"/>
          <p:nvPr/>
        </p:nvSpPr>
        <p:spPr>
          <a:xfrm>
            <a:off x="9388800" y="2152800"/>
            <a:ext cx="1850400" cy="663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LatestSnapshot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point moments → MarkerArray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22" name="Rectangle 34"/>
          <p:cNvSpPr/>
          <p:nvPr/>
        </p:nvSpPr>
        <p:spPr>
          <a:xfrm>
            <a:off x="576000" y="3528000"/>
            <a:ext cx="5148000" cy="17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23" name="TextShape 35"/>
          <p:cNvSpPr txBox="1"/>
          <p:nvPr/>
        </p:nvSpPr>
        <p:spPr>
          <a:xfrm>
            <a:off x="792000" y="3744000"/>
            <a:ext cx="23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Dynamic transport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24" name="TextShape 36"/>
          <p:cNvSpPr txBox="1"/>
          <p:nvPr/>
        </p:nvSpPr>
        <p:spPr>
          <a:xfrm>
            <a:off x="864000" y="4104000"/>
            <a:ext cx="4248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000" spc="-1" strike="noStrike">
                <a:solidFill>
                  <a:srgbClr val="059669"/>
                </a:solidFill>
                <a:latin typeface="Noto Sans CJK JP"/>
              </a:rPr>
              <a:t>/deflecomp/probtf_batch</a:t>
            </a:r>
            <a:endParaRPr b="1" lang="en-US" sz="2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25" name="TextShape 37"/>
          <p:cNvSpPr txBox="1"/>
          <p:nvPr/>
        </p:nvSpPr>
        <p:spPr>
          <a:xfrm>
            <a:off x="900000" y="4536000"/>
            <a:ext cx="4176000" cy="551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500" spc="-1" strike="noStrike">
                <a:solidFill>
                  <a:srgbClr val="152238"/>
                </a:solidFill>
                <a:latin typeface="Noto Sans CJK JP"/>
              </a:rPr>
              <a:t>complete dynamic set</a:t>
            </a:r>
            <a:r>
              <a:rPr b="0" lang="zh-CN" sz="15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0" lang="en-US" sz="1500" spc="-1" strike="noStrike">
                <a:solidFill>
                  <a:srgbClr val="152238"/>
                </a:solidFill>
                <a:latin typeface="Noto Sans CJK JP"/>
              </a:rPr>
              <a:t>atomic</a:t>
            </a:r>
            <a:r>
              <a:rPr b="0" lang="zh-CN" sz="1500" spc="-1" strike="noStrike">
                <a:solidFill>
                  <a:srgbClr val="152238"/>
                </a:solidFill>
                <a:latin typeface="Noto Sans CJK JP"/>
              </a:rPr>
              <a:t>に</a:t>
            </a:r>
            <a:r>
              <a:rPr b="0" lang="en-US" sz="1500" spc="-1" strike="noStrike">
                <a:solidFill>
                  <a:srgbClr val="152238"/>
                </a:solidFill>
                <a:latin typeface="Noto Sans CJK JP"/>
              </a:rPr>
              <a:t>publish</a:t>
            </a:r>
            <a:endParaRPr b="0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500" spc="-1" strike="noStrike">
                <a:solidFill>
                  <a:srgbClr val="152238"/>
                </a:solidFill>
                <a:latin typeface="Noto Sans CJK JP"/>
              </a:rPr>
              <a:t>consumer queue=1</a:t>
            </a:r>
            <a:r>
              <a:rPr b="0" lang="zh-CN" sz="1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500" spc="-1" strike="noStrike">
                <a:solidFill>
                  <a:srgbClr val="152238"/>
                </a:solidFill>
                <a:latin typeface="Noto Sans CJK JP"/>
              </a:rPr>
              <a:t>latest pointer</a:t>
            </a:r>
            <a:r>
              <a:rPr b="0" lang="zh-CN" sz="1500" spc="-1" strike="noStrike">
                <a:solidFill>
                  <a:srgbClr val="152238"/>
                </a:solidFill>
                <a:latin typeface="Noto Sans CJK JP"/>
              </a:rPr>
              <a:t>のみ保持</a:t>
            </a:r>
            <a:endParaRPr b="0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26" name="Rectangle 38"/>
          <p:cNvSpPr/>
          <p:nvPr/>
        </p:nvSpPr>
        <p:spPr>
          <a:xfrm>
            <a:off x="6282000" y="3528000"/>
            <a:ext cx="5148000" cy="1728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727" name="TextShape 39"/>
          <p:cNvSpPr txBox="1"/>
          <p:nvPr/>
        </p:nvSpPr>
        <p:spPr>
          <a:xfrm>
            <a:off x="6552000" y="3744000"/>
            <a:ext cx="23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Domain boundary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28" name="TextShape 40"/>
          <p:cNvSpPr txBox="1"/>
          <p:nvPr/>
        </p:nvSpPr>
        <p:spPr>
          <a:xfrm>
            <a:off x="6660000" y="4140000"/>
            <a:ext cx="1620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ProbTF graph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29" name="TextShape 41"/>
          <p:cNvSpPr txBox="1"/>
          <p:nvPr/>
        </p:nvSpPr>
        <p:spPr>
          <a:xfrm>
            <a:off x="6660000" y="4464000"/>
            <a:ext cx="403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bce9d8"/>
                </a:solidFill>
                <a:latin typeface="Noto Sans CJK JP"/>
              </a:rPr>
              <a:t>✓ </a:t>
            </a:r>
            <a:r>
              <a:rPr b="0" lang="en-US" sz="1400" spc="-1" strike="noStrike">
                <a:solidFill>
                  <a:srgbClr val="bce9d8"/>
                </a:solidFill>
                <a:latin typeface="Noto Sans CJK JP"/>
              </a:rPr>
              <a:t>ref/cmd/equil physical transforms</a:t>
            </a:r>
            <a:endParaRPr b="0" lang="en-US" sz="1400" spc="-1" strike="noStrike">
              <a:solidFill>
                <a:srgbClr val="bce9d8"/>
              </a:solidFill>
              <a:latin typeface="Noto Sans CJK JP"/>
              <a:ea typeface="Noto Sans CJK JP"/>
            </a:endParaRPr>
          </a:p>
        </p:txBody>
      </p:sp>
      <p:sp>
        <p:nvSpPr>
          <p:cNvPr id="730" name="TextShape 42"/>
          <p:cNvSpPr txBox="1"/>
          <p:nvPr/>
        </p:nvSpPr>
        <p:spPr>
          <a:xfrm>
            <a:off x="6660000" y="4788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f6b6b6"/>
                </a:solidFill>
                <a:latin typeface="Noto Sans CJK JP"/>
              </a:rPr>
              <a:t>✕ </a:t>
            </a:r>
            <a:r>
              <a:rPr b="0" lang="en-US" sz="1400" spc="-1" strike="noStrike">
                <a:solidFill>
                  <a:srgbClr val="f6b6b6"/>
                </a:solidFill>
                <a:latin typeface="Noto Sans CJK JP"/>
              </a:rPr>
              <a:t>Kp posterior / IK score / display moments</a:t>
            </a:r>
            <a:endParaRPr b="0" lang="en-US" sz="1400" spc="-1" strike="noStrike">
              <a:solidFill>
                <a:srgbClr val="f6b6b6"/>
              </a:solidFill>
              <a:latin typeface="Noto Sans CJK JP"/>
              <a:ea typeface="Noto Sans CJK JP"/>
            </a:endParaRPr>
          </a:p>
        </p:txBody>
      </p:sp>
      <p:sp>
        <p:nvSpPr>
          <p:cNvPr id="731" name="Rectangle 43"/>
          <p:cNvSpPr/>
          <p:nvPr/>
        </p:nvSpPr>
        <p:spPr>
          <a:xfrm>
            <a:off x="576000" y="5490000"/>
            <a:ext cx="10764000" cy="396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732" name="TextShape 44"/>
          <p:cNvSpPr txBox="1"/>
          <p:nvPr/>
        </p:nvSpPr>
        <p:spPr>
          <a:xfrm>
            <a:off x="684000" y="5598000"/>
            <a:ext cx="1054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global ProbTF graph</a:t>
            </a:r>
            <a:r>
              <a:rPr b="1" lang="zh-CN" sz="1400" spc="-1" strike="noStrike">
                <a:solidFill>
                  <a:srgbClr val="2563eb"/>
                </a:solidFill>
                <a:latin typeface="Noto Sans CJK JP"/>
              </a:rPr>
              <a:t>と分離した </a:t>
            </a:r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/deflecomp namespace — bridge loop</a:t>
            </a:r>
            <a:r>
              <a:rPr b="1" lang="zh-CN" sz="1400" spc="-1" strike="noStrike">
                <a:solidFill>
                  <a:srgbClr val="2563eb"/>
                </a:solidFill>
                <a:latin typeface="Noto Sans CJK JP"/>
              </a:rPr>
              <a:t>も作らない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734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735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PERFORMANCE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36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C++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化の実測効果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37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Yamaguchi 6-axis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0.35 Hz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正弦参照・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ref/cmd 50 Hz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equil 100 Hz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38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0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41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15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42" name="TextShape 10"/>
          <p:cNvSpPr txBox="1"/>
          <p:nvPr/>
        </p:nvSpPr>
        <p:spPr>
          <a:xfrm>
            <a:off x="612000" y="1188000"/>
            <a:ext cx="39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CPU</a:t>
            </a:r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使用率（</a:t>
            </a:r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1 core</a:t>
            </a:r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基準）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43" name="Rectangle 11"/>
          <p:cNvSpPr/>
          <p:nvPr/>
        </p:nvSpPr>
        <p:spPr>
          <a:xfrm>
            <a:off x="576000" y="1368000"/>
            <a:ext cx="5148000" cy="26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44" name="Line 12"/>
          <p:cNvSpPr/>
          <p:nvPr/>
        </p:nvSpPr>
        <p:spPr>
          <a:xfrm>
            <a:off x="1080000" y="3456000"/>
            <a:ext cx="3960000" cy="0"/>
          </a:xfrm>
          <a:prstGeom prst="line">
            <a:avLst/>
          </a:prstGeom>
          <a:ln w="108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5" name="Line 13"/>
          <p:cNvSpPr/>
          <p:nvPr/>
        </p:nvSpPr>
        <p:spPr>
          <a:xfrm>
            <a:off x="1080000" y="1728000"/>
            <a:ext cx="0" cy="1728000"/>
          </a:xfrm>
          <a:prstGeom prst="line">
            <a:avLst/>
          </a:prstGeom>
          <a:ln w="108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6" name="Rectangle 14"/>
          <p:cNvSpPr/>
          <p:nvPr/>
        </p:nvSpPr>
        <p:spPr>
          <a:xfrm>
            <a:off x="1728000" y="2073600"/>
            <a:ext cx="432000" cy="1382400"/>
          </a:xfrm>
          <a:prstGeom prst="roundRect">
            <a:avLst/>
          </a:prstGeom>
          <a:solidFill>
            <a:srgbClr val="dc2626"/>
          </a:solidFill>
          <a:ln w="6480">
            <a:solidFill>
              <a:srgbClr val="dc2626">
                <a:alpha val="0"/>
              </a:srgbClr>
            </a:solidFill>
            <a:round/>
          </a:ln>
        </p:spPr>
      </p:sp>
      <p:sp>
        <p:nvSpPr>
          <p:cNvPr id="747" name="Rectangle 15"/>
          <p:cNvSpPr/>
          <p:nvPr/>
        </p:nvSpPr>
        <p:spPr>
          <a:xfrm>
            <a:off x="2304000" y="3248640"/>
            <a:ext cx="432000" cy="20736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748" name="TextShape 16"/>
          <p:cNvSpPr txBox="1"/>
          <p:nvPr/>
        </p:nvSpPr>
        <p:spPr>
          <a:xfrm>
            <a:off x="1692000" y="1857600"/>
            <a:ext cx="50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dc2626"/>
                </a:solidFill>
                <a:latin typeface="Noto Sans CJK JP"/>
              </a:rPr>
              <a:t>80%</a:t>
            </a:r>
            <a:endParaRPr b="1" lang="en-US" sz="12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49" name="TextShape 17"/>
          <p:cNvSpPr txBox="1"/>
          <p:nvPr/>
        </p:nvSpPr>
        <p:spPr>
          <a:xfrm>
            <a:off x="2268000" y="3032640"/>
            <a:ext cx="50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059669"/>
                </a:solidFill>
                <a:latin typeface="Noto Sans CJK JP"/>
              </a:rPr>
              <a:t>12%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50" name="TextShape 18"/>
          <p:cNvSpPr txBox="1"/>
          <p:nvPr/>
        </p:nvSpPr>
        <p:spPr>
          <a:xfrm>
            <a:off x="1836000" y="3564000"/>
            <a:ext cx="86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marker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51" name="Rectangle 19"/>
          <p:cNvSpPr/>
          <p:nvPr/>
        </p:nvSpPr>
        <p:spPr>
          <a:xfrm>
            <a:off x="3528000" y="2505600"/>
            <a:ext cx="432000" cy="950400"/>
          </a:xfrm>
          <a:prstGeom prst="roundRect">
            <a:avLst/>
          </a:prstGeom>
          <a:solidFill>
            <a:srgbClr val="dc2626"/>
          </a:solidFill>
          <a:ln w="6480">
            <a:solidFill>
              <a:srgbClr val="dc2626">
                <a:alpha val="0"/>
              </a:srgbClr>
            </a:solidFill>
            <a:round/>
          </a:ln>
        </p:spPr>
      </p:sp>
      <p:sp>
        <p:nvSpPr>
          <p:cNvPr id="752" name="Rectangle 20"/>
          <p:cNvSpPr/>
          <p:nvPr/>
        </p:nvSpPr>
        <p:spPr>
          <a:xfrm>
            <a:off x="4104000" y="3300480"/>
            <a:ext cx="432000" cy="15552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753" name="TextShape 21"/>
          <p:cNvSpPr txBox="1"/>
          <p:nvPr/>
        </p:nvSpPr>
        <p:spPr>
          <a:xfrm>
            <a:off x="3492000" y="2289600"/>
            <a:ext cx="50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dc2626"/>
                </a:solidFill>
                <a:latin typeface="Noto Sans CJK JP"/>
              </a:rPr>
              <a:t>55%</a:t>
            </a:r>
            <a:endParaRPr b="1" lang="en-US" sz="12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54" name="TextShape 22"/>
          <p:cNvSpPr txBox="1"/>
          <p:nvPr/>
        </p:nvSpPr>
        <p:spPr>
          <a:xfrm>
            <a:off x="4068000" y="3084480"/>
            <a:ext cx="50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059669"/>
                </a:solidFill>
                <a:latin typeface="Noto Sans CJK JP"/>
              </a:rPr>
              <a:t>9%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55" name="TextShape 23"/>
          <p:cNvSpPr txBox="1"/>
          <p:nvPr/>
        </p:nvSpPr>
        <p:spPr>
          <a:xfrm>
            <a:off x="3636000" y="3564000"/>
            <a:ext cx="86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bridge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56" name="Rectangle 24"/>
          <p:cNvSpPr/>
          <p:nvPr/>
        </p:nvSpPr>
        <p:spPr>
          <a:xfrm>
            <a:off x="1296000" y="3672000"/>
            <a:ext cx="900000" cy="1872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fdecec">
                <a:alpha val="0"/>
              </a:srgbClr>
            </a:solidFill>
            <a:round/>
          </a:ln>
        </p:spPr>
      </p:sp>
      <p:sp>
        <p:nvSpPr>
          <p:cNvPr id="757" name="TextShape 25"/>
          <p:cNvSpPr txBox="1"/>
          <p:nvPr/>
        </p:nvSpPr>
        <p:spPr>
          <a:xfrm>
            <a:off x="1339200" y="3825000"/>
            <a:ext cx="813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Python</a:t>
            </a:r>
            <a:r>
              <a:rPr b="1" lang="zh-CN" sz="1100" spc="-1" strike="noStrike">
                <a:solidFill>
                  <a:srgbClr val="dc2626"/>
                </a:solidFill>
                <a:latin typeface="Noto Sans CJK JP"/>
              </a:rPr>
              <a:t>旧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58" name="Rectangle 26"/>
          <p:cNvSpPr/>
          <p:nvPr/>
        </p:nvSpPr>
        <p:spPr>
          <a:xfrm>
            <a:off x="2340000" y="3672000"/>
            <a:ext cx="792000" cy="1872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e8f7f1">
                <a:alpha val="0"/>
              </a:srgbClr>
            </a:solidFill>
            <a:round/>
          </a:ln>
        </p:spPr>
      </p:sp>
      <p:sp>
        <p:nvSpPr>
          <p:cNvPr id="759" name="TextShape 27"/>
          <p:cNvSpPr txBox="1"/>
          <p:nvPr/>
        </p:nvSpPr>
        <p:spPr>
          <a:xfrm>
            <a:off x="2383200" y="3723840"/>
            <a:ext cx="705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C++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60" name="Rectangle 28"/>
          <p:cNvSpPr/>
          <p:nvPr/>
        </p:nvSpPr>
        <p:spPr>
          <a:xfrm>
            <a:off x="6282000" y="1368000"/>
            <a:ext cx="2448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61" name="TextShape 29"/>
          <p:cNvSpPr txBox="1"/>
          <p:nvPr/>
        </p:nvSpPr>
        <p:spPr>
          <a:xfrm>
            <a:off x="6390000" y="1476000"/>
            <a:ext cx="2232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800" spc="-1" strike="noStrike">
                <a:solidFill>
                  <a:srgbClr val="059669"/>
                </a:solidFill>
                <a:latin typeface="Noto Sans CJK JP"/>
              </a:rPr>
              <a:t>50.001 Hz</a:t>
            </a:r>
            <a:endParaRPr b="1" lang="en-US" sz="28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62" name="TextShape 30"/>
          <p:cNvSpPr txBox="1"/>
          <p:nvPr/>
        </p:nvSpPr>
        <p:spPr>
          <a:xfrm>
            <a:off x="6390000" y="1843200"/>
            <a:ext cx="223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marker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実効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rate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63" name="TextShape 31"/>
          <p:cNvSpPr txBox="1"/>
          <p:nvPr/>
        </p:nvSpPr>
        <p:spPr>
          <a:xfrm>
            <a:off x="6390000" y="2098800"/>
            <a:ext cx="2232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設定上限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50 Hz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へ到達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64" name="Rectangle 32"/>
          <p:cNvSpPr/>
          <p:nvPr/>
        </p:nvSpPr>
        <p:spPr>
          <a:xfrm>
            <a:off x="8982000" y="1368000"/>
            <a:ext cx="2448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65" name="TextShape 33"/>
          <p:cNvSpPr txBox="1"/>
          <p:nvPr/>
        </p:nvSpPr>
        <p:spPr>
          <a:xfrm>
            <a:off x="9090000" y="1476000"/>
            <a:ext cx="2232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800" spc="-1" strike="noStrike">
                <a:solidFill>
                  <a:srgbClr val="0891b2"/>
                </a:solidFill>
                <a:latin typeface="Noto Sans CJK JP"/>
              </a:rPr>
              <a:t>11–18 ms</a:t>
            </a:r>
            <a:endParaRPr b="1" lang="en-US" sz="28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766" name="TextShape 34"/>
          <p:cNvSpPr txBox="1"/>
          <p:nvPr/>
        </p:nvSpPr>
        <p:spPr>
          <a:xfrm>
            <a:off x="9090000" y="1843200"/>
            <a:ext cx="223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source age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中央値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67" name="TextShape 35"/>
          <p:cNvSpPr txBox="1"/>
          <p:nvPr/>
        </p:nvSpPr>
        <p:spPr>
          <a:xfrm>
            <a:off x="9090000" y="2098800"/>
            <a:ext cx="2232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cmd/equil 11.3 ms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ref 17.9 ms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68" name="Rectangle 36"/>
          <p:cNvSpPr/>
          <p:nvPr/>
        </p:nvSpPr>
        <p:spPr>
          <a:xfrm>
            <a:off x="6282000" y="2808000"/>
            <a:ext cx="2448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69" name="TextShape 37"/>
          <p:cNvSpPr txBox="1"/>
          <p:nvPr/>
        </p:nvSpPr>
        <p:spPr>
          <a:xfrm>
            <a:off x="6390000" y="2916000"/>
            <a:ext cx="2232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800" spc="-1" strike="noStrike">
                <a:solidFill>
                  <a:srgbClr val="2563eb"/>
                </a:solidFill>
                <a:latin typeface="Noto Sans CJK JP"/>
              </a:rPr>
              <a:t>≤</a:t>
            </a:r>
            <a:r>
              <a:rPr b="1" lang="en-US" sz="2800" spc="-1" strike="noStrike">
                <a:solidFill>
                  <a:srgbClr val="2563eb"/>
                </a:solidFill>
                <a:latin typeface="Noto Sans CJK JP"/>
              </a:rPr>
              <a:t>10⁻¹⁵ m</a:t>
            </a:r>
            <a:endParaRPr b="1" lang="en-US" sz="28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770" name="TextShape 38"/>
          <p:cNvSpPr txBox="1"/>
          <p:nvPr/>
        </p:nvSpPr>
        <p:spPr>
          <a:xfrm>
            <a:off x="6390000" y="3283200"/>
            <a:ext cx="223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同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stamp TF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誤差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71" name="TextShape 39"/>
          <p:cNvSpPr txBox="1"/>
          <p:nvPr/>
        </p:nvSpPr>
        <p:spPr>
          <a:xfrm>
            <a:off x="6390000" y="3538800"/>
            <a:ext cx="2232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floating-point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精度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72" name="Rectangle 40"/>
          <p:cNvSpPr/>
          <p:nvPr/>
        </p:nvSpPr>
        <p:spPr>
          <a:xfrm>
            <a:off x="8982000" y="2808000"/>
            <a:ext cx="2448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773" name="TextShape 41"/>
          <p:cNvSpPr txBox="1"/>
          <p:nvPr/>
        </p:nvSpPr>
        <p:spPr>
          <a:xfrm>
            <a:off x="9090000" y="2916000"/>
            <a:ext cx="2232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800" spc="-1" strike="noStrike">
                <a:solidFill>
                  <a:srgbClr val="7c3aed"/>
                </a:solidFill>
                <a:latin typeface="Noto Sans CJK JP"/>
              </a:rPr>
              <a:t>≈</a:t>
            </a:r>
            <a:r>
              <a:rPr b="1" lang="en-US" sz="2800" spc="-1" strike="noStrike">
                <a:solidFill>
                  <a:srgbClr val="7c3aed"/>
                </a:solidFill>
                <a:latin typeface="Noto Sans CJK JP"/>
              </a:rPr>
              <a:t>25 MB</a:t>
            </a:r>
            <a:endParaRPr b="1" lang="en-US" sz="28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774" name="TextShape 42"/>
          <p:cNvSpPr txBox="1"/>
          <p:nvPr/>
        </p:nvSpPr>
        <p:spPr>
          <a:xfrm>
            <a:off x="9090000" y="3283200"/>
            <a:ext cx="223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各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C++ node RSS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75" name="TextShape 43"/>
          <p:cNvSpPr txBox="1"/>
          <p:nvPr/>
        </p:nvSpPr>
        <p:spPr>
          <a:xfrm>
            <a:off x="9090000" y="3538800"/>
            <a:ext cx="2232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固定</a:t>
            </a:r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2</a:t>
            </a:r>
            <a:r>
              <a:rPr b="0" lang="zh-CN" sz="1000" spc="-1" strike="noStrike">
                <a:solidFill>
                  <a:srgbClr val="5c6b82"/>
                </a:solidFill>
                <a:latin typeface="Noto Sans CJK JP"/>
              </a:rPr>
              <a:t>実行主体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76" name="Rectangle 44"/>
          <p:cNvSpPr/>
          <p:nvPr/>
        </p:nvSpPr>
        <p:spPr>
          <a:xfrm>
            <a:off x="576000" y="4392000"/>
            <a:ext cx="10764000" cy="1224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777" name="TextShape 45"/>
          <p:cNvSpPr txBox="1"/>
          <p:nvPr/>
        </p:nvSpPr>
        <p:spPr>
          <a:xfrm>
            <a:off x="792000" y="4608000"/>
            <a:ext cx="180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8de8f5"/>
                </a:solidFill>
                <a:latin typeface="Noto Sans CJK JP"/>
              </a:rPr>
              <a:t>結果の読み方</a:t>
            </a:r>
            <a:endParaRPr b="1" lang="en-US" sz="16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78" name="TextShape 46"/>
          <p:cNvSpPr txBox="1"/>
          <p:nvPr/>
        </p:nvSpPr>
        <p:spPr>
          <a:xfrm>
            <a:off x="792000" y="4968000"/>
            <a:ext cx="5004000" cy="662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旧</a:t>
            </a:r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Python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版で見えていた約</a:t>
            </a:r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100 ms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の表示遅れはほぼ解消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79" name="TextShape 47"/>
          <p:cNvSpPr txBox="1"/>
          <p:nvPr/>
        </p:nvSpPr>
        <p:spPr>
          <a:xfrm>
            <a:off x="6192000" y="4608000"/>
            <a:ext cx="4860000" cy="713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zh-CN" sz="1300" spc="-1" strike="noStrike">
                <a:solidFill>
                  <a:srgbClr val="d7e4f5"/>
                </a:solidFill>
                <a:latin typeface="Noto Sans CJK JP"/>
              </a:rPr>
              <a:t>残る位相差</a:t>
            </a:r>
            <a:endParaRPr b="0" lang="en-US" sz="13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300" spc="-1" strike="noStrike">
                <a:solidFill>
                  <a:srgbClr val="d7e4f5"/>
                </a:solidFill>
                <a:latin typeface="Noto Sans CJK JP"/>
              </a:rPr>
              <a:t>ref→cmd ≈ 0.20 s  /  ref→equil ≈ 0.32 s</a:t>
            </a:r>
            <a:endParaRPr b="0" lang="en-US" sz="13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300" spc="-1" strike="noStrike">
                <a:solidFill>
                  <a:srgbClr val="d7e4f5"/>
                </a:solidFill>
                <a:latin typeface="Noto Sans CJK JP"/>
              </a:rPr>
              <a:t>＝ </a:t>
            </a:r>
            <a:r>
              <a:rPr b="0" lang="en-US" sz="1300" spc="-1" strike="noStrike">
                <a:solidFill>
                  <a:srgbClr val="d7e4f5"/>
                </a:solidFill>
                <a:latin typeface="Noto Sans CJK JP"/>
              </a:rPr>
              <a:t>command filter</a:t>
            </a:r>
            <a:r>
              <a:rPr b="0" lang="zh-CN" sz="1300" spc="-1" strike="noStrike">
                <a:solidFill>
                  <a:srgbClr val="d7e4f5"/>
                </a:solidFill>
                <a:latin typeface="Noto Sans CJK JP"/>
              </a:rPr>
              <a:t>・</a:t>
            </a:r>
            <a:r>
              <a:rPr b="0" lang="en-US" sz="1300" spc="-1" strike="noStrike">
                <a:solidFill>
                  <a:srgbClr val="d7e4f5"/>
                </a:solidFill>
                <a:latin typeface="Noto Sans CJK JP"/>
              </a:rPr>
              <a:t>actuator shaping</a:t>
            </a:r>
            <a:r>
              <a:rPr b="0" lang="zh-CN" sz="1300" spc="-1" strike="noStrike">
                <a:solidFill>
                  <a:srgbClr val="d7e4f5"/>
                </a:solidFill>
                <a:latin typeface="Noto Sans CJK JP"/>
              </a:rPr>
              <a:t>・</a:t>
            </a:r>
            <a:r>
              <a:rPr b="0" lang="en-US" sz="1300" spc="-1" strike="noStrike">
                <a:solidFill>
                  <a:srgbClr val="d7e4f5"/>
                </a:solidFill>
                <a:latin typeface="Noto Sans CJK JP"/>
              </a:rPr>
              <a:t>dynamics</a:t>
            </a:r>
            <a:endParaRPr b="0" lang="en-US" sz="1300" spc="-1" strike="noStrike">
              <a:solidFill>
                <a:srgbClr val="d7e4f5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781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 w="6480">
            <a:solidFill>
              <a:srgbClr val="dc2626">
                <a:alpha val="0"/>
              </a:srgbClr>
            </a:solidFill>
            <a:round/>
          </a:ln>
        </p:spPr>
      </p:sp>
      <p:sp>
        <p:nvSpPr>
          <p:cNvPr id="782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c2626"/>
                </a:solidFill>
                <a:latin typeface="Noto Sans CJK JP"/>
              </a:rPr>
              <a:t>CORRECTNESS</a:t>
            </a:r>
            <a:endParaRPr b="1" lang="en-US" sz="10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83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正しさを守る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contract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：返せないものは返さない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84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silent approximation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より、型・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diagnostic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・明示的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unavailable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を優先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85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7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788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16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89" name="Rectangle 10"/>
          <p:cNvSpPr/>
          <p:nvPr/>
        </p:nvSpPr>
        <p:spPr>
          <a:xfrm>
            <a:off x="576000" y="1260000"/>
            <a:ext cx="5148000" cy="3852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8ed0bc"/>
            </a:solidFill>
            <a:round/>
          </a:ln>
        </p:spPr>
      </p:sp>
      <p:sp>
        <p:nvSpPr>
          <p:cNvPr id="790" name="Rectangle 11"/>
          <p:cNvSpPr/>
          <p:nvPr/>
        </p:nvSpPr>
        <p:spPr>
          <a:xfrm>
            <a:off x="828000" y="1512000"/>
            <a:ext cx="1548000" cy="1872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76c5ac"/>
            </a:solidFill>
            <a:round/>
          </a:ln>
        </p:spPr>
      </p:sp>
      <p:sp>
        <p:nvSpPr>
          <p:cNvPr id="791" name="TextShape 12"/>
          <p:cNvSpPr txBox="1"/>
          <p:nvPr/>
        </p:nvSpPr>
        <p:spPr>
          <a:xfrm>
            <a:off x="871200" y="1563840"/>
            <a:ext cx="1461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SUPPORTED / VALIDATED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2" name="TextShape 13"/>
          <p:cNvSpPr txBox="1"/>
          <p:nvPr/>
        </p:nvSpPr>
        <p:spPr>
          <a:xfrm>
            <a:off x="900000" y="20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3" name="TextShape 14"/>
          <p:cNvSpPr txBox="1"/>
          <p:nvPr/>
        </p:nvSpPr>
        <p:spPr>
          <a:xfrm>
            <a:off x="1080000" y="201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Dirac / uniform / finite Bingham moments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94" name="TextShape 15"/>
          <p:cNvSpPr txBox="1"/>
          <p:nvPr/>
        </p:nvSpPr>
        <p:spPr>
          <a:xfrm>
            <a:off x="900000" y="24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5" name="TextShape 16"/>
          <p:cNvSpPr txBox="1"/>
          <p:nvPr/>
        </p:nvSpPr>
        <p:spPr>
          <a:xfrm>
            <a:off x="1080000" y="246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conditional Gaussian translation + coupling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96" name="TextShape 17"/>
          <p:cNvSpPr txBox="1"/>
          <p:nvPr/>
        </p:nvSpPr>
        <p:spPr>
          <a:xfrm>
            <a:off x="900000" y="29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7" name="TextShape 18"/>
          <p:cNvSpPr txBox="1"/>
          <p:nvPr/>
        </p:nvSpPr>
        <p:spPr>
          <a:xfrm>
            <a:off x="1080000" y="291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mixture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forward path composition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98" name="TextShape 19"/>
          <p:cNvSpPr txBox="1"/>
          <p:nvPr/>
        </p:nvSpPr>
        <p:spPr>
          <a:xfrm>
            <a:off x="900000" y="33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9" name="TextShape 20"/>
          <p:cNvSpPr txBox="1"/>
          <p:nvPr/>
        </p:nvSpPr>
        <p:spPr>
          <a:xfrm>
            <a:off x="1080000" y="336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exact deterministic inverse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00" name="TextShape 21"/>
          <p:cNvSpPr txBox="1"/>
          <p:nvPr/>
        </p:nvSpPr>
        <p:spPr>
          <a:xfrm>
            <a:off x="900000" y="38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01" name="TextShape 22"/>
          <p:cNvSpPr txBox="1"/>
          <p:nvPr/>
        </p:nvSpPr>
        <p:spPr>
          <a:xfrm>
            <a:off x="1080000" y="3816000"/>
            <a:ext cx="414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quaternion norm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JMAA gauge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PSD validation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02" name="TextShape 23"/>
          <p:cNvSpPr txBox="1"/>
          <p:nvPr/>
        </p:nvSpPr>
        <p:spPr>
          <a:xfrm>
            <a:off x="900000" y="42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03" name="TextShape 24"/>
          <p:cNvSpPr txBox="1"/>
          <p:nvPr/>
        </p:nvSpPr>
        <p:spPr>
          <a:xfrm>
            <a:off x="1080000" y="426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approximation / provenance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wire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まで保持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04" name="Rectangle 25"/>
          <p:cNvSpPr/>
          <p:nvPr/>
        </p:nvSpPr>
        <p:spPr>
          <a:xfrm>
            <a:off x="6282000" y="1260000"/>
            <a:ext cx="5148000" cy="3852000"/>
          </a:xfrm>
          <a:prstGeom prst="roundRect">
            <a:avLst/>
          </a:prstGeom>
          <a:solidFill>
            <a:srgbClr val="fdecec"/>
          </a:solidFill>
          <a:ln w="6480">
            <a:solidFill>
              <a:srgbClr val="ef9d9d"/>
            </a:solidFill>
            <a:round/>
          </a:ln>
        </p:spPr>
      </p:sp>
      <p:sp>
        <p:nvSpPr>
          <p:cNvPr id="805" name="Rectangle 26"/>
          <p:cNvSpPr/>
          <p:nvPr/>
        </p:nvSpPr>
        <p:spPr>
          <a:xfrm>
            <a:off x="6534000" y="1512000"/>
            <a:ext cx="1512000" cy="1872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ec8888"/>
            </a:solidFill>
            <a:round/>
          </a:ln>
        </p:spPr>
      </p:sp>
      <p:sp>
        <p:nvSpPr>
          <p:cNvPr id="806" name="TextShape 27"/>
          <p:cNvSpPr txBox="1"/>
          <p:nvPr/>
        </p:nvSpPr>
        <p:spPr>
          <a:xfrm>
            <a:off x="6577200" y="1563840"/>
            <a:ext cx="1425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dc2626"/>
                </a:solidFill>
                <a:latin typeface="Noto Sans CJK JP"/>
              </a:rPr>
              <a:t>EXPLICITLY REFUSED</a:t>
            </a:r>
            <a:endParaRPr b="1" lang="en-US" sz="11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07" name="TextShape 28"/>
          <p:cNvSpPr txBox="1"/>
          <p:nvPr/>
        </p:nvSpPr>
        <p:spPr>
          <a:xfrm>
            <a:off x="6624000" y="20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08" name="TextShape 29"/>
          <p:cNvSpPr txBox="1"/>
          <p:nvPr/>
        </p:nvSpPr>
        <p:spPr>
          <a:xfrm>
            <a:off x="6804000" y="201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stochastic inverse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を別の独立分布として捏造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09" name="TextShape 30"/>
          <p:cNvSpPr txBox="1"/>
          <p:nvPr/>
        </p:nvSpPr>
        <p:spPr>
          <a:xfrm>
            <a:off x="6624000" y="24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10" name="TextShape 31"/>
          <p:cNvSpPr txBox="1"/>
          <p:nvPr/>
        </p:nvSpPr>
        <p:spPr>
          <a:xfrm>
            <a:off x="6804000" y="246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同じ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latent dependency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の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path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内反復を独立扱い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1" name="TextShape 32"/>
          <p:cNvSpPr txBox="1"/>
          <p:nvPr/>
        </p:nvSpPr>
        <p:spPr>
          <a:xfrm>
            <a:off x="6624000" y="29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12" name="TextShape 33"/>
          <p:cNvSpPr txBox="1"/>
          <p:nvPr/>
        </p:nvSpPr>
        <p:spPr>
          <a:xfrm>
            <a:off x="6804000" y="291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invalid / zero-mass mixture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identity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へ置換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3" name="TextShape 34"/>
          <p:cNvSpPr txBox="1"/>
          <p:nvPr/>
        </p:nvSpPr>
        <p:spPr>
          <a:xfrm>
            <a:off x="6624000" y="33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14" name="TextShape 35"/>
          <p:cNvSpPr txBox="1"/>
          <p:nvPr/>
        </p:nvSpPr>
        <p:spPr>
          <a:xfrm>
            <a:off x="6804000" y="336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orientation-only law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へ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fake translation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を付加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5" name="TextShape 36"/>
          <p:cNvSpPr txBox="1"/>
          <p:nvPr/>
        </p:nvSpPr>
        <p:spPr>
          <a:xfrm>
            <a:off x="6624000" y="380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16" name="TextShape 37"/>
          <p:cNvSpPr txBox="1"/>
          <p:nvPr/>
        </p:nvSpPr>
        <p:spPr>
          <a:xfrm>
            <a:off x="6804000" y="3816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Kp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score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ID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SE(3) edge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へ偽装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7" name="TextShape 38"/>
          <p:cNvSpPr txBox="1"/>
          <p:nvPr/>
        </p:nvSpPr>
        <p:spPr>
          <a:xfrm>
            <a:off x="6624000" y="4258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c2626"/>
                </a:solidFill>
                <a:latin typeface="Noto Sans CJK JP"/>
              </a:rPr>
              <a:t>×</a:t>
            </a:r>
            <a:endParaRPr b="1" lang="en-US" sz="15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818" name="TextShape 39"/>
          <p:cNvSpPr txBox="1"/>
          <p:nvPr/>
        </p:nvSpPr>
        <p:spPr>
          <a:xfrm>
            <a:off x="6804000" y="4266000"/>
            <a:ext cx="414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moment summary / display sample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の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graph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再登録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9" name="Rectangle 40"/>
          <p:cNvSpPr/>
          <p:nvPr/>
        </p:nvSpPr>
        <p:spPr>
          <a:xfrm>
            <a:off x="576000" y="5436000"/>
            <a:ext cx="10764000" cy="378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820" name="TextShape 41"/>
          <p:cNvSpPr txBox="1"/>
          <p:nvPr/>
        </p:nvSpPr>
        <p:spPr>
          <a:xfrm>
            <a:off x="684000" y="5533200"/>
            <a:ext cx="1054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Representative</a:t>
            </a:r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が必要なら </a:t>
            </a:r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TfExportPolicy / RepresentativeKind </a:t>
            </a:r>
            <a:r>
              <a:rPr b="1" lang="zh-CN" sz="1400" spc="-1" strike="noStrike">
                <a:solidFill>
                  <a:srgbClr val="ffffff"/>
                </a:solidFill>
                <a:latin typeface="Noto Sans CJK JP"/>
              </a:rPr>
              <a:t>を必ず指定する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822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823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VALIDATION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24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検証：数値互換・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wire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runtime</a:t>
            </a:r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を段階的に確認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25" name="Line 5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6" name="Line 6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TextShape 7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828" name="TextShape 8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17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29" name="Rectangle 9"/>
          <p:cNvSpPr/>
          <p:nvPr/>
        </p:nvSpPr>
        <p:spPr>
          <a:xfrm>
            <a:off x="576000" y="1224000"/>
            <a:ext cx="4032000" cy="435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30" name="TextShape 10"/>
          <p:cNvSpPr txBox="1"/>
          <p:nvPr/>
        </p:nvSpPr>
        <p:spPr>
          <a:xfrm>
            <a:off x="792000" y="1440000"/>
            <a:ext cx="187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Test pyramid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31" name="Rectangle 11"/>
          <p:cNvSpPr/>
          <p:nvPr/>
        </p:nvSpPr>
        <p:spPr>
          <a:xfrm>
            <a:off x="1836000" y="4068000"/>
            <a:ext cx="1512000" cy="468000"/>
          </a:xfrm>
          <a:prstGeom prst="round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832" name="TextShape 12"/>
          <p:cNvSpPr txBox="1"/>
          <p:nvPr/>
        </p:nvSpPr>
        <p:spPr>
          <a:xfrm>
            <a:off x="1908000" y="4183200"/>
            <a:ext cx="1368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CJK JP"/>
              </a:rPr>
              <a:t>Runtime  5</a:t>
            </a:r>
            <a:endParaRPr b="1" lang="en-US" sz="15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33" name="Rectangle 13"/>
          <p:cNvSpPr/>
          <p:nvPr/>
        </p:nvSpPr>
        <p:spPr>
          <a:xfrm>
            <a:off x="1656000" y="3474000"/>
            <a:ext cx="1872000" cy="468000"/>
          </a:xfrm>
          <a:prstGeom prst="round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834" name="TextShape 14"/>
          <p:cNvSpPr txBox="1"/>
          <p:nvPr/>
        </p:nvSpPr>
        <p:spPr>
          <a:xfrm>
            <a:off x="1728000" y="3589200"/>
            <a:ext cx="1728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CJK JP"/>
              </a:rPr>
              <a:t>ROS boundary  8</a:t>
            </a:r>
            <a:endParaRPr b="1" lang="en-US" sz="15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35" name="Rectangle 15"/>
          <p:cNvSpPr/>
          <p:nvPr/>
        </p:nvSpPr>
        <p:spPr>
          <a:xfrm>
            <a:off x="1224000" y="2880000"/>
            <a:ext cx="2736000" cy="468000"/>
          </a:xfrm>
          <a:prstGeom prst="round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836" name="TextShape 16"/>
          <p:cNvSpPr txBox="1"/>
          <p:nvPr/>
        </p:nvSpPr>
        <p:spPr>
          <a:xfrm>
            <a:off x="1296000" y="2995200"/>
            <a:ext cx="2592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CJK JP"/>
              </a:rPr>
              <a:t>C++ gtest  6</a:t>
            </a:r>
            <a:endParaRPr b="1" lang="en-US" sz="15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37" name="TextShape 17"/>
          <p:cNvSpPr txBox="1"/>
          <p:nvPr/>
        </p:nvSpPr>
        <p:spPr>
          <a:xfrm>
            <a:off x="900000" y="4932000"/>
            <a:ext cx="3384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catkin build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：依存</a:t>
            </a:r>
            <a:r>
              <a:rPr b="1" lang="en-US" sz="1500" spc="-1" strike="noStrike">
                <a:solidFill>
                  <a:srgbClr val="152238"/>
                </a:solidFill>
                <a:latin typeface="Noto Sans CJK JP"/>
              </a:rPr>
              <a:t>7 package</a:t>
            </a:r>
            <a:r>
              <a:rPr b="1" lang="zh-CN" sz="1500" spc="-1" strike="noStrike">
                <a:solidFill>
                  <a:srgbClr val="152238"/>
                </a:solidFill>
                <a:latin typeface="Noto Sans CJK JP"/>
              </a:rPr>
              <a:t>成功</a:t>
            </a:r>
            <a:endParaRPr b="1" lang="en-US" sz="1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38" name="TextShape 18"/>
          <p:cNvSpPr txBox="1"/>
          <p:nvPr/>
        </p:nvSpPr>
        <p:spPr>
          <a:xfrm>
            <a:off x="900000" y="5220000"/>
            <a:ext cx="338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git diff --check</a:t>
            </a:r>
            <a:r>
              <a:rPr b="0" lang="zh-CN" sz="1300" spc="-1" strike="noStrike">
                <a:solidFill>
                  <a:srgbClr val="5c6b82"/>
                </a:solidFill>
                <a:latin typeface="Noto Sans CJK JP"/>
              </a:rPr>
              <a:t>：</a:t>
            </a:r>
            <a:r>
              <a:rPr b="0" lang="en-US" sz="1300" spc="-1" strike="noStrike">
                <a:solidFill>
                  <a:srgbClr val="5c6b82"/>
                </a:solidFill>
                <a:latin typeface="Noto Sans CJK JP"/>
              </a:rPr>
              <a:t>clean</a:t>
            </a:r>
            <a:endParaRPr b="0" lang="en-US" sz="13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839" name="Rectangle 19"/>
          <p:cNvSpPr/>
          <p:nvPr/>
        </p:nvSpPr>
        <p:spPr>
          <a:xfrm>
            <a:off x="5040000" y="1224000"/>
            <a:ext cx="6390000" cy="4356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840" name="TextShape 20"/>
          <p:cNvSpPr txBox="1"/>
          <p:nvPr/>
        </p:nvSpPr>
        <p:spPr>
          <a:xfrm>
            <a:off x="5328000" y="1440000"/>
            <a:ext cx="18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Evidence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841" name="Rectangle 21"/>
          <p:cNvSpPr/>
          <p:nvPr/>
        </p:nvSpPr>
        <p:spPr>
          <a:xfrm>
            <a:off x="5400000" y="1836000"/>
            <a:ext cx="5652000" cy="666000"/>
          </a:xfrm>
          <a:prstGeom prst="roundRect">
            <a:avLst/>
          </a:prstGeom>
          <a:solidFill>
            <a:srgbClr val="162944"/>
          </a:solidFill>
          <a:ln w="6480">
            <a:solidFill>
              <a:srgbClr val="304967"/>
            </a:solidFill>
            <a:round/>
          </a:ln>
        </p:spPr>
      </p:sp>
      <p:sp>
        <p:nvSpPr>
          <p:cNvPr id="842" name="TextShape 22"/>
          <p:cNvSpPr txBox="1"/>
          <p:nvPr/>
        </p:nvSpPr>
        <p:spPr>
          <a:xfrm>
            <a:off x="5544000" y="1976400"/>
            <a:ext cx="1548000" cy="38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100" spc="-1" strike="noStrike">
                <a:solidFill>
                  <a:srgbClr val="0891b2"/>
                </a:solidFill>
                <a:latin typeface="Noto Sans CJK JP"/>
              </a:rPr>
              <a:t>2×10⁻¹⁰</a:t>
            </a:r>
            <a:endParaRPr b="1" lang="en-US" sz="21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843" name="TextShape 23"/>
          <p:cNvSpPr txBox="1"/>
          <p:nvPr/>
        </p:nvSpPr>
        <p:spPr>
          <a:xfrm>
            <a:off x="7200000" y="1990800"/>
            <a:ext cx="363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finite Bingham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：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Python reference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との差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44" name="Rectangle 24"/>
          <p:cNvSpPr/>
          <p:nvPr/>
        </p:nvSpPr>
        <p:spPr>
          <a:xfrm>
            <a:off x="5400000" y="2682000"/>
            <a:ext cx="5652000" cy="666000"/>
          </a:xfrm>
          <a:prstGeom prst="roundRect">
            <a:avLst/>
          </a:prstGeom>
          <a:solidFill>
            <a:srgbClr val="162944"/>
          </a:solidFill>
          <a:ln w="6480">
            <a:solidFill>
              <a:srgbClr val="304967"/>
            </a:solidFill>
            <a:round/>
          </a:ln>
        </p:spPr>
      </p:sp>
      <p:sp>
        <p:nvSpPr>
          <p:cNvPr id="845" name="TextShape 25"/>
          <p:cNvSpPr txBox="1"/>
          <p:nvPr/>
        </p:nvSpPr>
        <p:spPr>
          <a:xfrm>
            <a:off x="5544000" y="2822400"/>
            <a:ext cx="1548000" cy="38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100" spc="-1" strike="noStrike">
                <a:solidFill>
                  <a:srgbClr val="059669"/>
                </a:solidFill>
                <a:latin typeface="Noto Sans CJK JP"/>
              </a:rPr>
              <a:t>39 + 27</a:t>
            </a:r>
            <a:endParaRPr b="1" lang="en-US" sz="2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46" name="TextShape 26"/>
          <p:cNvSpPr txBox="1"/>
          <p:nvPr/>
        </p:nvSpPr>
        <p:spPr>
          <a:xfrm>
            <a:off x="7200000" y="2836800"/>
            <a:ext cx="3636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static + dynamic C++ wire records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を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lossless decode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47" name="Rectangle 27"/>
          <p:cNvSpPr/>
          <p:nvPr/>
        </p:nvSpPr>
        <p:spPr>
          <a:xfrm>
            <a:off x="5400000" y="3528000"/>
            <a:ext cx="5652000" cy="666000"/>
          </a:xfrm>
          <a:prstGeom prst="roundRect">
            <a:avLst/>
          </a:prstGeom>
          <a:solidFill>
            <a:srgbClr val="162944"/>
          </a:solidFill>
          <a:ln w="6480">
            <a:solidFill>
              <a:srgbClr val="304967"/>
            </a:solidFill>
            <a:round/>
          </a:ln>
        </p:spPr>
      </p:sp>
      <p:sp>
        <p:nvSpPr>
          <p:cNvPr id="848" name="TextShape 28"/>
          <p:cNvSpPr txBox="1"/>
          <p:nvPr/>
        </p:nvSpPr>
        <p:spPr>
          <a:xfrm>
            <a:off x="5544000" y="3668400"/>
            <a:ext cx="1548000" cy="38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100" spc="-1" strike="noStrike">
                <a:solidFill>
                  <a:srgbClr val="2563eb"/>
                </a:solidFill>
                <a:latin typeface="Noto Sans CJK JP"/>
              </a:rPr>
              <a:t>≤</a:t>
            </a:r>
            <a:r>
              <a:rPr b="1" lang="en-US" sz="2100" spc="-1" strike="noStrike">
                <a:solidFill>
                  <a:srgbClr val="2563eb"/>
                </a:solidFill>
                <a:latin typeface="Noto Sans CJK JP"/>
              </a:rPr>
              <a:t>10⁻¹⁵ m</a:t>
            </a:r>
            <a:endParaRPr b="1" lang="en-US" sz="2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49" name="TextShape 29"/>
          <p:cNvSpPr txBox="1"/>
          <p:nvPr/>
        </p:nvSpPr>
        <p:spPr>
          <a:xfrm>
            <a:off x="7200000" y="3682800"/>
            <a:ext cx="363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marker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と同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stamp TF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の位置一致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50" name="Rectangle 30"/>
          <p:cNvSpPr/>
          <p:nvPr/>
        </p:nvSpPr>
        <p:spPr>
          <a:xfrm>
            <a:off x="5400000" y="4374000"/>
            <a:ext cx="5652000" cy="666000"/>
          </a:xfrm>
          <a:prstGeom prst="roundRect">
            <a:avLst/>
          </a:prstGeom>
          <a:solidFill>
            <a:srgbClr val="162944"/>
          </a:solidFill>
          <a:ln w="6480">
            <a:solidFill>
              <a:srgbClr val="304967"/>
            </a:solidFill>
            <a:round/>
          </a:ln>
        </p:spPr>
      </p:sp>
      <p:sp>
        <p:nvSpPr>
          <p:cNvPr id="851" name="TextShape 31"/>
          <p:cNvSpPr txBox="1"/>
          <p:nvPr/>
        </p:nvSpPr>
        <p:spPr>
          <a:xfrm>
            <a:off x="5544000" y="4514400"/>
            <a:ext cx="1548000" cy="38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2100" spc="-1" strike="noStrike">
                <a:solidFill>
                  <a:srgbClr val="7c3aed"/>
                </a:solidFill>
                <a:latin typeface="Noto Sans CJK JP"/>
              </a:rPr>
              <a:t>3 sources</a:t>
            </a:r>
            <a:endParaRPr b="1" lang="en-US" sz="2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852" name="TextShape 32"/>
          <p:cNvSpPr txBox="1"/>
          <p:nvPr/>
        </p:nvSpPr>
        <p:spPr>
          <a:xfrm>
            <a:off x="7200000" y="4528800"/>
            <a:ext cx="363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ref / cmd / equil marker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を同時確認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53" name="Rectangle 33"/>
          <p:cNvSpPr/>
          <p:nvPr/>
        </p:nvSpPr>
        <p:spPr>
          <a:xfrm>
            <a:off x="576000" y="5796000"/>
            <a:ext cx="10764000" cy="2520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854" name="TextShape 34"/>
          <p:cNvSpPr txBox="1"/>
          <p:nvPr/>
        </p:nvSpPr>
        <p:spPr>
          <a:xfrm>
            <a:off x="684000" y="5846400"/>
            <a:ext cx="10548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200" spc="-1" strike="noStrike">
                <a:solidFill>
                  <a:srgbClr val="2563eb"/>
                </a:solidFill>
                <a:latin typeface="Noto Sans CJK JP"/>
              </a:rPr>
              <a:t>単一の“動いた”確認ではなく、数理 → </a:t>
            </a:r>
            <a:r>
              <a:rPr b="1" lang="en-US" sz="1200" spc="-1" strike="noStrike">
                <a:solidFill>
                  <a:srgbClr val="2563eb"/>
                </a:solidFill>
                <a:latin typeface="Noto Sans CJK JP"/>
              </a:rPr>
              <a:t>message → ROS graph → timing</a:t>
            </a:r>
            <a:r>
              <a:rPr b="1" lang="zh-CN" sz="1200" spc="-1" strike="noStrike">
                <a:solidFill>
                  <a:srgbClr val="2563eb"/>
                </a:solidFill>
                <a:latin typeface="Noto Sans CJK JP"/>
              </a:rPr>
              <a:t>の順で検証</a:t>
            </a:r>
            <a:endParaRPr b="1" lang="en-US" sz="12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856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857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OPERATIONS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58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起動方法と主要</a:t>
            </a:r>
            <a:r>
              <a:rPr b="1" lang="en-US" sz="2800" spc="-1" strike="noStrike">
                <a:solidFill>
                  <a:srgbClr val="152238"/>
                </a:solidFill>
                <a:latin typeface="Noto Sans CJK JP"/>
              </a:rPr>
              <a:t>topic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59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既存の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launch command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は変更不要。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C++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実装が既定で選ばれる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860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1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2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863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18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64" name="Rectangle 10"/>
          <p:cNvSpPr/>
          <p:nvPr/>
        </p:nvSpPr>
        <p:spPr>
          <a:xfrm>
            <a:off x="576000" y="1224000"/>
            <a:ext cx="10764000" cy="1620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865" name="Rectangle 11"/>
          <p:cNvSpPr/>
          <p:nvPr/>
        </p:nvSpPr>
        <p:spPr>
          <a:xfrm>
            <a:off x="792000" y="1458000"/>
            <a:ext cx="792000" cy="187200"/>
          </a:xfrm>
          <a:prstGeom prst="roundRect">
            <a:avLst/>
          </a:prstGeom>
          <a:solidFill>
            <a:srgbClr val="1c3352"/>
          </a:solidFill>
          <a:ln w="6480">
            <a:solidFill>
              <a:srgbClr val="3a5577"/>
            </a:solidFill>
            <a:round/>
          </a:ln>
        </p:spPr>
      </p:sp>
      <p:sp>
        <p:nvSpPr>
          <p:cNvPr id="866" name="TextShape 12"/>
          <p:cNvSpPr txBox="1"/>
          <p:nvPr/>
        </p:nvSpPr>
        <p:spPr>
          <a:xfrm>
            <a:off x="835200" y="1611000"/>
            <a:ext cx="705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8de8f5"/>
                </a:solidFill>
                <a:latin typeface="Noto Sans CJK JP"/>
              </a:rPr>
              <a:t>LAUNCH</a:t>
            </a:r>
            <a:endParaRPr b="1" lang="en-US" sz="11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867" name="TextShape 13"/>
          <p:cNvSpPr txBox="1"/>
          <p:nvPr/>
        </p:nvSpPr>
        <p:spPr>
          <a:xfrm>
            <a:off x="828000" y="1800000"/>
            <a:ext cx="10152000" cy="73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roslaunch deflecomp_ros deflecomp_frames.launch \</a:t>
            </a:r>
            <a:endParaRPr b="0" lang="en-US" sz="1000" spc="-1" strike="noStrike">
              <a:solidFill>
                <a:srgbClr val="d7e4f5"/>
              </a:solidFill>
              <a:latin typeface="Noto Sans Mono CJK JP"/>
              <a:ea typeface="Noto Sans Mono CJK JP"/>
            </a:endParaRPr>
          </a:p>
          <a:p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  </a:t>
            </a:r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model:=/home/leus/catkin_ws/src/nejineji-urdfs/yamaguchi_arm_nejineji/urdf/yamaguchi_6axis_arm_nejineji.urdf \</a:t>
            </a:r>
            <a:endParaRPr b="0" lang="en-US" sz="1000" spc="-1" strike="noStrike">
              <a:solidFill>
                <a:srgbClr val="d7e4f5"/>
              </a:solidFill>
              <a:latin typeface="Noto Sans Mono CJK JP"/>
              <a:ea typeface="Noto Sans Mono CJK JP"/>
            </a:endParaRPr>
          </a:p>
          <a:p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  </a:t>
            </a:r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imu_config:=/home/leus/catkin_ws/src/nejineji-urdfs/yamaguchi_arm_nejineji/config/deflecomp_imu_frames.yaml \</a:t>
            </a:r>
            <a:endParaRPr b="0" lang="en-US" sz="1000" spc="-1" strike="noStrike">
              <a:solidFill>
                <a:srgbClr val="d7e4f5"/>
              </a:solidFill>
              <a:latin typeface="Noto Sans Mono CJK JP"/>
              <a:ea typeface="Noto Sans Mono CJK JP"/>
            </a:endParaRPr>
          </a:p>
          <a:p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  </a:t>
            </a:r>
            <a:r>
              <a:rPr b="0" lang="en-US" sz="1000" spc="-1" strike="noStrike">
                <a:solidFill>
                  <a:srgbClr val="d7e4f5"/>
                </a:solidFill>
                <a:latin typeface="Noto Sans Mono CJK JP"/>
              </a:rPr>
              <a:t>viewer:=true</a:t>
            </a:r>
            <a:endParaRPr b="0" lang="en-US" sz="1000" spc="-1" strike="noStrike">
              <a:solidFill>
                <a:srgbClr val="d7e4f5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68" name="TextShape 14"/>
          <p:cNvSpPr txBox="1"/>
          <p:nvPr/>
        </p:nvSpPr>
        <p:spPr>
          <a:xfrm>
            <a:off x="612000" y="3132000"/>
            <a:ext cx="288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059669"/>
                </a:solidFill>
                <a:latin typeface="Noto Sans CJK JP"/>
              </a:rPr>
              <a:t>主要</a:t>
            </a:r>
            <a:r>
              <a:rPr b="1" lang="en-US" sz="1300" spc="-1" strike="noStrike">
                <a:solidFill>
                  <a:srgbClr val="059669"/>
                </a:solidFill>
                <a:latin typeface="Noto Sans CJK JP"/>
              </a:rPr>
              <a:t>topic</a:t>
            </a:r>
            <a:endParaRPr b="1" lang="en-US" sz="1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69" name="Rectangle 15"/>
          <p:cNvSpPr/>
          <p:nvPr/>
        </p:nvSpPr>
        <p:spPr>
          <a:xfrm>
            <a:off x="576000" y="3384000"/>
            <a:ext cx="10764000" cy="41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70" name="Rectangle 16"/>
          <p:cNvSpPr/>
          <p:nvPr/>
        </p:nvSpPr>
        <p:spPr>
          <a:xfrm>
            <a:off x="576000" y="3384000"/>
            <a:ext cx="64800" cy="414000"/>
          </a:xfrm>
          <a:prstGeom prst="rect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871" name="TextShape 17"/>
          <p:cNvSpPr txBox="1"/>
          <p:nvPr/>
        </p:nvSpPr>
        <p:spPr>
          <a:xfrm>
            <a:off x="792000" y="3484800"/>
            <a:ext cx="41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059669"/>
                </a:solidFill>
                <a:latin typeface="Noto Sans Mono CJK JP"/>
              </a:rPr>
              <a:t>/deflecomp/probtf_batch</a:t>
            </a:r>
            <a:endParaRPr b="1" lang="en-US" sz="1300" spc="-1" strike="noStrike">
              <a:solidFill>
                <a:srgbClr val="059669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72" name="TextShape 18"/>
          <p:cNvSpPr txBox="1"/>
          <p:nvPr/>
        </p:nvSpPr>
        <p:spPr>
          <a:xfrm>
            <a:off x="5148000" y="3484800"/>
            <a:ext cx="57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complete latest-only dynamic snapshot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73" name="Rectangle 19"/>
          <p:cNvSpPr/>
          <p:nvPr/>
        </p:nvSpPr>
        <p:spPr>
          <a:xfrm>
            <a:off x="576000" y="3906000"/>
            <a:ext cx="10764000" cy="41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74" name="Rectangle 20"/>
          <p:cNvSpPr/>
          <p:nvPr/>
        </p:nvSpPr>
        <p:spPr>
          <a:xfrm>
            <a:off x="576000" y="3906000"/>
            <a:ext cx="64800" cy="414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875" name="TextShape 21"/>
          <p:cNvSpPr txBox="1"/>
          <p:nvPr/>
        </p:nvSpPr>
        <p:spPr>
          <a:xfrm>
            <a:off x="792000" y="4006800"/>
            <a:ext cx="41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Mono CJK JP"/>
              </a:rPr>
              <a:t>/deflecomp/probtf_static</a:t>
            </a:r>
            <a:endParaRPr b="1" lang="en-US" sz="1300" spc="-1" strike="noStrike">
              <a:solidFill>
                <a:srgbClr val="2563eb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76" name="TextShape 22"/>
          <p:cNvSpPr txBox="1"/>
          <p:nvPr/>
        </p:nvSpPr>
        <p:spPr>
          <a:xfrm>
            <a:off x="5148000" y="4006800"/>
            <a:ext cx="57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latched static v2 full set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77" name="Rectangle 23"/>
          <p:cNvSpPr/>
          <p:nvPr/>
        </p:nvSpPr>
        <p:spPr>
          <a:xfrm>
            <a:off x="576000" y="4428000"/>
            <a:ext cx="10764000" cy="41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78" name="Rectangle 24"/>
          <p:cNvSpPr/>
          <p:nvPr/>
        </p:nvSpPr>
        <p:spPr>
          <a:xfrm>
            <a:off x="576000" y="4428000"/>
            <a:ext cx="64800" cy="414000"/>
          </a:xfrm>
          <a:prstGeom prst="rect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879" name="TextShape 25"/>
          <p:cNvSpPr txBox="1"/>
          <p:nvPr/>
        </p:nvSpPr>
        <p:spPr>
          <a:xfrm>
            <a:off x="792000" y="4528800"/>
            <a:ext cx="41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7c3aed"/>
                </a:solidFill>
                <a:latin typeface="Noto Sans Mono CJK JP"/>
              </a:rPr>
              <a:t>/deflecomp/probtf_point_moments</a:t>
            </a:r>
            <a:endParaRPr b="1" lang="en-US" sz="1300" spc="-1" strike="noStrike">
              <a:solidFill>
                <a:srgbClr val="7c3aed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80" name="TextShape 26"/>
          <p:cNvSpPr txBox="1"/>
          <p:nvPr/>
        </p:nvSpPr>
        <p:spPr>
          <a:xfrm>
            <a:off x="5148000" y="4528800"/>
            <a:ext cx="57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MarkerArray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：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mean + covariance axes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81" name="Rectangle 27"/>
          <p:cNvSpPr/>
          <p:nvPr/>
        </p:nvSpPr>
        <p:spPr>
          <a:xfrm>
            <a:off x="576000" y="4950000"/>
            <a:ext cx="10764000" cy="41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882" name="Rectangle 28"/>
          <p:cNvSpPr/>
          <p:nvPr/>
        </p:nvSpPr>
        <p:spPr>
          <a:xfrm>
            <a:off x="576000" y="4950000"/>
            <a:ext cx="64800" cy="414000"/>
          </a:xfrm>
          <a:prstGeom prst="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883" name="TextShape 29"/>
          <p:cNvSpPr txBox="1"/>
          <p:nvPr/>
        </p:nvSpPr>
        <p:spPr>
          <a:xfrm>
            <a:off x="792000" y="5050800"/>
            <a:ext cx="414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d97706"/>
                </a:solidFill>
                <a:latin typeface="Noto Sans Mono CJK JP"/>
              </a:rPr>
              <a:t>/ref /cmd /equil joint_states</a:t>
            </a:r>
            <a:endParaRPr b="1" lang="en-US" sz="1300" spc="-1" strike="noStrike">
              <a:solidFill>
                <a:srgbClr val="d97706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84" name="TextShape 30"/>
          <p:cNvSpPr txBox="1"/>
          <p:nvPr/>
        </p:nvSpPr>
        <p:spPr>
          <a:xfrm>
            <a:off x="5148000" y="5050800"/>
            <a:ext cx="576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元の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timestamp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付き評価信号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85" name="Rectangle 31"/>
          <p:cNvSpPr/>
          <p:nvPr/>
        </p:nvSpPr>
        <p:spPr>
          <a:xfrm>
            <a:off x="612000" y="5652000"/>
            <a:ext cx="1260000" cy="1872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e8f7f1">
                <a:alpha val="0"/>
              </a:srgbClr>
            </a:solidFill>
            <a:round/>
          </a:ln>
        </p:spPr>
      </p:sp>
      <p:sp>
        <p:nvSpPr>
          <p:cNvPr id="886" name="TextShape 32"/>
          <p:cNvSpPr txBox="1"/>
          <p:nvPr/>
        </p:nvSpPr>
        <p:spPr>
          <a:xfrm>
            <a:off x="655200" y="5703840"/>
            <a:ext cx="1173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viewer:=true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887" name="Rectangle 33"/>
          <p:cNvSpPr/>
          <p:nvPr/>
        </p:nvSpPr>
        <p:spPr>
          <a:xfrm>
            <a:off x="2052000" y="5652000"/>
            <a:ext cx="2844000" cy="187200"/>
          </a:xfrm>
          <a:prstGeom prst="roundRect">
            <a:avLst/>
          </a:prstGeom>
          <a:solidFill>
            <a:srgbClr val="f1ebff"/>
          </a:solidFill>
          <a:ln w="6480">
            <a:solidFill>
              <a:srgbClr val="f1ebff">
                <a:alpha val="0"/>
              </a:srgbClr>
            </a:solidFill>
            <a:round/>
          </a:ln>
        </p:spPr>
      </p:sp>
      <p:sp>
        <p:nvSpPr>
          <p:cNvPr id="888" name="TextShape 34"/>
          <p:cNvSpPr txBox="1"/>
          <p:nvPr/>
        </p:nvSpPr>
        <p:spPr>
          <a:xfrm>
            <a:off x="2095200" y="5703840"/>
            <a:ext cx="27576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use_cpp_bridge:=false  → Python fallback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889" name="Rectangle 35"/>
          <p:cNvSpPr/>
          <p:nvPr/>
        </p:nvSpPr>
        <p:spPr>
          <a:xfrm>
            <a:off x="5076000" y="5652000"/>
            <a:ext cx="1548000" cy="187200"/>
          </a:xfrm>
          <a:prstGeom prst="roundRect">
            <a:avLst/>
          </a:prstGeom>
          <a:solidFill>
            <a:srgbClr val="eaf1ff"/>
          </a:solidFill>
          <a:ln w="6480">
            <a:solidFill>
              <a:srgbClr val="eaf1ff">
                <a:alpha val="0"/>
              </a:srgbClr>
            </a:solidFill>
            <a:round/>
          </a:ln>
        </p:spPr>
      </p:sp>
      <p:sp>
        <p:nvSpPr>
          <p:cNvPr id="890" name="TextShape 36"/>
          <p:cNvSpPr txBox="1"/>
          <p:nvPr/>
        </p:nvSpPr>
        <p:spPr>
          <a:xfrm>
            <a:off x="5119200" y="5805000"/>
            <a:ext cx="14616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RViz frame rate: 60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91" name="TextShape 37"/>
          <p:cNvSpPr txBox="1"/>
          <p:nvPr/>
        </p:nvSpPr>
        <p:spPr>
          <a:xfrm>
            <a:off x="7164000" y="5680800"/>
            <a:ext cx="4032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200" spc="-1" strike="noStrike">
                <a:solidFill>
                  <a:srgbClr val="5c6b82"/>
                </a:solidFill>
                <a:latin typeface="Noto Sans CJK JP"/>
              </a:rPr>
              <a:t>低遅延</a:t>
            </a:r>
            <a:r>
              <a:rPr b="1" lang="en-US" sz="1200" spc="-1" strike="noStrike">
                <a:solidFill>
                  <a:srgbClr val="5c6b82"/>
                </a:solidFill>
                <a:latin typeface="Noto Sans CJK JP"/>
              </a:rPr>
              <a:t>consumer</a:t>
            </a:r>
            <a:r>
              <a:rPr b="1" lang="zh-CN" sz="1200" spc="-1" strike="noStrike">
                <a:solidFill>
                  <a:srgbClr val="5c6b82"/>
                </a:solidFill>
                <a:latin typeface="Noto Sans CJK JP"/>
              </a:rPr>
              <a:t>は</a:t>
            </a:r>
            <a:r>
              <a:rPr b="1" lang="en-US" sz="1200" spc="-1" strike="noStrike">
                <a:solidFill>
                  <a:srgbClr val="5c6b82"/>
                </a:solidFill>
                <a:latin typeface="Noto Sans CJK JP"/>
              </a:rPr>
              <a:t>batch</a:t>
            </a:r>
            <a:r>
              <a:rPr b="1" lang="zh-CN" sz="1200" spc="-1" strike="noStrike">
                <a:solidFill>
                  <a:srgbClr val="5c6b82"/>
                </a:solidFill>
                <a:latin typeface="Noto Sans CJK JP"/>
              </a:rPr>
              <a:t>、履歴解析は個別</a:t>
            </a:r>
            <a:r>
              <a:rPr b="1" lang="en-US" sz="1200" spc="-1" strike="noStrike">
                <a:solidFill>
                  <a:srgbClr val="5c6b82"/>
                </a:solidFill>
                <a:latin typeface="Noto Sans CJK JP"/>
              </a:rPr>
              <a:t>topic / rosbag</a:t>
            </a:r>
            <a:endParaRPr b="1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893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894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SCIENTIFIC SCOPE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895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現時点で言えること／まだ言えないこと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96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matched-model simulation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は配線・数式の整合試験であり、実機性能証明ではない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897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8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9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900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d97706"/>
                </a:solidFill>
                <a:latin typeface="Noto Sans CJK JP"/>
              </a:rPr>
              <a:t>19</a:t>
            </a:r>
            <a:endParaRPr b="1" lang="en-US" sz="11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01" name="Rectangle 10"/>
          <p:cNvSpPr/>
          <p:nvPr/>
        </p:nvSpPr>
        <p:spPr>
          <a:xfrm>
            <a:off x="576000" y="1260000"/>
            <a:ext cx="5148000" cy="3996000"/>
          </a:xfrm>
          <a:prstGeom prst="roundRect">
            <a:avLst/>
          </a:prstGeom>
          <a:solidFill>
            <a:srgbClr val="e8f7f1"/>
          </a:solidFill>
          <a:ln w="6480">
            <a:solidFill>
              <a:srgbClr val="8ed0bc"/>
            </a:solidFill>
            <a:round/>
          </a:ln>
        </p:spPr>
      </p:sp>
      <p:sp>
        <p:nvSpPr>
          <p:cNvPr id="902" name="Rectangle 11"/>
          <p:cNvSpPr/>
          <p:nvPr/>
        </p:nvSpPr>
        <p:spPr>
          <a:xfrm>
            <a:off x="828000" y="1512000"/>
            <a:ext cx="864000" cy="1872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76c5ac"/>
            </a:solidFill>
            <a:round/>
          </a:ln>
        </p:spPr>
      </p:sp>
      <p:sp>
        <p:nvSpPr>
          <p:cNvPr id="903" name="TextShape 12"/>
          <p:cNvSpPr txBox="1"/>
          <p:nvPr/>
        </p:nvSpPr>
        <p:spPr>
          <a:xfrm>
            <a:off x="871200" y="1563840"/>
            <a:ext cx="777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400" spc="-1" strike="noStrike">
                <a:solidFill>
                  <a:srgbClr val="059669"/>
                </a:solidFill>
                <a:latin typeface="Noto Sans CJK JP"/>
              </a:rPr>
              <a:t>言える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04" name="TextShape 13"/>
          <p:cNvSpPr txBox="1"/>
          <p:nvPr/>
        </p:nvSpPr>
        <p:spPr>
          <a:xfrm>
            <a:off x="900000" y="20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05" name="TextShape 14"/>
          <p:cNvSpPr txBox="1"/>
          <p:nvPr/>
        </p:nvSpPr>
        <p:spPr>
          <a:xfrm>
            <a:off x="1080000" y="205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controller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は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K_true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や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/equil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を直接参照しない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06" name="TextShape 15"/>
          <p:cNvSpPr txBox="1"/>
          <p:nvPr/>
        </p:nvSpPr>
        <p:spPr>
          <a:xfrm>
            <a:off x="900000" y="24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07" name="TextShape 16"/>
          <p:cNvSpPr txBox="1"/>
          <p:nvPr/>
        </p:nvSpPr>
        <p:spPr>
          <a:xfrm>
            <a:off x="1080000" y="250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送信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command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は設定した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LPF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を保持する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08" name="TextShape 17"/>
          <p:cNvSpPr txBox="1"/>
          <p:nvPr/>
        </p:nvSpPr>
        <p:spPr>
          <a:xfrm>
            <a:off x="900000" y="29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09" name="TextShape 18"/>
          <p:cNvSpPr txBox="1"/>
          <p:nvPr/>
        </p:nvSpPr>
        <p:spPr>
          <a:xfrm>
            <a:off x="1080000" y="295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緑は記載した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dynamic simulator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の状態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10" name="TextShape 19"/>
          <p:cNvSpPr txBox="1"/>
          <p:nvPr/>
        </p:nvSpPr>
        <p:spPr>
          <a:xfrm>
            <a:off x="900000" y="33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11" name="TextShape 20"/>
          <p:cNvSpPr txBox="1"/>
          <p:nvPr/>
        </p:nvSpPr>
        <p:spPr>
          <a:xfrm>
            <a:off x="1080000" y="3402000"/>
            <a:ext cx="414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準静的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gravity records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で局所可観測な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log K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を更新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12" name="TextShape 21"/>
          <p:cNvSpPr txBox="1"/>
          <p:nvPr/>
        </p:nvSpPr>
        <p:spPr>
          <a:xfrm>
            <a:off x="900000" y="38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13" name="TextShape 22"/>
          <p:cNvSpPr txBox="1"/>
          <p:nvPr/>
        </p:nvSpPr>
        <p:spPr>
          <a:xfrm>
            <a:off x="1080000" y="385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ProbTF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表示経路は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50 Hz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・十数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ms age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で追従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14" name="TextShape 23"/>
          <p:cNvSpPr txBox="1"/>
          <p:nvPr/>
        </p:nvSpPr>
        <p:spPr>
          <a:xfrm>
            <a:off x="900000" y="42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059669"/>
                </a:solidFill>
                <a:latin typeface="Noto Sans CJK JP"/>
              </a:rPr>
              <a:t>✓</a:t>
            </a:r>
            <a:endParaRPr b="1" lang="en-US" sz="15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15" name="TextShape 24"/>
          <p:cNvSpPr txBox="1"/>
          <p:nvPr/>
        </p:nvSpPr>
        <p:spPr>
          <a:xfrm>
            <a:off x="1080000" y="430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C++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と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Python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の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point moments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は数値整合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16" name="Rectangle 25"/>
          <p:cNvSpPr/>
          <p:nvPr/>
        </p:nvSpPr>
        <p:spPr>
          <a:xfrm>
            <a:off x="6282000" y="1260000"/>
            <a:ext cx="5148000" cy="3996000"/>
          </a:xfrm>
          <a:prstGeom prst="roundRect">
            <a:avLst/>
          </a:prstGeom>
          <a:solidFill>
            <a:srgbClr val="fff4e5"/>
          </a:solidFill>
          <a:ln w="6480">
            <a:solidFill>
              <a:srgbClr val="eec28f"/>
            </a:solidFill>
            <a:round/>
          </a:ln>
        </p:spPr>
      </p:sp>
      <p:sp>
        <p:nvSpPr>
          <p:cNvPr id="917" name="Rectangle 26"/>
          <p:cNvSpPr/>
          <p:nvPr/>
        </p:nvSpPr>
        <p:spPr>
          <a:xfrm>
            <a:off x="6534000" y="1512000"/>
            <a:ext cx="1152000" cy="1872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eab476"/>
            </a:solidFill>
            <a:round/>
          </a:ln>
        </p:spPr>
      </p:sp>
      <p:sp>
        <p:nvSpPr>
          <p:cNvPr id="918" name="TextShape 27"/>
          <p:cNvSpPr txBox="1"/>
          <p:nvPr/>
        </p:nvSpPr>
        <p:spPr>
          <a:xfrm>
            <a:off x="6577200" y="1563840"/>
            <a:ext cx="10656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まだ言えない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19" name="TextShape 28"/>
          <p:cNvSpPr txBox="1"/>
          <p:nvPr/>
        </p:nvSpPr>
        <p:spPr>
          <a:xfrm>
            <a:off x="6624000" y="20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20" name="TextShape 29"/>
          <p:cNvSpPr txBox="1"/>
          <p:nvPr/>
        </p:nvSpPr>
        <p:spPr>
          <a:xfrm>
            <a:off x="6804000" y="205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赤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marker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から物理姿勢や追従性能を主張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1" name="TextShape 30"/>
          <p:cNvSpPr txBox="1"/>
          <p:nvPr/>
        </p:nvSpPr>
        <p:spPr>
          <a:xfrm>
            <a:off x="6624000" y="24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22" name="TextShape 31"/>
          <p:cNvSpPr txBox="1"/>
          <p:nvPr/>
        </p:nvSpPr>
        <p:spPr>
          <a:xfrm>
            <a:off x="6804000" y="250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motion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中も剛性を正しく推定できると一般化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3" name="TextShape 32"/>
          <p:cNvSpPr txBox="1"/>
          <p:nvPr/>
        </p:nvSpPr>
        <p:spPr>
          <a:xfrm>
            <a:off x="6624000" y="29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24" name="TextShape 33"/>
          <p:cNvSpPr txBox="1"/>
          <p:nvPr/>
        </p:nvSpPr>
        <p:spPr>
          <a:xfrm>
            <a:off x="6804000" y="295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gravity direction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だけで全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6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軸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K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を常時一意同定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5" name="TextShape 34"/>
          <p:cNvSpPr txBox="1"/>
          <p:nvPr/>
        </p:nvSpPr>
        <p:spPr>
          <a:xfrm>
            <a:off x="6624000" y="33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26" name="TextShape 35"/>
          <p:cNvSpPr txBox="1"/>
          <p:nvPr/>
        </p:nvSpPr>
        <p:spPr>
          <a:xfrm>
            <a:off x="6804000" y="3402000"/>
            <a:ext cx="41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荷重時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K_est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変化を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mass / force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同定と解釈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7" name="TextShape 36"/>
          <p:cNvSpPr txBox="1"/>
          <p:nvPr/>
        </p:nvSpPr>
        <p:spPr>
          <a:xfrm>
            <a:off x="6624000" y="384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28" name="TextShape 37"/>
          <p:cNvSpPr txBox="1"/>
          <p:nvPr/>
        </p:nvSpPr>
        <p:spPr>
          <a:xfrm>
            <a:off x="6804000" y="3852000"/>
            <a:ext cx="414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同一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URDF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・同一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sensor model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の結果を実機へ外挿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9" name="TextShape 38"/>
          <p:cNvSpPr txBox="1"/>
          <p:nvPr/>
        </p:nvSpPr>
        <p:spPr>
          <a:xfrm>
            <a:off x="6624000" y="4294800"/>
            <a:ext cx="1548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500" spc="-1" strike="noStrike">
                <a:solidFill>
                  <a:srgbClr val="d97706"/>
                </a:solidFill>
                <a:latin typeface="Noto Sans CJK JP"/>
              </a:rPr>
              <a:t>△</a:t>
            </a:r>
            <a:endParaRPr b="1" lang="en-US" sz="15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930" name="TextShape 39"/>
          <p:cNvSpPr txBox="1"/>
          <p:nvPr/>
        </p:nvSpPr>
        <p:spPr>
          <a:xfrm>
            <a:off x="6804000" y="4302000"/>
            <a:ext cx="414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一姿勢の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K_eff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で任意外力・摩擦・</a:t>
            </a:r>
            <a:r>
              <a:rPr b="0" lang="en-US" sz="1400" spc="-1" strike="noStrike">
                <a:solidFill>
                  <a:srgbClr val="152238"/>
                </a:solidFill>
                <a:latin typeface="Noto Sans CJK JP"/>
              </a:rPr>
              <a:t>backlash</a:t>
            </a:r>
            <a:r>
              <a:rPr b="0" lang="zh-CN" sz="1400" spc="-1" strike="noStrike">
                <a:solidFill>
                  <a:srgbClr val="152238"/>
                </a:solidFill>
                <a:latin typeface="Noto Sans CJK JP"/>
              </a:rPr>
              <a:t>を説明</a:t>
            </a:r>
            <a:endParaRPr b="0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31" name="Rectangle 40"/>
          <p:cNvSpPr/>
          <p:nvPr/>
        </p:nvSpPr>
        <p:spPr>
          <a:xfrm>
            <a:off x="576000" y="5526000"/>
            <a:ext cx="10764000" cy="360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932" name="TextShape 41"/>
          <p:cNvSpPr txBox="1"/>
          <p:nvPr/>
        </p:nvSpPr>
        <p:spPr>
          <a:xfrm>
            <a:off x="684000" y="5616000"/>
            <a:ext cx="1054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次の科学的ステップ：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independent plant / sensor noise / observability analysis / explicit wrench state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 w="6480">
            <a:solidFill>
              <a:srgbClr val="f5f7fb">
                <a:alpha val="0"/>
              </a:srgbClr>
            </a:solidFill>
            <a:round/>
          </a:ln>
        </p:spPr>
      </p:sp>
      <p:sp>
        <p:nvSpPr>
          <p:cNvPr id="934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935" name="TextShape 3"/>
          <p:cNvSpPr txBox="1"/>
          <p:nvPr/>
        </p:nvSpPr>
        <p:spPr>
          <a:xfrm>
            <a:off x="540000" y="18720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TAKEAWAYS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936" name="TextShape 4"/>
          <p:cNvSpPr txBox="1"/>
          <p:nvPr/>
        </p:nvSpPr>
        <p:spPr>
          <a:xfrm>
            <a:off x="540000" y="352800"/>
            <a:ext cx="10980000" cy="51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152238"/>
                </a:solidFill>
                <a:latin typeface="Noto Sans CJK JP"/>
              </a:rPr>
              <a:t>まとめ</a:t>
            </a:r>
            <a:endParaRPr b="1" lang="en-US" sz="2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37" name="TextShape 5"/>
          <p:cNvSpPr txBox="1"/>
          <p:nvPr/>
        </p:nvSpPr>
        <p:spPr>
          <a:xfrm>
            <a:off x="540000" y="738000"/>
            <a:ext cx="109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ProbTF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は不確かさの交通整理、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deflecomp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は物理補償、その接点を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latest-only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で支える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938" name="Line 6"/>
          <p:cNvSpPr/>
          <p:nvPr/>
        </p:nvSpPr>
        <p:spPr>
          <a:xfrm>
            <a:off x="540000" y="921600"/>
            <a:ext cx="11106000" cy="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9" name="Line 7"/>
          <p:cNvSpPr/>
          <p:nvPr/>
        </p:nvSpPr>
        <p:spPr>
          <a:xfrm>
            <a:off x="540000" y="6516000"/>
            <a:ext cx="11106000" cy="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0" name="TextShape 8"/>
          <p:cNvSpPr txBox="1"/>
          <p:nvPr/>
        </p:nvSpPr>
        <p:spPr>
          <a:xfrm>
            <a:off x="540000" y="6555600"/>
            <a:ext cx="432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Noto Sans CJK JP"/>
              </a:rPr>
              <a:t>ProbTF-demo  |  implementation overview</a:t>
            </a:r>
            <a:endParaRPr b="0" lang="en-US" sz="9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941" name="TextShape 9"/>
          <p:cNvSpPr txBox="1"/>
          <p:nvPr/>
        </p:nvSpPr>
        <p:spPr>
          <a:xfrm>
            <a:off x="11124000" y="6534000"/>
            <a:ext cx="4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20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942" name="Rectangle 10"/>
          <p:cNvSpPr/>
          <p:nvPr/>
        </p:nvSpPr>
        <p:spPr>
          <a:xfrm>
            <a:off x="576000" y="1296000"/>
            <a:ext cx="3348000" cy="22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943" name="Ellipse 11"/>
          <p:cNvSpPr/>
          <p:nvPr/>
        </p:nvSpPr>
        <p:spPr>
          <a:xfrm>
            <a:off x="774000" y="1512000"/>
            <a:ext cx="432000" cy="4320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944" name="TextShape 12"/>
          <p:cNvSpPr txBox="1"/>
          <p:nvPr/>
        </p:nvSpPr>
        <p:spPr>
          <a:xfrm>
            <a:off x="774000" y="1668240"/>
            <a:ext cx="432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01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45" name="TextShape 13"/>
          <p:cNvSpPr txBox="1"/>
          <p:nvPr/>
        </p:nvSpPr>
        <p:spPr>
          <a:xfrm>
            <a:off x="1332000" y="1548000"/>
            <a:ext cx="2232000" cy="42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300" spc="-1" strike="noStrike">
                <a:solidFill>
                  <a:srgbClr val="2563eb"/>
                </a:solidFill>
                <a:latin typeface="Noto Sans CJK JP"/>
              </a:rPr>
              <a:t>ProbTF</a:t>
            </a:r>
            <a:endParaRPr b="1" lang="en-US" sz="2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946" name="TextShape 14"/>
          <p:cNvSpPr txBox="1"/>
          <p:nvPr/>
        </p:nvSpPr>
        <p:spPr>
          <a:xfrm>
            <a:off x="864000" y="2088000"/>
            <a:ext cx="2772000" cy="950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Bingham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coupling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mixture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physical edge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として保持し、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query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時に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kernel / point moments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へ評価する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47" name="Rectangle 15"/>
          <p:cNvSpPr/>
          <p:nvPr/>
        </p:nvSpPr>
        <p:spPr>
          <a:xfrm>
            <a:off x="1512000" y="3168000"/>
            <a:ext cx="1404000" cy="187200"/>
          </a:xfrm>
          <a:prstGeom prst="roundRect">
            <a:avLst/>
          </a:prstGeom>
          <a:solidFill>
            <a:srgbClr val="e9effd"/>
          </a:solidFill>
          <a:ln w="6480">
            <a:solidFill>
              <a:srgbClr val="e9effd">
                <a:alpha val="0"/>
              </a:srgbClr>
            </a:solidFill>
            <a:round/>
          </a:ln>
        </p:spPr>
      </p:sp>
      <p:sp>
        <p:nvSpPr>
          <p:cNvPr id="948" name="TextShape 16"/>
          <p:cNvSpPr txBox="1"/>
          <p:nvPr/>
        </p:nvSpPr>
        <p:spPr>
          <a:xfrm>
            <a:off x="1555200" y="3219840"/>
            <a:ext cx="13176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2563eb"/>
                </a:solidFill>
                <a:latin typeface="Noto Sans CJK JP"/>
              </a:rPr>
              <a:t>表現</a:t>
            </a:r>
            <a:endParaRPr b="1" lang="en-US" sz="12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949" name="Rectangle 17"/>
          <p:cNvSpPr/>
          <p:nvPr/>
        </p:nvSpPr>
        <p:spPr>
          <a:xfrm>
            <a:off x="4212000" y="1296000"/>
            <a:ext cx="3348000" cy="22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950" name="Ellipse 18"/>
          <p:cNvSpPr/>
          <p:nvPr/>
        </p:nvSpPr>
        <p:spPr>
          <a:xfrm>
            <a:off x="4410000" y="1512000"/>
            <a:ext cx="432000" cy="432000"/>
          </a:xfrm>
          <a:prstGeom prst="ellipse">
            <a:avLst/>
          </a:prstGeom>
          <a:solidFill>
            <a:srgbClr val="7c3aed"/>
          </a:solidFill>
          <a:ln w="6480">
            <a:solidFill>
              <a:srgbClr val="7c3aed">
                <a:alpha val="0"/>
              </a:srgbClr>
            </a:solidFill>
            <a:round/>
          </a:ln>
        </p:spPr>
      </p:sp>
      <p:sp>
        <p:nvSpPr>
          <p:cNvPr id="951" name="TextShape 19"/>
          <p:cNvSpPr txBox="1"/>
          <p:nvPr/>
        </p:nvSpPr>
        <p:spPr>
          <a:xfrm>
            <a:off x="4410000" y="1668240"/>
            <a:ext cx="432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02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52" name="TextShape 20"/>
          <p:cNvSpPr txBox="1"/>
          <p:nvPr/>
        </p:nvSpPr>
        <p:spPr>
          <a:xfrm>
            <a:off x="4968000" y="1548000"/>
            <a:ext cx="2232000" cy="42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300" spc="-1" strike="noStrike">
                <a:solidFill>
                  <a:srgbClr val="7c3aed"/>
                </a:solidFill>
                <a:latin typeface="Noto Sans CJK JP"/>
              </a:rPr>
              <a:t>deflecomp</a:t>
            </a:r>
            <a:endParaRPr b="1" lang="en-US" sz="23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953" name="TextShape 21"/>
          <p:cNvSpPr txBox="1"/>
          <p:nvPr/>
        </p:nvSpPr>
        <p:spPr>
          <a:xfrm>
            <a:off x="4500000" y="2088000"/>
            <a:ext cx="2772000" cy="950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準静的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IMU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重力方向から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K_eff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を更新し、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K_exec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で平滑化して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inverse statics command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を作る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54" name="Rectangle 22"/>
          <p:cNvSpPr/>
          <p:nvPr/>
        </p:nvSpPr>
        <p:spPr>
          <a:xfrm>
            <a:off x="5148000" y="3168000"/>
            <a:ext cx="1404000" cy="187200"/>
          </a:xfrm>
          <a:prstGeom prst="roundRect">
            <a:avLst/>
          </a:prstGeom>
          <a:solidFill>
            <a:srgbClr val="f2ebfd"/>
          </a:solidFill>
          <a:ln w="6480">
            <a:solidFill>
              <a:srgbClr val="f2ebfd">
                <a:alpha val="0"/>
              </a:srgbClr>
            </a:solidFill>
            <a:round/>
          </a:ln>
        </p:spPr>
      </p:sp>
      <p:sp>
        <p:nvSpPr>
          <p:cNvPr id="955" name="TextShape 23"/>
          <p:cNvSpPr txBox="1"/>
          <p:nvPr/>
        </p:nvSpPr>
        <p:spPr>
          <a:xfrm>
            <a:off x="5191200" y="3219840"/>
            <a:ext cx="13176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7c3aed"/>
                </a:solidFill>
                <a:latin typeface="Noto Sans CJK JP"/>
              </a:rPr>
              <a:t>推定・制御</a:t>
            </a:r>
            <a:endParaRPr b="1" lang="en-US" sz="12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956" name="Rectangle 24"/>
          <p:cNvSpPr/>
          <p:nvPr/>
        </p:nvSpPr>
        <p:spPr>
          <a:xfrm>
            <a:off x="7848000" y="1296000"/>
            <a:ext cx="3348000" cy="22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9e1ec"/>
            </a:solidFill>
            <a:round/>
          </a:ln>
        </p:spPr>
      </p:sp>
      <p:sp>
        <p:nvSpPr>
          <p:cNvPr id="957" name="Ellipse 25"/>
          <p:cNvSpPr/>
          <p:nvPr/>
        </p:nvSpPr>
        <p:spPr>
          <a:xfrm>
            <a:off x="8046000" y="1512000"/>
            <a:ext cx="432000" cy="432000"/>
          </a:xfrm>
          <a:prstGeom prst="ellipse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958" name="TextShape 26"/>
          <p:cNvSpPr txBox="1"/>
          <p:nvPr/>
        </p:nvSpPr>
        <p:spPr>
          <a:xfrm>
            <a:off x="8046000" y="1668240"/>
            <a:ext cx="432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03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59" name="TextShape 27"/>
          <p:cNvSpPr txBox="1"/>
          <p:nvPr/>
        </p:nvSpPr>
        <p:spPr>
          <a:xfrm>
            <a:off x="8604000" y="1548000"/>
            <a:ext cx="2232000" cy="42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300" spc="-1" strike="noStrike">
                <a:solidFill>
                  <a:srgbClr val="059669"/>
                </a:solidFill>
                <a:latin typeface="Noto Sans CJK JP"/>
              </a:rPr>
              <a:t>統合</a:t>
            </a:r>
            <a:endParaRPr b="1" lang="en-US" sz="23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60" name="TextShape 28"/>
          <p:cNvSpPr txBox="1"/>
          <p:nvPr/>
        </p:nvSpPr>
        <p:spPr>
          <a:xfrm>
            <a:off x="8136000" y="2088000"/>
            <a:ext cx="2772000" cy="950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ref / cmd / equil TF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を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scoped native v2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へ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import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し、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C++ latest-only runtime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で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50 Hz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可視化する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61" name="Rectangle 29"/>
          <p:cNvSpPr/>
          <p:nvPr/>
        </p:nvSpPr>
        <p:spPr>
          <a:xfrm>
            <a:off x="8784000" y="3168000"/>
            <a:ext cx="1404000" cy="187200"/>
          </a:xfrm>
          <a:prstGeom prst="roundRect">
            <a:avLst/>
          </a:prstGeom>
          <a:solidFill>
            <a:srgbClr val="e6f4f0"/>
          </a:solidFill>
          <a:ln w="6480">
            <a:solidFill>
              <a:srgbClr val="e6f4f0">
                <a:alpha val="0"/>
              </a:srgbClr>
            </a:solidFill>
            <a:round/>
          </a:ln>
        </p:spPr>
      </p:sp>
      <p:sp>
        <p:nvSpPr>
          <p:cNvPr id="962" name="TextShape 30"/>
          <p:cNvSpPr txBox="1"/>
          <p:nvPr/>
        </p:nvSpPr>
        <p:spPr>
          <a:xfrm>
            <a:off x="8827200" y="3219840"/>
            <a:ext cx="13176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059669"/>
                </a:solidFill>
                <a:latin typeface="Noto Sans CJK JP"/>
              </a:rPr>
              <a:t>低遅延運用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63" name="Rectangle 31"/>
          <p:cNvSpPr/>
          <p:nvPr/>
        </p:nvSpPr>
        <p:spPr>
          <a:xfrm>
            <a:off x="576000" y="3960000"/>
            <a:ext cx="10764000" cy="1512000"/>
          </a:xfrm>
          <a:prstGeom prst="roundRect">
            <a:avLst/>
          </a:prstGeom>
          <a:solidFill>
            <a:srgbClr val="0b132b"/>
          </a:solidFill>
          <a:ln w="6480">
            <a:solidFill>
              <a:srgbClr val="0b132b">
                <a:alpha val="0"/>
              </a:srgbClr>
            </a:solidFill>
            <a:round/>
          </a:ln>
        </p:spPr>
      </p:sp>
      <p:sp>
        <p:nvSpPr>
          <p:cNvPr id="964" name="TextShape 32"/>
          <p:cNvSpPr txBox="1"/>
          <p:nvPr/>
        </p:nvSpPr>
        <p:spPr>
          <a:xfrm>
            <a:off x="792000" y="4212000"/>
            <a:ext cx="144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8de8f5"/>
                </a:solidFill>
                <a:latin typeface="Noto Sans CJK JP"/>
              </a:rPr>
              <a:t>設計原則</a:t>
            </a:r>
            <a:endParaRPr b="1" lang="en-US" sz="16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965" name="Ellipse 33"/>
          <p:cNvSpPr/>
          <p:nvPr/>
        </p:nvSpPr>
        <p:spPr>
          <a:xfrm>
            <a:off x="900000" y="4680000"/>
            <a:ext cx="252000" cy="252000"/>
          </a:xfrm>
          <a:prstGeom prst="ellipse">
            <a:avLst/>
          </a:prstGeom>
          <a:solidFill>
            <a:srgbClr val="2563eb"/>
          </a:solidFill>
          <a:ln w="6480">
            <a:solidFill>
              <a:srgbClr val="2563eb">
                <a:alpha val="0"/>
              </a:srgbClr>
            </a:solidFill>
            <a:round/>
          </a:ln>
        </p:spPr>
      </p:sp>
      <p:sp>
        <p:nvSpPr>
          <p:cNvPr id="966" name="TextShape 34"/>
          <p:cNvSpPr txBox="1"/>
          <p:nvPr/>
        </p:nvSpPr>
        <p:spPr>
          <a:xfrm>
            <a:off x="900000" y="4726800"/>
            <a:ext cx="25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67" name="TextShape 35"/>
          <p:cNvSpPr txBox="1"/>
          <p:nvPr/>
        </p:nvSpPr>
        <p:spPr>
          <a:xfrm>
            <a:off x="1260000" y="4626000"/>
            <a:ext cx="234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JP"/>
              </a:rPr>
              <a:t>意味を潰さない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68" name="TextShape 36"/>
          <p:cNvSpPr txBox="1"/>
          <p:nvPr/>
        </p:nvSpPr>
        <p:spPr>
          <a:xfrm>
            <a:off x="1260000" y="4896000"/>
            <a:ext cx="2484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full law / provenance / domain boundary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969" name="Ellipse 37"/>
          <p:cNvSpPr/>
          <p:nvPr/>
        </p:nvSpPr>
        <p:spPr>
          <a:xfrm>
            <a:off x="4356000" y="4680000"/>
            <a:ext cx="252000" cy="252000"/>
          </a:xfrm>
          <a:prstGeom prst="ellipse">
            <a:avLst/>
          </a:prstGeom>
          <a:solidFill>
            <a:srgbClr val="059669"/>
          </a:solidFill>
          <a:ln w="6480">
            <a:solidFill>
              <a:srgbClr val="059669">
                <a:alpha val="0"/>
              </a:srgbClr>
            </a:solidFill>
            <a:round/>
          </a:ln>
        </p:spPr>
      </p:sp>
      <p:sp>
        <p:nvSpPr>
          <p:cNvPr id="970" name="TextShape 38"/>
          <p:cNvSpPr txBox="1"/>
          <p:nvPr/>
        </p:nvSpPr>
        <p:spPr>
          <a:xfrm>
            <a:off x="4356000" y="4726800"/>
            <a:ext cx="25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71" name="TextShape 39"/>
          <p:cNvSpPr txBox="1"/>
          <p:nvPr/>
        </p:nvSpPr>
        <p:spPr>
          <a:xfrm>
            <a:off x="4716000" y="4626000"/>
            <a:ext cx="234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JP"/>
              </a:rPr>
              <a:t>古さを溜めない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72" name="TextShape 40"/>
          <p:cNvSpPr txBox="1"/>
          <p:nvPr/>
        </p:nvSpPr>
        <p:spPr>
          <a:xfrm>
            <a:off x="4716000" y="4896000"/>
            <a:ext cx="2484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atomic batch / queue=1 / discard superseded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973" name="Ellipse 41"/>
          <p:cNvSpPr/>
          <p:nvPr/>
        </p:nvSpPr>
        <p:spPr>
          <a:xfrm>
            <a:off x="7812000" y="4680000"/>
            <a:ext cx="252000" cy="252000"/>
          </a:xfrm>
          <a:prstGeom prst="ellipse">
            <a:avLst/>
          </a:prstGeom>
          <a:solidFill>
            <a:srgbClr val="d97706"/>
          </a:solidFill>
          <a:ln w="6480">
            <a:solidFill>
              <a:srgbClr val="d97706">
                <a:alpha val="0"/>
              </a:srgbClr>
            </a:solidFill>
            <a:round/>
          </a:ln>
        </p:spPr>
      </p:sp>
      <p:sp>
        <p:nvSpPr>
          <p:cNvPr id="974" name="TextShape 42"/>
          <p:cNvSpPr txBox="1"/>
          <p:nvPr/>
        </p:nvSpPr>
        <p:spPr>
          <a:xfrm>
            <a:off x="7812000" y="4726800"/>
            <a:ext cx="25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75" name="TextShape 43"/>
          <p:cNvSpPr txBox="1"/>
          <p:nvPr/>
        </p:nvSpPr>
        <p:spPr>
          <a:xfrm>
            <a:off x="8172000" y="4626000"/>
            <a:ext cx="234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JP"/>
              </a:rPr>
              <a:t>言い過ぎない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76" name="TextShape 44"/>
          <p:cNvSpPr txBox="1"/>
          <p:nvPr/>
        </p:nvSpPr>
        <p:spPr>
          <a:xfrm>
            <a:off x="8172000" y="4896000"/>
            <a:ext cx="2484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terminal summary / explicit unavailable / scoped claims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977" name="TextShape 45"/>
          <p:cNvSpPr txBox="1"/>
          <p:nvPr/>
        </p:nvSpPr>
        <p:spPr>
          <a:xfrm>
            <a:off x="576000" y="5976000"/>
            <a:ext cx="504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94a3b8"/>
                </a:solidFill>
                <a:latin typeface="Noto Sans CJK JP"/>
              </a:rPr>
              <a:t>ProbTF-demo  |  docs/slides</a:t>
            </a:r>
            <a:endParaRPr b="0" lang="en-US" sz="11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2026-07-13T22:23:28Z</dcterms:created>
  <dc:creator>ProbTF-demo</dc:creator>
  <dc:description>ProbTFの数理・実装、deflecompの推定・制御、C++ latest-only統合を説明する資料</dc:description>
  <dc:language>en-US</dc:language>
  <cp:lastModifiedBy/>
  <dcterms:modified xsi:type="dcterms:W3CDTF">2026-07-13T22:23:34Z</dcterms:modified>
  <cp:revision>1</cp:revision>
  <dc:subject>ProbTF native v2 and deflecomp integration</dc:subject>
  <dc:title>ProbTF × deflecomp 実装説明資料</dc:title>
</cp:coreProperties>
</file>