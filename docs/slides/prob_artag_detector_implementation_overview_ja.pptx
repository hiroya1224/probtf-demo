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8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ctr"/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fld id="{68E51B90-0452-4324-807F-71AB38248E08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2" name="TextShape 2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  <p:sp>
        <p:nvSpPr>
          <p:cNvPr id="43" name="Rectangle 3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</p:sp>
      <p:sp>
        <p:nvSpPr>
          <p:cNvPr id="44" name="Rectangle 4"/>
          <p:cNvSpPr/>
          <p:nvPr/>
        </p:nvSpPr>
        <p:spPr>
          <a:xfrm>
            <a:off x="0" y="0"/>
            <a:ext cx="100800" cy="6858000"/>
          </a:xfrm>
          <a:prstGeom prst="rect">
            <a:avLst/>
          </a:prstGeom>
          <a:solidFill>
            <a:srgbClr val="0891b2"/>
          </a:solidFill>
          <a:ln>
            <a:noFill/>
          </a:ln>
        </p:spPr>
      </p:sp>
      <p:sp>
        <p:nvSpPr>
          <p:cNvPr id="45" name="Ellipse 5"/>
          <p:cNvSpPr/>
          <p:nvPr/>
        </p:nvSpPr>
        <p:spPr>
          <a:xfrm>
            <a:off x="8784000" y="-1116000"/>
            <a:ext cx="4608000" cy="4608000"/>
          </a:xfrm>
          <a:prstGeom prst="ellipse">
            <a:avLst/>
          </a:prstGeom>
          <a:solidFill>
            <a:srgbClr val="2563eb">
              <a:alpha val="32000"/>
            </a:srgbClr>
          </a:solidFill>
          <a:ln>
            <a:noFill/>
          </a:ln>
        </p:spPr>
      </p:sp>
      <p:sp>
        <p:nvSpPr>
          <p:cNvPr id="46" name="Ellipse 6"/>
          <p:cNvSpPr/>
          <p:nvPr/>
        </p:nvSpPr>
        <p:spPr>
          <a:xfrm>
            <a:off x="7596000" y="1260000"/>
            <a:ext cx="1944000" cy="1944000"/>
          </a:xfrm>
          <a:prstGeom prst="ellipse">
            <a:avLst/>
          </a:prstGeom>
          <a:solidFill>
            <a:srgbClr val="7c3aed">
              <a:alpha val="38000"/>
            </a:srgbClr>
          </a:solidFill>
          <a:ln>
            <a:noFill/>
          </a:ln>
        </p:spPr>
      </p:sp>
      <p:sp>
        <p:nvSpPr>
          <p:cNvPr id="47" name="Ellipse 7"/>
          <p:cNvSpPr/>
          <p:nvPr/>
        </p:nvSpPr>
        <p:spPr>
          <a:xfrm>
            <a:off x="9756000" y="2592000"/>
            <a:ext cx="3456000" cy="3456000"/>
          </a:xfrm>
          <a:prstGeom prst="ellipse">
            <a:avLst/>
          </a:prstGeom>
          <a:solidFill>
            <a:srgbClr val="0891b2">
              <a:alpha val="24000"/>
            </a:srgbClr>
          </a:solidFill>
          <a:ln>
            <a:noFill/>
          </a:ln>
        </p:spPr>
      </p:sp>
      <p:sp>
        <p:nvSpPr>
          <p:cNvPr id="48" name="Rectangle 8"/>
          <p:cNvSpPr/>
          <p:nvPr/>
        </p:nvSpPr>
        <p:spPr>
          <a:xfrm>
            <a:off x="640800" y="518400"/>
            <a:ext cx="2592000" cy="201600"/>
          </a:xfrm>
          <a:prstGeom prst="roundRect">
            <a:avLst/>
          </a:prstGeom>
          <a:solidFill>
            <a:srgbClr val="1c3352"/>
          </a:solidFill>
          <a:ln w="7200">
            <a:solidFill>
              <a:srgbClr val="3a5577"/>
            </a:solidFill>
            <a:round/>
          </a:ln>
        </p:spPr>
      </p:sp>
      <p:sp>
        <p:nvSpPr>
          <p:cNvPr id="49" name="TextShape 9"/>
          <p:cNvSpPr txBox="1"/>
          <p:nvPr/>
        </p:nvSpPr>
        <p:spPr>
          <a:xfrm>
            <a:off x="792000" y="549000"/>
            <a:ext cx="2286000" cy="36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1" lang="en-US" sz="1000" spc="-1" strike="noStrike">
                <a:solidFill>
                  <a:srgbClr val="8de8f5"/>
                </a:solidFill>
                <a:latin typeface="Noto Sans CJK JP"/>
              </a:rPr>
              <a:t>PROBTF-DEMO  •  TECHNICAL OVERVIEW</a:t>
            </a:r>
            <a:endParaRPr b="1" lang="en-US" sz="1000" spc="-1" strike="noStrike">
              <a:solidFill>
                <a:srgbClr val="8de8f5"/>
              </a:solidFill>
              <a:latin typeface="Noto Sans CJK JP"/>
              <a:ea typeface="Noto Sans CJK JP"/>
            </a:endParaRPr>
          </a:p>
        </p:txBody>
      </p:sp>
      <p:sp>
        <p:nvSpPr>
          <p:cNvPr id="50" name="TextShape 10"/>
          <p:cNvSpPr txBox="1"/>
          <p:nvPr/>
        </p:nvSpPr>
        <p:spPr>
          <a:xfrm>
            <a:off x="640800" y="1414800"/>
            <a:ext cx="7560000" cy="56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3100" spc="-1" strike="noStrike">
                <a:solidFill>
                  <a:srgbClr val="ffffff"/>
                </a:solidFill>
                <a:latin typeface="Noto Sans CJK JP"/>
              </a:rPr>
              <a:t>確率的 </a:t>
            </a:r>
            <a:r>
              <a:rPr b="1" lang="en-US" sz="3100" spc="-1" strike="noStrike">
                <a:solidFill>
                  <a:srgbClr val="ffffff"/>
                </a:solidFill>
                <a:latin typeface="Noto Sans CJK JP"/>
              </a:rPr>
              <a:t>AprilTag Detector</a:t>
            </a:r>
            <a:endParaRPr b="1" lang="en-US" sz="31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51" name="TextShape 11"/>
          <p:cNvSpPr txBox="1"/>
          <p:nvPr/>
        </p:nvSpPr>
        <p:spPr>
          <a:xfrm>
            <a:off x="640800" y="2138400"/>
            <a:ext cx="6840000" cy="36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2000" spc="-1" strike="noStrike">
                <a:solidFill>
                  <a:srgbClr val="dce8f8"/>
                </a:solidFill>
                <a:latin typeface="Noto Sans CJK JP"/>
              </a:rPr>
              <a:t>合成画像から </a:t>
            </a:r>
            <a:r>
              <a:rPr b="1" lang="en-US" sz="2000" spc="-1" strike="noStrike">
                <a:solidFill>
                  <a:srgbClr val="dce8f8"/>
                </a:solidFill>
                <a:latin typeface="Noto Sans CJK JP"/>
              </a:rPr>
              <a:t>mixture ProbTF edge </a:t>
            </a:r>
            <a:r>
              <a:rPr b="1" lang="zh-CN" sz="2000" spc="-1" strike="noStrike">
                <a:solidFill>
                  <a:srgbClr val="dce8f8"/>
                </a:solidFill>
                <a:latin typeface="Noto Sans CJK JP"/>
              </a:rPr>
              <a:t>まで</a:t>
            </a:r>
            <a:endParaRPr b="1" lang="en-US" sz="2000" spc="-1" strike="noStrike">
              <a:solidFill>
                <a:srgbClr val="dce8f8"/>
              </a:solidFill>
              <a:latin typeface="Noto Sans CJK JP"/>
              <a:ea typeface="Noto Sans CJK JP"/>
            </a:endParaRPr>
          </a:p>
        </p:txBody>
      </p:sp>
      <p:sp>
        <p:nvSpPr>
          <p:cNvPr id="52" name="TextShape 12"/>
          <p:cNvSpPr txBox="1"/>
          <p:nvPr/>
        </p:nvSpPr>
        <p:spPr>
          <a:xfrm>
            <a:off x="640800" y="2624400"/>
            <a:ext cx="66600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zh-CN" sz="1500" spc="-1" strike="noStrike">
                <a:solidFill>
                  <a:srgbClr val="8de8f5"/>
                </a:solidFill>
                <a:latin typeface="Noto Sans CJK JP"/>
              </a:rPr>
              <a:t>レンダリング  </a:t>
            </a:r>
            <a:r>
              <a:rPr b="0" lang="en-US" sz="1500" spc="-1" strike="noStrike">
                <a:solidFill>
                  <a:srgbClr val="8de8f5"/>
                </a:solidFill>
                <a:latin typeface="Noto Sans CJK JP"/>
              </a:rPr>
              <a:t>/  </a:t>
            </a:r>
            <a:r>
              <a:rPr b="0" lang="zh-CN" sz="1500" spc="-1" strike="noStrike">
                <a:solidFill>
                  <a:srgbClr val="8de8f5"/>
                </a:solidFill>
                <a:latin typeface="Noto Sans CJK JP"/>
              </a:rPr>
              <a:t>幾何推定  </a:t>
            </a:r>
            <a:r>
              <a:rPr b="0" lang="en-US" sz="1500" spc="-1" strike="noStrike">
                <a:solidFill>
                  <a:srgbClr val="8de8f5"/>
                </a:solidFill>
                <a:latin typeface="Noto Sans CJK JP"/>
              </a:rPr>
              <a:t>/  </a:t>
            </a:r>
            <a:r>
              <a:rPr b="0" lang="zh-CN" sz="1500" spc="-1" strike="noStrike">
                <a:solidFill>
                  <a:srgbClr val="8de8f5"/>
                </a:solidFill>
                <a:latin typeface="Noto Sans CJK JP"/>
              </a:rPr>
              <a:t>局所 </a:t>
            </a:r>
            <a:r>
              <a:rPr b="0" lang="en-US" sz="1500" spc="-1" strike="noStrike">
                <a:solidFill>
                  <a:srgbClr val="8de8f5"/>
                </a:solidFill>
                <a:latin typeface="Noto Sans CJK JP"/>
              </a:rPr>
              <a:t>Hessian  /  ROS</a:t>
            </a:r>
            <a:endParaRPr b="0" lang="en-US" sz="1500" spc="-1" strike="noStrike">
              <a:solidFill>
                <a:srgbClr val="8de8f5"/>
              </a:solidFill>
              <a:latin typeface="Noto Sans CJK JP"/>
              <a:ea typeface="Noto Sans CJK JP"/>
            </a:endParaRPr>
          </a:p>
        </p:txBody>
      </p:sp>
      <p:sp>
        <p:nvSpPr>
          <p:cNvPr id="53" name="Line 13"/>
          <p:cNvSpPr/>
          <p:nvPr/>
        </p:nvSpPr>
        <p:spPr>
          <a:xfrm>
            <a:off x="648000" y="3142800"/>
            <a:ext cx="3564000" cy="360"/>
          </a:xfrm>
          <a:prstGeom prst="line">
            <a:avLst/>
          </a:prstGeom>
          <a:ln w="198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TextShape 14"/>
          <p:cNvSpPr txBox="1"/>
          <p:nvPr/>
        </p:nvSpPr>
        <p:spPr>
          <a:xfrm>
            <a:off x="640800" y="3369600"/>
            <a:ext cx="73800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200" spc="-1" strike="noStrike">
                <a:solidFill>
                  <a:srgbClr val="afc3dd"/>
                </a:solidFill>
                <a:latin typeface="Noto Sans CJK JP"/>
              </a:rPr>
              <a:t>pyrender  •  OpenCV IPPE  •  native ProbTF v2</a:t>
            </a:r>
            <a:endParaRPr b="0" lang="en-US" sz="1200" spc="-1" strike="noStrike">
              <a:solidFill>
                <a:srgbClr val="afc3dd"/>
              </a:solidFill>
              <a:latin typeface="Noto Sans CJK JP"/>
              <a:ea typeface="Noto Sans CJK JP"/>
            </a:endParaRPr>
          </a:p>
        </p:txBody>
      </p:sp>
      <p:sp>
        <p:nvSpPr>
          <p:cNvPr id="55" name="Rectangle 15"/>
          <p:cNvSpPr/>
          <p:nvPr/>
        </p:nvSpPr>
        <p:spPr>
          <a:xfrm>
            <a:off x="10152000" y="3859200"/>
            <a:ext cx="936000" cy="936000"/>
          </a:xfrm>
          <a:prstGeom prst="roundRect">
            <a:avLst/>
          </a:prstGeom>
          <a:solidFill>
            <a:srgbClr val="ffffff"/>
          </a:solidFill>
          <a:ln w="12600">
            <a:solidFill>
              <a:srgbClr val="0891b2"/>
            </a:solidFill>
            <a:round/>
          </a:ln>
        </p:spPr>
      </p:sp>
      <p:sp>
        <p:nvSpPr>
          <p:cNvPr id="56" name="Rectangle 16"/>
          <p:cNvSpPr/>
          <p:nvPr/>
        </p:nvSpPr>
        <p:spPr>
          <a:xfrm>
            <a:off x="10306800" y="4014000"/>
            <a:ext cx="626400" cy="626400"/>
          </a:xfrm>
          <a:prstGeom prst="rect">
            <a:avLst/>
          </a:prstGeom>
          <a:solidFill>
            <a:srgbClr val="152238"/>
          </a:solidFill>
          <a:ln>
            <a:noFill/>
          </a:ln>
        </p:spPr>
      </p:sp>
      <p:sp>
        <p:nvSpPr>
          <p:cNvPr id="57" name="Rectangle 17"/>
          <p:cNvSpPr/>
          <p:nvPr/>
        </p:nvSpPr>
        <p:spPr>
          <a:xfrm>
            <a:off x="10458000" y="4165200"/>
            <a:ext cx="324000" cy="32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8" name="Ellipse 18"/>
          <p:cNvSpPr/>
          <p:nvPr/>
        </p:nvSpPr>
        <p:spPr>
          <a:xfrm>
            <a:off x="9756000" y="3628800"/>
            <a:ext cx="1692000" cy="612000"/>
          </a:xfrm>
          <a:prstGeom prst="ellipse">
            <a:avLst/>
          </a:prstGeom>
          <a:noFill/>
          <a:ln w="14400">
            <a:solidFill>
              <a:srgbClr val="0891b2"/>
            </a:solidFill>
            <a:round/>
          </a:ln>
        </p:spPr>
      </p:sp>
      <p:sp>
        <p:nvSpPr>
          <p:cNvPr id="59" name="Ellipse 19"/>
          <p:cNvSpPr/>
          <p:nvPr/>
        </p:nvSpPr>
        <p:spPr>
          <a:xfrm>
            <a:off x="9882000" y="4230000"/>
            <a:ext cx="1620000" cy="576000"/>
          </a:xfrm>
          <a:prstGeom prst="ellipse">
            <a:avLst/>
          </a:prstGeom>
          <a:noFill/>
          <a:ln w="14400">
            <a:solidFill>
              <a:srgbClr val="7c3aed"/>
            </a:solidFill>
            <a:round/>
          </a:ln>
        </p:spPr>
      </p:sp>
      <p:sp>
        <p:nvSpPr>
          <p:cNvPr id="60" name="TextShape 20"/>
          <p:cNvSpPr txBox="1"/>
          <p:nvPr/>
        </p:nvSpPr>
        <p:spPr>
          <a:xfrm>
            <a:off x="10350000" y="3438000"/>
            <a:ext cx="1188000" cy="314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1" lang="en-US" sz="1700" spc="-1" strike="noStrike">
                <a:solidFill>
                  <a:srgbClr val="ffffff"/>
                </a:solidFill>
                <a:latin typeface="Noto Sans CJK JP"/>
              </a:rPr>
              <a:t>p(T_C_M)</a:t>
            </a:r>
            <a:endParaRPr b="1" lang="en-US" sz="17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61" name="TextShape 21"/>
          <p:cNvSpPr txBox="1"/>
          <p:nvPr/>
        </p:nvSpPr>
        <p:spPr>
          <a:xfrm>
            <a:off x="640800" y="5976000"/>
            <a:ext cx="1620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000" spc="-1" strike="noStrike">
                <a:solidFill>
                  <a:srgbClr val="94a3b8"/>
                </a:solidFill>
                <a:latin typeface="Noto Sans CJK JP"/>
              </a:rPr>
              <a:t>2026-07-22</a:t>
            </a:r>
            <a:endParaRPr b="0" lang="en-US" sz="1000" spc="-1" strike="noStrike">
              <a:solidFill>
                <a:srgbClr val="94a3b8"/>
              </a:solidFill>
              <a:latin typeface="Noto Sans CJK JP"/>
              <a:ea typeface="Noto Sans CJK JP"/>
            </a:endParaRPr>
          </a:p>
        </p:txBody>
      </p:sp>
      <p:sp>
        <p:nvSpPr>
          <p:cNvPr id="62" name="TextShape 22"/>
          <p:cNvSpPr txBox="1"/>
          <p:nvPr/>
        </p:nvSpPr>
        <p:spPr>
          <a:xfrm>
            <a:off x="2160000" y="5976000"/>
            <a:ext cx="1620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000" spc="-1" strike="noStrike">
                <a:solidFill>
                  <a:srgbClr val="94a3b8"/>
                </a:solidFill>
                <a:latin typeface="Noto Sans CJK JP"/>
              </a:rPr>
              <a:t>ProbTF-demo</a:t>
            </a:r>
            <a:endParaRPr b="0" lang="en-US" sz="1000" spc="-1" strike="noStrike">
              <a:solidFill>
                <a:srgbClr val="94a3b8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</p:sp>
      <p:sp>
        <p:nvSpPr>
          <p:cNvPr id="64" name="TextShape 2"/>
          <p:cNvSpPr txBox="1"/>
          <p:nvPr/>
        </p:nvSpPr>
        <p:spPr>
          <a:xfrm>
            <a:off x="540000" y="180000"/>
            <a:ext cx="3240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000" spc="-1" strike="noStrike">
                <a:solidFill>
                  <a:srgbClr val="2563eb"/>
                </a:solidFill>
                <a:latin typeface="Noto Sans CJK JP"/>
              </a:rPr>
              <a:t>GOAL &amp; PHASES</a:t>
            </a:r>
            <a:endParaRPr b="1" lang="en-US" sz="10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65" name="TextShape 3"/>
          <p:cNvSpPr txBox="1"/>
          <p:nvPr/>
        </p:nvSpPr>
        <p:spPr>
          <a:xfrm>
            <a:off x="540000" y="367200"/>
            <a:ext cx="10908000" cy="4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目的：曖昧さを </a:t>
            </a:r>
            <a:r>
              <a:rPr b="1" lang="en-US" sz="2500" spc="-1" strike="noStrike">
                <a:solidFill>
                  <a:srgbClr val="152238"/>
                </a:solidFill>
                <a:latin typeface="Noto Sans CJK JP"/>
              </a:rPr>
              <a:t>edge distribution </a:t>
            </a:r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として公開</a:t>
            </a:r>
            <a:endParaRPr b="1" lang="en-US" sz="25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66" name="TextShape 4"/>
          <p:cNvSpPr txBox="1"/>
          <p:nvPr/>
        </p:nvSpPr>
        <p:spPr>
          <a:xfrm>
            <a:off x="540000" y="709200"/>
            <a:ext cx="10800000" cy="19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既知の </a:t>
            </a:r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transform 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から観測を作り、</a:t>
            </a:r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detector 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が復元する分布を閉ループで検証</a:t>
            </a:r>
            <a:endParaRPr b="0" lang="en-US" sz="10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7" name="Line 5"/>
          <p:cNvSpPr/>
          <p:nvPr/>
        </p:nvSpPr>
        <p:spPr>
          <a:xfrm>
            <a:off x="540000" y="910800"/>
            <a:ext cx="11088000" cy="360"/>
          </a:xfrm>
          <a:prstGeom prst="line">
            <a:avLst/>
          </a:prstGeom>
          <a:ln w="54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Rectangle 6"/>
          <p:cNvSpPr/>
          <p:nvPr/>
        </p:nvSpPr>
        <p:spPr>
          <a:xfrm>
            <a:off x="0" y="0"/>
            <a:ext cx="936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69" name="Rectangle 7"/>
          <p:cNvSpPr/>
          <p:nvPr/>
        </p:nvSpPr>
        <p:spPr>
          <a:xfrm>
            <a:off x="540000" y="1260000"/>
            <a:ext cx="2520000" cy="2196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70" name="Rectangle 8"/>
          <p:cNvSpPr/>
          <p:nvPr/>
        </p:nvSpPr>
        <p:spPr>
          <a:xfrm>
            <a:off x="540000" y="1260000"/>
            <a:ext cx="32400" cy="219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71" name="Ellipse 9"/>
          <p:cNvSpPr/>
          <p:nvPr/>
        </p:nvSpPr>
        <p:spPr>
          <a:xfrm>
            <a:off x="694800" y="1411200"/>
            <a:ext cx="273600" cy="273600"/>
          </a:xfrm>
          <a:prstGeom prst="ellipse">
            <a:avLst/>
          </a:prstGeom>
          <a:solidFill>
            <a:srgbClr val="eaf1ff"/>
          </a:solidFill>
          <a:ln>
            <a:noFill/>
          </a:ln>
        </p:spPr>
      </p:sp>
      <p:sp>
        <p:nvSpPr>
          <p:cNvPr id="72" name="TextShape 10"/>
          <p:cNvSpPr txBox="1"/>
          <p:nvPr/>
        </p:nvSpPr>
        <p:spPr>
          <a:xfrm>
            <a:off x="694800" y="1491840"/>
            <a:ext cx="2736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1400" spc="-1" strike="noStrike">
                <a:solidFill>
                  <a:srgbClr val="2563eb"/>
                </a:solidFill>
                <a:latin typeface="Noto Sans CJK JP"/>
              </a:rPr>
              <a:t>1</a:t>
            </a:r>
            <a:endParaRPr b="1" lang="en-US" sz="14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73" name="TextShape 11"/>
          <p:cNvSpPr txBox="1"/>
          <p:nvPr/>
        </p:nvSpPr>
        <p:spPr>
          <a:xfrm>
            <a:off x="1062000" y="1386000"/>
            <a:ext cx="1836000" cy="314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700" spc="-1" strike="noStrike">
                <a:solidFill>
                  <a:srgbClr val="152238"/>
                </a:solidFill>
                <a:latin typeface="Noto Sans CJK JP"/>
              </a:rPr>
              <a:t>Renderer</a:t>
            </a:r>
            <a:endParaRPr b="1" lang="en-US" sz="17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74" name="TextShape 12"/>
          <p:cNvSpPr txBox="1"/>
          <p:nvPr/>
        </p:nvSpPr>
        <p:spPr>
          <a:xfrm>
            <a:off x="727200" y="1782000"/>
            <a:ext cx="2145600" cy="144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150" spc="-1" strike="noStrike">
                <a:solidFill>
                  <a:srgbClr val="5c6b82"/>
                </a:solidFill>
                <a:latin typeface="Noto Sans CJK JP"/>
              </a:rPr>
              <a:t>RGB / depth / instance</a:t>
            </a:r>
            <a:endParaRPr b="0" lang="en-US" sz="11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r>
              <a:rPr b="0" lang="zh-CN" sz="1150" spc="-1" strike="noStrike">
                <a:solidFill>
                  <a:srgbClr val="5c6b82"/>
                </a:solidFill>
                <a:latin typeface="Noto Sans CJK JP"/>
              </a:rPr>
              <a:t>完全な幾何 </a:t>
            </a:r>
            <a:r>
              <a:rPr b="0" lang="en-US" sz="1150" spc="-1" strike="noStrike">
                <a:solidFill>
                  <a:srgbClr val="5c6b82"/>
                </a:solidFill>
                <a:latin typeface="Noto Sans CJK JP"/>
              </a:rPr>
              <a:t>ground truth</a:t>
            </a:r>
            <a:endParaRPr b="0" lang="en-US" sz="11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75" name="Rectangle 13"/>
          <p:cNvSpPr/>
          <p:nvPr/>
        </p:nvSpPr>
        <p:spPr>
          <a:xfrm>
            <a:off x="1134000" y="3114000"/>
            <a:ext cx="1332000" cy="201600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</p:sp>
      <p:sp>
        <p:nvSpPr>
          <p:cNvPr id="76" name="TextShape 14"/>
          <p:cNvSpPr txBox="1"/>
          <p:nvPr/>
        </p:nvSpPr>
        <p:spPr>
          <a:xfrm>
            <a:off x="1134000" y="3189240"/>
            <a:ext cx="1332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900" spc="-1" strike="noStrike">
                <a:solidFill>
                  <a:srgbClr val="2563eb"/>
                </a:solidFill>
                <a:latin typeface="Noto Sans CJK JP"/>
              </a:rPr>
              <a:t>IMPLEMENTED</a:t>
            </a:r>
            <a:endParaRPr b="1" lang="en-US" sz="9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77" name="TextShape 15"/>
          <p:cNvSpPr txBox="1"/>
          <p:nvPr/>
        </p:nvSpPr>
        <p:spPr>
          <a:xfrm>
            <a:off x="3081600" y="2204640"/>
            <a:ext cx="324000" cy="47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2600" spc="-1" strike="noStrike">
                <a:solidFill>
                  <a:srgbClr val="0891b2"/>
                </a:solidFill>
                <a:latin typeface="Noto Sans CJK JP"/>
              </a:rPr>
              <a:t>→</a:t>
            </a:r>
            <a:endParaRPr b="1" lang="en-US" sz="2600" spc="-1" strike="noStrike">
              <a:solidFill>
                <a:srgbClr val="0891b2"/>
              </a:solidFill>
              <a:latin typeface="Noto Sans CJK JP"/>
              <a:ea typeface="Noto Sans CJK JP"/>
            </a:endParaRPr>
          </a:p>
        </p:txBody>
      </p:sp>
      <p:sp>
        <p:nvSpPr>
          <p:cNvPr id="78" name="Rectangle 16"/>
          <p:cNvSpPr/>
          <p:nvPr/>
        </p:nvSpPr>
        <p:spPr>
          <a:xfrm>
            <a:off x="3384000" y="1260000"/>
            <a:ext cx="2520000" cy="2196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79" name="Rectangle 17"/>
          <p:cNvSpPr/>
          <p:nvPr/>
        </p:nvSpPr>
        <p:spPr>
          <a:xfrm>
            <a:off x="3384000" y="1260000"/>
            <a:ext cx="32400" cy="21960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80" name="Ellipse 18"/>
          <p:cNvSpPr/>
          <p:nvPr/>
        </p:nvSpPr>
        <p:spPr>
          <a:xfrm>
            <a:off x="3538800" y="1411200"/>
            <a:ext cx="273600" cy="273600"/>
          </a:xfrm>
          <a:prstGeom prst="ellipse">
            <a:avLst/>
          </a:prstGeom>
          <a:solidFill>
            <a:srgbClr val="f1ebff"/>
          </a:solidFill>
          <a:ln>
            <a:noFill/>
          </a:ln>
        </p:spPr>
      </p:sp>
      <p:sp>
        <p:nvSpPr>
          <p:cNvPr id="81" name="TextShape 19"/>
          <p:cNvSpPr txBox="1"/>
          <p:nvPr/>
        </p:nvSpPr>
        <p:spPr>
          <a:xfrm>
            <a:off x="3538800" y="1491840"/>
            <a:ext cx="2736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1400" spc="-1" strike="noStrike">
                <a:solidFill>
                  <a:srgbClr val="7c3aed"/>
                </a:solidFill>
                <a:latin typeface="Noto Sans CJK JP"/>
              </a:rPr>
              <a:t>2</a:t>
            </a:r>
            <a:endParaRPr b="1" lang="en-US" sz="1400" spc="-1" strike="noStrike">
              <a:solidFill>
                <a:srgbClr val="7c3aed"/>
              </a:solidFill>
              <a:latin typeface="Noto Sans CJK JP"/>
              <a:ea typeface="Noto Sans CJK JP"/>
            </a:endParaRPr>
          </a:p>
        </p:txBody>
      </p:sp>
      <p:sp>
        <p:nvSpPr>
          <p:cNvPr id="82" name="TextShape 20"/>
          <p:cNvSpPr txBox="1"/>
          <p:nvPr/>
        </p:nvSpPr>
        <p:spPr>
          <a:xfrm>
            <a:off x="3906000" y="1386000"/>
            <a:ext cx="1836000" cy="314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700" spc="-1" strike="noStrike">
                <a:solidFill>
                  <a:srgbClr val="152238"/>
                </a:solidFill>
                <a:latin typeface="Noto Sans CJK JP"/>
              </a:rPr>
              <a:t>Detector</a:t>
            </a:r>
            <a:endParaRPr b="1" lang="en-US" sz="17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83" name="TextShape 21"/>
          <p:cNvSpPr txBox="1"/>
          <p:nvPr/>
        </p:nvSpPr>
        <p:spPr>
          <a:xfrm>
            <a:off x="3571200" y="1782000"/>
            <a:ext cx="2145600" cy="144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150" spc="-1" strike="noStrike">
                <a:solidFill>
                  <a:srgbClr val="5c6b82"/>
                </a:solidFill>
                <a:latin typeface="Noto Sans CJK JP"/>
              </a:rPr>
              <a:t>ordered corner / IPPE</a:t>
            </a:r>
            <a:endParaRPr b="0" lang="en-US" sz="11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r>
              <a:rPr b="0" lang="zh-CN" sz="1150" spc="-1" strike="noStrike">
                <a:solidFill>
                  <a:srgbClr val="5c6b82"/>
                </a:solidFill>
                <a:latin typeface="Noto Sans CJK JP"/>
              </a:rPr>
              <a:t>局所 </a:t>
            </a:r>
            <a:r>
              <a:rPr b="0" lang="en-US" sz="1150" spc="-1" strike="noStrike">
                <a:solidFill>
                  <a:srgbClr val="5c6b82"/>
                </a:solidFill>
                <a:latin typeface="Noto Sans CJK JP"/>
              </a:rPr>
              <a:t>posterior mixture</a:t>
            </a:r>
            <a:endParaRPr b="0" lang="en-US" sz="11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84" name="Rectangle 22"/>
          <p:cNvSpPr/>
          <p:nvPr/>
        </p:nvSpPr>
        <p:spPr>
          <a:xfrm>
            <a:off x="3978000" y="3114000"/>
            <a:ext cx="1332000" cy="201600"/>
          </a:xfrm>
          <a:prstGeom prst="roundRect">
            <a:avLst/>
          </a:prstGeom>
          <a:solidFill>
            <a:srgbClr val="f1ebff"/>
          </a:solidFill>
          <a:ln>
            <a:noFill/>
          </a:ln>
        </p:spPr>
      </p:sp>
      <p:sp>
        <p:nvSpPr>
          <p:cNvPr id="85" name="TextShape 23"/>
          <p:cNvSpPr txBox="1"/>
          <p:nvPr/>
        </p:nvSpPr>
        <p:spPr>
          <a:xfrm>
            <a:off x="3978000" y="3189240"/>
            <a:ext cx="1332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900" spc="-1" strike="noStrike">
                <a:solidFill>
                  <a:srgbClr val="7c3aed"/>
                </a:solidFill>
                <a:latin typeface="Noto Sans CJK JP"/>
              </a:rPr>
              <a:t>IMPLEMENTED</a:t>
            </a:r>
            <a:endParaRPr b="1" lang="en-US" sz="900" spc="-1" strike="noStrike">
              <a:solidFill>
                <a:srgbClr val="7c3aed"/>
              </a:solidFill>
              <a:latin typeface="Noto Sans CJK JP"/>
              <a:ea typeface="Noto Sans CJK JP"/>
            </a:endParaRPr>
          </a:p>
        </p:txBody>
      </p:sp>
      <p:sp>
        <p:nvSpPr>
          <p:cNvPr id="86" name="TextShape 24"/>
          <p:cNvSpPr txBox="1"/>
          <p:nvPr/>
        </p:nvSpPr>
        <p:spPr>
          <a:xfrm>
            <a:off x="5925600" y="2204640"/>
            <a:ext cx="324000" cy="47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2600" spc="-1" strike="noStrike">
                <a:solidFill>
                  <a:srgbClr val="0891b2"/>
                </a:solidFill>
                <a:latin typeface="Noto Sans CJK JP"/>
              </a:rPr>
              <a:t>→</a:t>
            </a:r>
            <a:endParaRPr b="1" lang="en-US" sz="2600" spc="-1" strike="noStrike">
              <a:solidFill>
                <a:srgbClr val="0891b2"/>
              </a:solidFill>
              <a:latin typeface="Noto Sans CJK JP"/>
              <a:ea typeface="Noto Sans CJK JP"/>
            </a:endParaRPr>
          </a:p>
        </p:txBody>
      </p:sp>
      <p:sp>
        <p:nvSpPr>
          <p:cNvPr id="87" name="Rectangle 25"/>
          <p:cNvSpPr/>
          <p:nvPr/>
        </p:nvSpPr>
        <p:spPr>
          <a:xfrm>
            <a:off x="6228000" y="1260000"/>
            <a:ext cx="2520000" cy="2196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88" name="Rectangle 26"/>
          <p:cNvSpPr/>
          <p:nvPr/>
        </p:nvSpPr>
        <p:spPr>
          <a:xfrm>
            <a:off x="6228000" y="1260000"/>
            <a:ext cx="32400" cy="219600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89" name="Ellipse 27"/>
          <p:cNvSpPr/>
          <p:nvPr/>
        </p:nvSpPr>
        <p:spPr>
          <a:xfrm>
            <a:off x="6382800" y="1411200"/>
            <a:ext cx="273600" cy="273600"/>
          </a:xfrm>
          <a:prstGeom prst="ellipse">
            <a:avLst/>
          </a:prstGeom>
          <a:solidFill>
            <a:srgbClr val="e8f7f1"/>
          </a:solidFill>
          <a:ln>
            <a:noFill/>
          </a:ln>
        </p:spPr>
      </p:sp>
      <p:sp>
        <p:nvSpPr>
          <p:cNvPr id="90" name="TextShape 28"/>
          <p:cNvSpPr txBox="1"/>
          <p:nvPr/>
        </p:nvSpPr>
        <p:spPr>
          <a:xfrm>
            <a:off x="6382800" y="1491840"/>
            <a:ext cx="2736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1400" spc="-1" strike="noStrike">
                <a:solidFill>
                  <a:srgbClr val="059669"/>
                </a:solidFill>
                <a:latin typeface="Noto Sans CJK JP"/>
              </a:rPr>
              <a:t>3</a:t>
            </a:r>
            <a:endParaRPr b="1" lang="en-US" sz="14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91" name="TextShape 29"/>
          <p:cNvSpPr txBox="1"/>
          <p:nvPr/>
        </p:nvSpPr>
        <p:spPr>
          <a:xfrm>
            <a:off x="6750000" y="1386000"/>
            <a:ext cx="1836000" cy="314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700" spc="-1" strike="noStrike">
                <a:solidFill>
                  <a:srgbClr val="152238"/>
                </a:solidFill>
                <a:latin typeface="Noto Sans CJK JP"/>
              </a:rPr>
              <a:t>Validation</a:t>
            </a:r>
            <a:endParaRPr b="1" lang="en-US" sz="17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92" name="TextShape 30"/>
          <p:cNvSpPr txBox="1"/>
          <p:nvPr/>
        </p:nvSpPr>
        <p:spPr>
          <a:xfrm>
            <a:off x="6415200" y="1782000"/>
            <a:ext cx="2145600" cy="144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150" spc="-1" strike="noStrike">
                <a:solidFill>
                  <a:srgbClr val="5c6b82"/>
                </a:solidFill>
                <a:latin typeface="Noto Sans CJK JP"/>
              </a:rPr>
              <a:t>scenario </a:t>
            </a:r>
            <a:r>
              <a:rPr b="0" lang="zh-CN" sz="1150" spc="-1" strike="noStrike">
                <a:solidFill>
                  <a:srgbClr val="5c6b82"/>
                </a:solidFill>
                <a:latin typeface="Noto Sans CJK JP"/>
              </a:rPr>
              <a:t>別 </a:t>
            </a:r>
            <a:r>
              <a:rPr b="0" lang="en-US" sz="1150" spc="-1" strike="noStrike">
                <a:solidFill>
                  <a:srgbClr val="5c6b82"/>
                </a:solidFill>
                <a:latin typeface="Noto Sans CJK JP"/>
              </a:rPr>
              <a:t>benchmark</a:t>
            </a:r>
            <a:endParaRPr b="0" lang="en-US" sz="11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r>
              <a:rPr b="0" lang="zh-CN" sz="1150" spc="-1" strike="noStrike">
                <a:solidFill>
                  <a:srgbClr val="5c6b82"/>
                </a:solidFill>
                <a:latin typeface="Noto Sans CJK JP"/>
              </a:rPr>
              <a:t>再現性と失敗境界</a:t>
            </a:r>
            <a:endParaRPr b="0" lang="en-US" sz="11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93" name="Rectangle 31"/>
          <p:cNvSpPr/>
          <p:nvPr/>
        </p:nvSpPr>
        <p:spPr>
          <a:xfrm>
            <a:off x="6822000" y="3114000"/>
            <a:ext cx="1332000" cy="201600"/>
          </a:xfrm>
          <a:prstGeom prst="roundRect">
            <a:avLst/>
          </a:prstGeom>
          <a:solidFill>
            <a:srgbClr val="e8f7f1"/>
          </a:solidFill>
          <a:ln>
            <a:noFill/>
          </a:ln>
        </p:spPr>
      </p:sp>
      <p:sp>
        <p:nvSpPr>
          <p:cNvPr id="94" name="TextShape 32"/>
          <p:cNvSpPr txBox="1"/>
          <p:nvPr/>
        </p:nvSpPr>
        <p:spPr>
          <a:xfrm>
            <a:off x="6822000" y="3189240"/>
            <a:ext cx="1332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900" spc="-1" strike="noStrike">
                <a:solidFill>
                  <a:srgbClr val="059669"/>
                </a:solidFill>
                <a:latin typeface="Noto Sans CJK JP"/>
              </a:rPr>
              <a:t>IMPLEMENTED</a:t>
            </a:r>
            <a:endParaRPr b="1" lang="en-US" sz="9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95" name="TextShape 33"/>
          <p:cNvSpPr txBox="1"/>
          <p:nvPr/>
        </p:nvSpPr>
        <p:spPr>
          <a:xfrm>
            <a:off x="8769600" y="2204640"/>
            <a:ext cx="324000" cy="47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2600" spc="-1" strike="noStrike">
                <a:solidFill>
                  <a:srgbClr val="0891b2"/>
                </a:solidFill>
                <a:latin typeface="Noto Sans CJK JP"/>
              </a:rPr>
              <a:t>→</a:t>
            </a:r>
            <a:endParaRPr b="1" lang="en-US" sz="2600" spc="-1" strike="noStrike">
              <a:solidFill>
                <a:srgbClr val="0891b2"/>
              </a:solidFill>
              <a:latin typeface="Noto Sans CJK JP"/>
              <a:ea typeface="Noto Sans CJK JP"/>
            </a:endParaRPr>
          </a:p>
        </p:txBody>
      </p:sp>
      <p:sp>
        <p:nvSpPr>
          <p:cNvPr id="96" name="Rectangle 34"/>
          <p:cNvSpPr/>
          <p:nvPr/>
        </p:nvSpPr>
        <p:spPr>
          <a:xfrm>
            <a:off x="9072000" y="1260000"/>
            <a:ext cx="2520000" cy="2196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97" name="Rectangle 35"/>
          <p:cNvSpPr/>
          <p:nvPr/>
        </p:nvSpPr>
        <p:spPr>
          <a:xfrm>
            <a:off x="9072000" y="1260000"/>
            <a:ext cx="32400" cy="2196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98" name="Ellipse 36"/>
          <p:cNvSpPr/>
          <p:nvPr/>
        </p:nvSpPr>
        <p:spPr>
          <a:xfrm>
            <a:off x="9226800" y="1411200"/>
            <a:ext cx="273600" cy="273600"/>
          </a:xfrm>
          <a:prstGeom prst="ellipse">
            <a:avLst/>
          </a:prstGeom>
          <a:solidFill>
            <a:srgbClr val="fff4e5"/>
          </a:solidFill>
          <a:ln>
            <a:noFill/>
          </a:ln>
        </p:spPr>
      </p:sp>
      <p:sp>
        <p:nvSpPr>
          <p:cNvPr id="99" name="TextShape 37"/>
          <p:cNvSpPr txBox="1"/>
          <p:nvPr/>
        </p:nvSpPr>
        <p:spPr>
          <a:xfrm>
            <a:off x="9226800" y="1491840"/>
            <a:ext cx="2736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1400" spc="-1" strike="noStrike">
                <a:solidFill>
                  <a:srgbClr val="d97706"/>
                </a:solidFill>
                <a:latin typeface="Noto Sans CJK JP"/>
              </a:rPr>
              <a:t>4</a:t>
            </a:r>
            <a:endParaRPr b="1" lang="en-US" sz="1400" spc="-1" strike="noStrike">
              <a:solidFill>
                <a:srgbClr val="d97706"/>
              </a:solidFill>
              <a:latin typeface="Noto Sans CJK JP"/>
              <a:ea typeface="Noto Sans CJK JP"/>
            </a:endParaRPr>
          </a:p>
        </p:txBody>
      </p:sp>
      <p:sp>
        <p:nvSpPr>
          <p:cNvPr id="100" name="TextShape 38"/>
          <p:cNvSpPr txBox="1"/>
          <p:nvPr/>
        </p:nvSpPr>
        <p:spPr>
          <a:xfrm>
            <a:off x="9594000" y="1386000"/>
            <a:ext cx="1836000" cy="314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700" spc="-1" strike="noStrike">
                <a:solidFill>
                  <a:srgbClr val="152238"/>
                </a:solidFill>
                <a:latin typeface="Noto Sans CJK JP"/>
              </a:rPr>
              <a:t>Documentation</a:t>
            </a:r>
            <a:endParaRPr b="1" lang="en-US" sz="17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101" name="TextShape 39"/>
          <p:cNvSpPr txBox="1"/>
          <p:nvPr/>
        </p:nvSpPr>
        <p:spPr>
          <a:xfrm>
            <a:off x="9259200" y="1782000"/>
            <a:ext cx="2145600" cy="144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zh-CN" sz="1150" spc="-1" strike="noStrike">
                <a:solidFill>
                  <a:srgbClr val="5c6b82"/>
                </a:solidFill>
                <a:latin typeface="Noto Sans CJK JP"/>
              </a:rPr>
              <a:t>数式・</a:t>
            </a:r>
            <a:r>
              <a:rPr b="0" lang="en-US" sz="1150" spc="-1" strike="noStrike">
                <a:solidFill>
                  <a:srgbClr val="5c6b82"/>
                </a:solidFill>
                <a:latin typeface="Noto Sans CJK JP"/>
              </a:rPr>
              <a:t>API</a:t>
            </a:r>
            <a:r>
              <a:rPr b="0" lang="zh-CN" sz="1150" spc="-1" strike="noStrike">
                <a:solidFill>
                  <a:srgbClr val="5c6b82"/>
                </a:solidFill>
                <a:latin typeface="Noto Sans CJK JP"/>
              </a:rPr>
              <a:t>・実測値を</a:t>
            </a:r>
            <a:endParaRPr b="0" lang="en-US" sz="11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r>
              <a:rPr b="0" lang="zh-CN" sz="1150" spc="-1" strike="noStrike">
                <a:solidFill>
                  <a:srgbClr val="5c6b82"/>
                </a:solidFill>
                <a:latin typeface="Noto Sans CJK JP"/>
              </a:rPr>
              <a:t>再生成可能な </a:t>
            </a:r>
            <a:r>
              <a:rPr b="0" lang="en-US" sz="1150" spc="-1" strike="noStrike">
                <a:solidFill>
                  <a:srgbClr val="5c6b82"/>
                </a:solidFill>
                <a:latin typeface="Noto Sans CJK JP"/>
              </a:rPr>
              <a:t>deck </a:t>
            </a:r>
            <a:r>
              <a:rPr b="0" lang="zh-CN" sz="1150" spc="-1" strike="noStrike">
                <a:solidFill>
                  <a:srgbClr val="5c6b82"/>
                </a:solidFill>
                <a:latin typeface="Noto Sans CJK JP"/>
              </a:rPr>
              <a:t>へ</a:t>
            </a:r>
            <a:endParaRPr b="0" lang="en-US" sz="11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102" name="Rectangle 40"/>
          <p:cNvSpPr/>
          <p:nvPr/>
        </p:nvSpPr>
        <p:spPr>
          <a:xfrm>
            <a:off x="9666000" y="3114000"/>
            <a:ext cx="1332000" cy="20160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</p:sp>
      <p:sp>
        <p:nvSpPr>
          <p:cNvPr id="103" name="TextShape 41"/>
          <p:cNvSpPr txBox="1"/>
          <p:nvPr/>
        </p:nvSpPr>
        <p:spPr>
          <a:xfrm>
            <a:off x="9666000" y="3189240"/>
            <a:ext cx="1332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900" spc="-1" strike="noStrike">
                <a:solidFill>
                  <a:srgbClr val="d97706"/>
                </a:solidFill>
                <a:latin typeface="Noto Sans CJK JP"/>
              </a:rPr>
              <a:t>IMPLEMENTED</a:t>
            </a:r>
            <a:endParaRPr b="1" lang="en-US" sz="900" spc="-1" strike="noStrike">
              <a:solidFill>
                <a:srgbClr val="d97706"/>
              </a:solidFill>
              <a:latin typeface="Noto Sans CJK JP"/>
              <a:ea typeface="Noto Sans CJK JP"/>
            </a:endParaRPr>
          </a:p>
        </p:txBody>
      </p:sp>
      <p:sp>
        <p:nvSpPr>
          <p:cNvPr id="104" name="Rectangle 42"/>
          <p:cNvSpPr/>
          <p:nvPr/>
        </p:nvSpPr>
        <p:spPr>
          <a:xfrm>
            <a:off x="540000" y="3996000"/>
            <a:ext cx="11052000" cy="1620000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</p:sp>
      <p:sp>
        <p:nvSpPr>
          <p:cNvPr id="105" name="TextShape 43"/>
          <p:cNvSpPr txBox="1"/>
          <p:nvPr/>
        </p:nvSpPr>
        <p:spPr>
          <a:xfrm>
            <a:off x="792000" y="4248000"/>
            <a:ext cx="3132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1300" spc="-1" strike="noStrike">
                <a:solidFill>
                  <a:srgbClr val="8de8f5"/>
                </a:solidFill>
                <a:latin typeface="Noto Sans CJK JP"/>
              </a:rPr>
              <a:t>設計上の境界</a:t>
            </a:r>
            <a:endParaRPr b="1" lang="en-US" sz="1300" spc="-1" strike="noStrike">
              <a:solidFill>
                <a:srgbClr val="8de8f5"/>
              </a:solidFill>
              <a:latin typeface="Noto Sans CJK JP"/>
              <a:ea typeface="Noto Sans CJK JP"/>
            </a:endParaRPr>
          </a:p>
        </p:txBody>
      </p:sp>
      <p:sp>
        <p:nvSpPr>
          <p:cNvPr id="106" name="TextShape 44"/>
          <p:cNvSpPr txBox="1"/>
          <p:nvPr/>
        </p:nvSpPr>
        <p:spPr>
          <a:xfrm>
            <a:off x="792000" y="4536000"/>
            <a:ext cx="4788000" cy="662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1800" spc="-1" strike="noStrike">
                <a:solidFill>
                  <a:srgbClr val="ffffff"/>
                </a:solidFill>
                <a:latin typeface="Noto Sans CJK JP"/>
              </a:rPr>
              <a:t>画像処理・</a:t>
            </a:r>
            <a:r>
              <a:rPr b="1" lang="en-US" sz="1800" spc="-1" strike="noStrike">
                <a:solidFill>
                  <a:srgbClr val="ffffff"/>
                </a:solidFill>
                <a:latin typeface="Noto Sans CJK JP"/>
              </a:rPr>
              <a:t>PnP</a:t>
            </a:r>
            <a:r>
              <a:rPr b="1" lang="zh-CN" sz="1800" spc="-1" strike="noStrike">
                <a:solidFill>
                  <a:srgbClr val="ffffff"/>
                </a:solidFill>
                <a:latin typeface="Noto Sans CJK JP"/>
              </a:rPr>
              <a:t>・分布構成は </a:t>
            </a:r>
            <a:r>
              <a:rPr b="1" lang="en-US" sz="1800" spc="-1" strike="noStrike">
                <a:solidFill>
                  <a:srgbClr val="ffffff"/>
                </a:solidFill>
                <a:latin typeface="Noto Sans CJK JP"/>
              </a:rPr>
              <a:t>detector</a:t>
            </a:r>
            <a:endParaRPr b="1" lang="en-US" sz="18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  <a:p>
            <a:r>
              <a:rPr b="1" lang="en-US" sz="1800" spc="-1" strike="noStrike">
                <a:solidFill>
                  <a:srgbClr val="ffffff"/>
                </a:solidFill>
                <a:latin typeface="Noto Sans CJK JP"/>
              </a:rPr>
              <a:t>ProbTF core </a:t>
            </a:r>
            <a:r>
              <a:rPr b="1" lang="zh-CN" sz="1800" spc="-1" strike="noStrike">
                <a:solidFill>
                  <a:srgbClr val="ffffff"/>
                </a:solidFill>
                <a:latin typeface="Noto Sans CJK JP"/>
              </a:rPr>
              <a:t>は公開分布の保持・合成・照会</a:t>
            </a:r>
            <a:endParaRPr b="1" lang="en-US" sz="18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107" name="TextShape 45"/>
          <p:cNvSpPr txBox="1"/>
          <p:nvPr/>
        </p:nvSpPr>
        <p:spPr>
          <a:xfrm>
            <a:off x="6192000" y="4302000"/>
            <a:ext cx="4500000" cy="713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300" spc="-1" strike="noStrike">
                <a:solidFill>
                  <a:srgbClr val="c2d1e5"/>
                </a:solidFill>
                <a:latin typeface="Noto Sans CJK JP"/>
              </a:rPr>
              <a:t>✓ </a:t>
            </a:r>
            <a:r>
              <a:rPr b="0" lang="zh-CN" sz="1300" spc="-1" strike="noStrike">
                <a:solidFill>
                  <a:srgbClr val="c2d1e5"/>
                </a:solidFill>
                <a:latin typeface="Noto Sans CJK JP"/>
              </a:rPr>
              <a:t>粒子表現を使わない</a:t>
            </a:r>
            <a:endParaRPr b="0" lang="en-US" sz="1300" spc="-1" strike="noStrike">
              <a:solidFill>
                <a:srgbClr val="c2d1e5"/>
              </a:solidFill>
              <a:latin typeface="Noto Sans CJK JP"/>
              <a:ea typeface="Noto Sans CJK JP"/>
            </a:endParaRPr>
          </a:p>
          <a:p>
            <a:r>
              <a:rPr b="0" lang="en-US" sz="1300" spc="-1" strike="noStrike">
                <a:solidFill>
                  <a:srgbClr val="c2d1e5"/>
                </a:solidFill>
                <a:latin typeface="Noto Sans CJK JP"/>
              </a:rPr>
              <a:t>✓ </a:t>
            </a:r>
            <a:r>
              <a:rPr b="0" lang="zh-CN" sz="1300" spc="-1" strike="noStrike">
                <a:solidFill>
                  <a:srgbClr val="c2d1e5"/>
                </a:solidFill>
                <a:latin typeface="Noto Sans CJK JP"/>
              </a:rPr>
              <a:t>二解を最良一解へ潰さない</a:t>
            </a:r>
            <a:endParaRPr b="0" lang="en-US" sz="1300" spc="-1" strike="noStrike">
              <a:solidFill>
                <a:srgbClr val="c2d1e5"/>
              </a:solidFill>
              <a:latin typeface="Noto Sans CJK JP"/>
              <a:ea typeface="Noto Sans CJK JP"/>
            </a:endParaRPr>
          </a:p>
          <a:p>
            <a:r>
              <a:rPr b="0" lang="en-US" sz="1300" spc="-1" strike="noStrike">
                <a:solidFill>
                  <a:srgbClr val="c2d1e5"/>
                </a:solidFill>
                <a:latin typeface="Noto Sans CJK JP"/>
              </a:rPr>
              <a:t>✓ </a:t>
            </a:r>
            <a:r>
              <a:rPr b="0" lang="en-US" sz="1300" spc="-1" strike="noStrike">
                <a:solidFill>
                  <a:srgbClr val="c2d1e5"/>
                </a:solidFill>
                <a:latin typeface="Noto Sans CJK JP"/>
              </a:rPr>
              <a:t>ground truth </a:t>
            </a:r>
            <a:r>
              <a:rPr b="0" lang="zh-CN" sz="1300" spc="-1" strike="noStrike">
                <a:solidFill>
                  <a:srgbClr val="c2d1e5"/>
                </a:solidFill>
                <a:latin typeface="Noto Sans CJK JP"/>
              </a:rPr>
              <a:t>は画像から逆算しない</a:t>
            </a:r>
            <a:endParaRPr b="0" lang="en-US" sz="1300" spc="-1" strike="noStrike">
              <a:solidFill>
                <a:srgbClr val="c2d1e5"/>
              </a:solidFill>
              <a:latin typeface="Noto Sans CJK JP"/>
              <a:ea typeface="Noto Sans CJK JP"/>
            </a:endParaRPr>
          </a:p>
        </p:txBody>
      </p:sp>
      <p:sp>
        <p:nvSpPr>
          <p:cNvPr id="108" name="Line 46"/>
          <p:cNvSpPr/>
          <p:nvPr/>
        </p:nvSpPr>
        <p:spPr>
          <a:xfrm>
            <a:off x="540000" y="6496200"/>
            <a:ext cx="11088000" cy="360"/>
          </a:xfrm>
          <a:prstGeom prst="line">
            <a:avLst/>
          </a:prstGeom>
          <a:ln w="432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TextShape 47"/>
          <p:cNvSpPr txBox="1"/>
          <p:nvPr/>
        </p:nvSpPr>
        <p:spPr>
          <a:xfrm>
            <a:off x="540000" y="6528600"/>
            <a:ext cx="4320000" cy="155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850" spc="-1" strike="noStrike">
                <a:solidFill>
                  <a:srgbClr val="9cb2ce"/>
                </a:solidFill>
                <a:latin typeface="Noto Sans CJK JP"/>
              </a:rPr>
              <a:t>ProbTF-demo  |  AprilTag implementation overview</a:t>
            </a:r>
            <a:endParaRPr b="0" lang="en-US" sz="850" spc="-1" strike="noStrike">
              <a:solidFill>
                <a:srgbClr val="9cb2ce"/>
              </a:solidFill>
              <a:latin typeface="Noto Sans CJK JP"/>
              <a:ea typeface="Noto Sans CJK JP"/>
            </a:endParaRPr>
          </a:p>
        </p:txBody>
      </p:sp>
      <p:sp>
        <p:nvSpPr>
          <p:cNvPr id="110" name="TextShape 48"/>
          <p:cNvSpPr txBox="1"/>
          <p:nvPr/>
        </p:nvSpPr>
        <p:spPr>
          <a:xfrm>
            <a:off x="11124000" y="6528600"/>
            <a:ext cx="504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r"/>
            <a:r>
              <a:rPr b="1" lang="en-US" sz="900" spc="-1" strike="noStrike">
                <a:solidFill>
                  <a:srgbClr val="2563eb"/>
                </a:solidFill>
                <a:latin typeface="Noto Sans CJK JP"/>
              </a:rPr>
              <a:t>02</a:t>
            </a:r>
            <a:endParaRPr b="1" lang="en-US" sz="9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</p:sp>
      <p:sp>
        <p:nvSpPr>
          <p:cNvPr id="112" name="TextShape 2"/>
          <p:cNvSpPr txBox="1"/>
          <p:nvPr/>
        </p:nvSpPr>
        <p:spPr>
          <a:xfrm>
            <a:off x="540000" y="180000"/>
            <a:ext cx="3240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000" spc="-1" strike="noStrike">
                <a:solidFill>
                  <a:srgbClr val="059669"/>
                </a:solidFill>
                <a:latin typeface="Noto Sans CJK JP"/>
              </a:rPr>
              <a:t>ARCHITECTURE</a:t>
            </a:r>
            <a:endParaRPr b="1" lang="en-US" sz="10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113" name="TextShape 3"/>
          <p:cNvSpPr txBox="1"/>
          <p:nvPr/>
        </p:nvSpPr>
        <p:spPr>
          <a:xfrm>
            <a:off x="540000" y="367200"/>
            <a:ext cx="10908000" cy="4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観測生成と </a:t>
            </a:r>
            <a:r>
              <a:rPr b="1" lang="en-US" sz="2500" spc="-1" strike="noStrike">
                <a:solidFill>
                  <a:srgbClr val="152238"/>
                </a:solidFill>
                <a:latin typeface="Noto Sans CJK JP"/>
              </a:rPr>
              <a:t>ground truth </a:t>
            </a:r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を別経路にする</a:t>
            </a:r>
            <a:endParaRPr b="1" lang="en-US" sz="25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114" name="TextShape 4"/>
          <p:cNvSpPr txBox="1"/>
          <p:nvPr/>
        </p:nvSpPr>
        <p:spPr>
          <a:xfrm>
            <a:off x="540000" y="709200"/>
            <a:ext cx="10800000" cy="19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wire boundary 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は画像・</a:t>
            </a:r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metadata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・</a:t>
            </a:r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ProbTF v2 message</a:t>
            </a:r>
            <a:endParaRPr b="0" lang="en-US" sz="10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115" name="Line 5"/>
          <p:cNvSpPr/>
          <p:nvPr/>
        </p:nvSpPr>
        <p:spPr>
          <a:xfrm>
            <a:off x="540000" y="910800"/>
            <a:ext cx="11088000" cy="360"/>
          </a:xfrm>
          <a:prstGeom prst="line">
            <a:avLst/>
          </a:prstGeom>
          <a:ln w="54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Rectangle 6"/>
          <p:cNvSpPr/>
          <p:nvPr/>
        </p:nvSpPr>
        <p:spPr>
          <a:xfrm>
            <a:off x="0" y="0"/>
            <a:ext cx="9360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117" name="Rectangle 7"/>
          <p:cNvSpPr/>
          <p:nvPr/>
        </p:nvSpPr>
        <p:spPr>
          <a:xfrm>
            <a:off x="612000" y="1404000"/>
            <a:ext cx="2052000" cy="1332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118" name="Rectangle 8"/>
          <p:cNvSpPr/>
          <p:nvPr/>
        </p:nvSpPr>
        <p:spPr>
          <a:xfrm>
            <a:off x="612000" y="1404000"/>
            <a:ext cx="2052000" cy="27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19" name="TextShape 9"/>
          <p:cNvSpPr txBox="1"/>
          <p:nvPr/>
        </p:nvSpPr>
        <p:spPr>
          <a:xfrm>
            <a:off x="738000" y="1566000"/>
            <a:ext cx="1800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1" lang="en-US" sz="1400" spc="-1" strike="noStrike">
                <a:solidFill>
                  <a:srgbClr val="152238"/>
                </a:solidFill>
                <a:latin typeface="Noto Sans CJK JP"/>
              </a:rPr>
              <a:t>Scene sampler</a:t>
            </a:r>
            <a:endParaRPr b="1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120" name="TextShape 10"/>
          <p:cNvSpPr txBox="1"/>
          <p:nvPr/>
        </p:nvSpPr>
        <p:spPr>
          <a:xfrm>
            <a:off x="738000" y="1890000"/>
            <a:ext cx="1800000" cy="3848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T_W_C / T_W_M</a:t>
            </a:r>
            <a:endParaRPr b="0" lang="en-US" sz="10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seed / scenario</a:t>
            </a:r>
            <a:endParaRPr b="0" lang="en-US" sz="10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121" name="Rectangle 11"/>
          <p:cNvSpPr/>
          <p:nvPr/>
        </p:nvSpPr>
        <p:spPr>
          <a:xfrm>
            <a:off x="3096000" y="1404000"/>
            <a:ext cx="2052000" cy="1332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122" name="Rectangle 12"/>
          <p:cNvSpPr/>
          <p:nvPr/>
        </p:nvSpPr>
        <p:spPr>
          <a:xfrm>
            <a:off x="3096000" y="1404000"/>
            <a:ext cx="2052000" cy="27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3" name="TextShape 13"/>
          <p:cNvSpPr txBox="1"/>
          <p:nvPr/>
        </p:nvSpPr>
        <p:spPr>
          <a:xfrm>
            <a:off x="3222000" y="1566000"/>
            <a:ext cx="1800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1" lang="en-US" sz="1400" spc="-1" strike="noStrike">
                <a:solidFill>
                  <a:srgbClr val="152238"/>
                </a:solidFill>
                <a:latin typeface="Noto Sans CJK JP"/>
              </a:rPr>
              <a:t>pyrender</a:t>
            </a:r>
            <a:endParaRPr b="1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124" name="TextShape 14"/>
          <p:cNvSpPr txBox="1"/>
          <p:nvPr/>
        </p:nvSpPr>
        <p:spPr>
          <a:xfrm>
            <a:off x="3222000" y="1890000"/>
            <a:ext cx="1800000" cy="3848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synthetic RGB</a:t>
            </a:r>
            <a:endParaRPr b="0" lang="en-US" sz="10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depth / instance</a:t>
            </a:r>
            <a:endParaRPr b="0" lang="en-US" sz="10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125" name="Rectangle 15"/>
          <p:cNvSpPr/>
          <p:nvPr/>
        </p:nvSpPr>
        <p:spPr>
          <a:xfrm>
            <a:off x="5580000" y="1404000"/>
            <a:ext cx="2052000" cy="1332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126" name="Rectangle 16"/>
          <p:cNvSpPr/>
          <p:nvPr/>
        </p:nvSpPr>
        <p:spPr>
          <a:xfrm>
            <a:off x="5580000" y="1404000"/>
            <a:ext cx="2052000" cy="270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27" name="TextShape 17"/>
          <p:cNvSpPr txBox="1"/>
          <p:nvPr/>
        </p:nvSpPr>
        <p:spPr>
          <a:xfrm>
            <a:off x="5706000" y="1566000"/>
            <a:ext cx="1800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1" lang="en-US" sz="1400" spc="-1" strike="noStrike">
                <a:solidFill>
                  <a:srgbClr val="152238"/>
                </a:solidFill>
                <a:latin typeface="Noto Sans CJK JP"/>
              </a:rPr>
              <a:t>Corner detector</a:t>
            </a:r>
            <a:endParaRPr b="1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128" name="TextShape 18"/>
          <p:cNvSpPr txBox="1"/>
          <p:nvPr/>
        </p:nvSpPr>
        <p:spPr>
          <a:xfrm>
            <a:off x="5706000" y="1890000"/>
            <a:ext cx="1800000" cy="3848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ID + ordered y∈R⁸</a:t>
            </a:r>
            <a:endParaRPr b="0" lang="en-US" sz="10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Σ_img</a:t>
            </a:r>
            <a:endParaRPr b="0" lang="en-US" sz="10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129" name="Rectangle 19"/>
          <p:cNvSpPr/>
          <p:nvPr/>
        </p:nvSpPr>
        <p:spPr>
          <a:xfrm>
            <a:off x="8064000" y="1404000"/>
            <a:ext cx="2052000" cy="1332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130" name="Rectangle 20"/>
          <p:cNvSpPr/>
          <p:nvPr/>
        </p:nvSpPr>
        <p:spPr>
          <a:xfrm>
            <a:off x="8064000" y="1404000"/>
            <a:ext cx="2052000" cy="270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31" name="TextShape 21"/>
          <p:cNvSpPr txBox="1"/>
          <p:nvPr/>
        </p:nvSpPr>
        <p:spPr>
          <a:xfrm>
            <a:off x="8190000" y="1566000"/>
            <a:ext cx="1800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1" lang="en-US" sz="1400" spc="-1" strike="noStrike">
                <a:solidFill>
                  <a:srgbClr val="152238"/>
                </a:solidFill>
                <a:latin typeface="Noto Sans CJK JP"/>
              </a:rPr>
              <a:t>Pose mixture</a:t>
            </a:r>
            <a:endParaRPr b="1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132" name="TextShape 22"/>
          <p:cNvSpPr txBox="1"/>
          <p:nvPr/>
        </p:nvSpPr>
        <p:spPr>
          <a:xfrm>
            <a:off x="8190000" y="1890000"/>
            <a:ext cx="1800000" cy="3848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IPPE → refine →</a:t>
            </a:r>
            <a:endParaRPr b="0" lang="en-US" sz="10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(w,A,m,S,C)</a:t>
            </a:r>
            <a:endParaRPr b="0" lang="en-US" sz="10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133" name="Rectangle 23"/>
          <p:cNvSpPr/>
          <p:nvPr/>
        </p:nvSpPr>
        <p:spPr>
          <a:xfrm>
            <a:off x="10512000" y="1404000"/>
            <a:ext cx="1044000" cy="1332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134" name="Rectangle 24"/>
          <p:cNvSpPr/>
          <p:nvPr/>
        </p:nvSpPr>
        <p:spPr>
          <a:xfrm>
            <a:off x="10512000" y="1404000"/>
            <a:ext cx="1044000" cy="2700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135" name="TextShape 25"/>
          <p:cNvSpPr txBox="1"/>
          <p:nvPr/>
        </p:nvSpPr>
        <p:spPr>
          <a:xfrm>
            <a:off x="10638000" y="1566000"/>
            <a:ext cx="792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1" lang="en-US" sz="1400" spc="-1" strike="noStrike">
                <a:solidFill>
                  <a:srgbClr val="152238"/>
                </a:solidFill>
                <a:latin typeface="Noto Sans CJK JP"/>
              </a:rPr>
              <a:t>ProbTF</a:t>
            </a:r>
            <a:endParaRPr b="1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136" name="TextShape 26"/>
          <p:cNvSpPr txBox="1"/>
          <p:nvPr/>
        </p:nvSpPr>
        <p:spPr>
          <a:xfrm>
            <a:off x="10638000" y="1890000"/>
            <a:ext cx="792000" cy="3848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/probtf</a:t>
            </a:r>
            <a:endParaRPr b="0" lang="en-US" sz="10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edge</a:t>
            </a:r>
            <a:endParaRPr b="0" lang="en-US" sz="10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137" name="TextShape 27"/>
          <p:cNvSpPr txBox="1"/>
          <p:nvPr/>
        </p:nvSpPr>
        <p:spPr>
          <a:xfrm>
            <a:off x="2689200" y="1934640"/>
            <a:ext cx="324000" cy="47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2600" spc="-1" strike="noStrike">
                <a:solidFill>
                  <a:srgbClr val="0891b2"/>
                </a:solidFill>
                <a:latin typeface="Noto Sans CJK JP"/>
              </a:rPr>
              <a:t>→</a:t>
            </a:r>
            <a:endParaRPr b="1" lang="en-US" sz="2600" spc="-1" strike="noStrike">
              <a:solidFill>
                <a:srgbClr val="0891b2"/>
              </a:solidFill>
              <a:latin typeface="Noto Sans CJK JP"/>
              <a:ea typeface="Noto Sans CJK JP"/>
            </a:endParaRPr>
          </a:p>
        </p:txBody>
      </p:sp>
      <p:sp>
        <p:nvSpPr>
          <p:cNvPr id="138" name="TextShape 28"/>
          <p:cNvSpPr txBox="1"/>
          <p:nvPr/>
        </p:nvSpPr>
        <p:spPr>
          <a:xfrm>
            <a:off x="5173200" y="1934640"/>
            <a:ext cx="324000" cy="47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2600" spc="-1" strike="noStrike">
                <a:solidFill>
                  <a:srgbClr val="0891b2"/>
                </a:solidFill>
                <a:latin typeface="Noto Sans CJK JP"/>
              </a:rPr>
              <a:t>→</a:t>
            </a:r>
            <a:endParaRPr b="1" lang="en-US" sz="2600" spc="-1" strike="noStrike">
              <a:solidFill>
                <a:srgbClr val="0891b2"/>
              </a:solidFill>
              <a:latin typeface="Noto Sans CJK JP"/>
              <a:ea typeface="Noto Sans CJK JP"/>
            </a:endParaRPr>
          </a:p>
        </p:txBody>
      </p:sp>
      <p:sp>
        <p:nvSpPr>
          <p:cNvPr id="139" name="TextShape 29"/>
          <p:cNvSpPr txBox="1"/>
          <p:nvPr/>
        </p:nvSpPr>
        <p:spPr>
          <a:xfrm>
            <a:off x="7657200" y="1934640"/>
            <a:ext cx="324000" cy="47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2600" spc="-1" strike="noStrike">
                <a:solidFill>
                  <a:srgbClr val="0891b2"/>
                </a:solidFill>
                <a:latin typeface="Noto Sans CJK JP"/>
              </a:rPr>
              <a:t>→</a:t>
            </a:r>
            <a:endParaRPr b="1" lang="en-US" sz="2600" spc="-1" strike="noStrike">
              <a:solidFill>
                <a:srgbClr val="0891b2"/>
              </a:solidFill>
              <a:latin typeface="Noto Sans CJK JP"/>
              <a:ea typeface="Noto Sans CJK JP"/>
            </a:endParaRPr>
          </a:p>
        </p:txBody>
      </p:sp>
      <p:sp>
        <p:nvSpPr>
          <p:cNvPr id="140" name="TextShape 30"/>
          <p:cNvSpPr txBox="1"/>
          <p:nvPr/>
        </p:nvSpPr>
        <p:spPr>
          <a:xfrm>
            <a:off x="10152000" y="1934640"/>
            <a:ext cx="324000" cy="47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2600" spc="-1" strike="noStrike">
                <a:solidFill>
                  <a:srgbClr val="0891b2"/>
                </a:solidFill>
                <a:latin typeface="Noto Sans CJK JP"/>
              </a:rPr>
              <a:t>→</a:t>
            </a:r>
            <a:endParaRPr b="1" lang="en-US" sz="2600" spc="-1" strike="noStrike">
              <a:solidFill>
                <a:srgbClr val="0891b2"/>
              </a:solidFill>
              <a:latin typeface="Noto Sans CJK JP"/>
              <a:ea typeface="Noto Sans CJK JP"/>
            </a:endParaRPr>
          </a:p>
        </p:txBody>
      </p:sp>
      <p:sp>
        <p:nvSpPr>
          <p:cNvPr id="141" name="Line 31"/>
          <p:cNvSpPr/>
          <p:nvPr/>
        </p:nvSpPr>
        <p:spPr>
          <a:xfrm>
            <a:off x="1620000" y="2916000"/>
            <a:ext cx="360" cy="792000"/>
          </a:xfrm>
          <a:prstGeom prst="line">
            <a:avLst/>
          </a:prstGeom>
          <a:ln w="126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Line 32"/>
          <p:cNvSpPr/>
          <p:nvPr/>
        </p:nvSpPr>
        <p:spPr>
          <a:xfrm>
            <a:off x="1620000" y="3708000"/>
            <a:ext cx="7452000" cy="360"/>
          </a:xfrm>
          <a:prstGeom prst="line">
            <a:avLst/>
          </a:prstGeom>
          <a:ln w="126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TextShape 33"/>
          <p:cNvSpPr txBox="1"/>
          <p:nvPr/>
        </p:nvSpPr>
        <p:spPr>
          <a:xfrm>
            <a:off x="9000000" y="3633840"/>
            <a:ext cx="324000" cy="4042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2200" spc="-1" strike="noStrike">
                <a:solidFill>
                  <a:srgbClr val="d97706"/>
                </a:solidFill>
                <a:latin typeface="Noto Sans CJK JP"/>
              </a:rPr>
              <a:t>→</a:t>
            </a:r>
            <a:endParaRPr b="1" lang="en-US" sz="2200" spc="-1" strike="noStrike">
              <a:solidFill>
                <a:srgbClr val="d97706"/>
              </a:solidFill>
              <a:latin typeface="Noto Sans CJK JP"/>
              <a:ea typeface="Noto Sans CJK JP"/>
            </a:endParaRPr>
          </a:p>
        </p:txBody>
      </p:sp>
      <p:sp>
        <p:nvSpPr>
          <p:cNvPr id="144" name="Rectangle 34"/>
          <p:cNvSpPr/>
          <p:nvPr/>
        </p:nvSpPr>
        <p:spPr>
          <a:xfrm>
            <a:off x="612000" y="4068000"/>
            <a:ext cx="4536000" cy="1296000"/>
          </a:xfrm>
          <a:prstGeom prst="roundRect">
            <a:avLst/>
          </a:prstGeom>
          <a:solidFill>
            <a:srgbClr val="fff4e5"/>
          </a:solidFill>
          <a:ln w="7200">
            <a:solidFill>
              <a:srgbClr val="f2c27e"/>
            </a:solidFill>
            <a:round/>
          </a:ln>
        </p:spPr>
      </p:sp>
      <p:sp>
        <p:nvSpPr>
          <p:cNvPr id="145" name="TextShape 35"/>
          <p:cNvSpPr txBox="1"/>
          <p:nvPr/>
        </p:nvSpPr>
        <p:spPr>
          <a:xfrm>
            <a:off x="828000" y="4248000"/>
            <a:ext cx="4032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1400" spc="-1" strike="noStrike">
                <a:solidFill>
                  <a:srgbClr val="d97706"/>
                </a:solidFill>
                <a:latin typeface="Noto Sans CJK JP"/>
              </a:rPr>
              <a:t>解析 </a:t>
            </a:r>
            <a:r>
              <a:rPr b="1" lang="en-US" sz="1400" spc="-1" strike="noStrike">
                <a:solidFill>
                  <a:srgbClr val="d97706"/>
                </a:solidFill>
                <a:latin typeface="Noto Sans CJK JP"/>
              </a:rPr>
              <a:t>ground truth</a:t>
            </a:r>
            <a:endParaRPr b="1" lang="en-US" sz="1400" spc="-1" strike="noStrike">
              <a:solidFill>
                <a:srgbClr val="d97706"/>
              </a:solidFill>
              <a:latin typeface="Noto Sans CJK JP"/>
              <a:ea typeface="Noto Sans CJK JP"/>
            </a:endParaRPr>
          </a:p>
        </p:txBody>
      </p:sp>
      <p:sp>
        <p:nvSpPr>
          <p:cNvPr id="146" name="TextShape 36"/>
          <p:cNvSpPr txBox="1"/>
          <p:nvPr/>
        </p:nvSpPr>
        <p:spPr>
          <a:xfrm>
            <a:off x="828000" y="4554000"/>
            <a:ext cx="4032000" cy="44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200" spc="-1" strike="noStrike">
                <a:solidFill>
                  <a:srgbClr val="152238"/>
                </a:solidFill>
                <a:latin typeface="Noto Sans CJK JP"/>
              </a:rPr>
              <a:t>cv2.projectPoints(T_C_M)</a:t>
            </a:r>
            <a:endParaRPr b="0" lang="en-US" sz="12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  <a:p>
            <a:r>
              <a:rPr b="0" lang="en-US" sz="1200" spc="-1" strike="noStrike">
                <a:solidFill>
                  <a:srgbClr val="152238"/>
                </a:solidFill>
                <a:latin typeface="Noto Sans CJK JP"/>
              </a:rPr>
              <a:t>rendered pixel </a:t>
            </a:r>
            <a:r>
              <a:rPr b="0" lang="zh-CN" sz="1200" spc="-1" strike="noStrike">
                <a:solidFill>
                  <a:srgbClr val="152238"/>
                </a:solidFill>
                <a:latin typeface="Noto Sans CJK JP"/>
              </a:rPr>
              <a:t>を逆算しない</a:t>
            </a:r>
            <a:endParaRPr b="0" lang="en-US" sz="12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147" name="Rectangle 37"/>
          <p:cNvSpPr/>
          <p:nvPr/>
        </p:nvSpPr>
        <p:spPr>
          <a:xfrm>
            <a:off x="5580000" y="4068000"/>
            <a:ext cx="5976000" cy="1296000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</p:sp>
      <p:sp>
        <p:nvSpPr>
          <p:cNvPr id="148" name="TextShape 38"/>
          <p:cNvSpPr txBox="1"/>
          <p:nvPr/>
        </p:nvSpPr>
        <p:spPr>
          <a:xfrm>
            <a:off x="5796000" y="4248000"/>
            <a:ext cx="5436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1400" spc="-1" strike="noStrike">
                <a:solidFill>
                  <a:srgbClr val="8de8f5"/>
                </a:solidFill>
                <a:latin typeface="Noto Sans CJK JP"/>
              </a:rPr>
              <a:t>責務分離</a:t>
            </a:r>
            <a:endParaRPr b="1" lang="en-US" sz="1400" spc="-1" strike="noStrike">
              <a:solidFill>
                <a:srgbClr val="8de8f5"/>
              </a:solidFill>
              <a:latin typeface="Noto Sans CJK JP"/>
              <a:ea typeface="Noto Sans CJK JP"/>
            </a:endParaRPr>
          </a:p>
        </p:txBody>
      </p:sp>
      <p:sp>
        <p:nvSpPr>
          <p:cNvPr id="149" name="TextShape 39"/>
          <p:cNvSpPr txBox="1"/>
          <p:nvPr/>
        </p:nvSpPr>
        <p:spPr>
          <a:xfrm>
            <a:off x="5796000" y="4536000"/>
            <a:ext cx="5436000" cy="460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250" spc="-1" strike="noStrike">
                <a:solidFill>
                  <a:srgbClr val="ffffff"/>
                </a:solidFill>
                <a:latin typeface="Noto Sans CJK JP"/>
              </a:rPr>
              <a:t>ProbTF core </a:t>
            </a:r>
            <a:r>
              <a:rPr b="0" lang="zh-CN" sz="1250" spc="-1" strike="noStrike">
                <a:solidFill>
                  <a:srgbClr val="ffffff"/>
                </a:solidFill>
                <a:latin typeface="Noto Sans CJK JP"/>
              </a:rPr>
              <a:t>は </a:t>
            </a:r>
            <a:r>
              <a:rPr b="0" lang="en-US" sz="1250" spc="-1" strike="noStrike">
                <a:solidFill>
                  <a:srgbClr val="ffffff"/>
                </a:solidFill>
                <a:latin typeface="Noto Sans CJK JP"/>
              </a:rPr>
              <a:t>image / corner / PnP / Hessian </a:t>
            </a:r>
            <a:r>
              <a:rPr b="0" lang="zh-CN" sz="1250" spc="-1" strike="noStrike">
                <a:solidFill>
                  <a:srgbClr val="ffffff"/>
                </a:solidFill>
                <a:latin typeface="Noto Sans CJK JP"/>
              </a:rPr>
              <a:t>を参照しない</a:t>
            </a:r>
            <a:endParaRPr b="0" lang="en-US" sz="125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  <a:p>
            <a:r>
              <a:rPr b="0" lang="zh-CN" sz="1250" spc="-1" strike="noStrike">
                <a:solidFill>
                  <a:srgbClr val="ffffff"/>
                </a:solidFill>
                <a:latin typeface="Noto Sans CJK JP"/>
              </a:rPr>
              <a:t>公開された </a:t>
            </a:r>
            <a:r>
              <a:rPr b="0" lang="en-US" sz="1250" spc="-1" strike="noStrike">
                <a:solidFill>
                  <a:srgbClr val="ffffff"/>
                </a:solidFill>
                <a:latin typeface="Noto Sans CJK JP"/>
              </a:rPr>
              <a:t>full mixture law </a:t>
            </a:r>
            <a:r>
              <a:rPr b="0" lang="zh-CN" sz="1250" spc="-1" strike="noStrike">
                <a:solidFill>
                  <a:srgbClr val="ffffff"/>
                </a:solidFill>
                <a:latin typeface="Noto Sans CJK JP"/>
              </a:rPr>
              <a:t>だけを </a:t>
            </a:r>
            <a:r>
              <a:rPr b="0" lang="en-US" sz="1250" spc="-1" strike="noStrike">
                <a:solidFill>
                  <a:srgbClr val="ffffff"/>
                </a:solidFill>
                <a:latin typeface="Noto Sans CJK JP"/>
              </a:rPr>
              <a:t>graph kernel </a:t>
            </a:r>
            <a:r>
              <a:rPr b="0" lang="zh-CN" sz="1250" spc="-1" strike="noStrike">
                <a:solidFill>
                  <a:srgbClr val="ffffff"/>
                </a:solidFill>
                <a:latin typeface="Noto Sans CJK JP"/>
              </a:rPr>
              <a:t>として扱う</a:t>
            </a:r>
            <a:endParaRPr b="0" lang="en-US" sz="125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150" name="Line 40"/>
          <p:cNvSpPr/>
          <p:nvPr/>
        </p:nvSpPr>
        <p:spPr>
          <a:xfrm>
            <a:off x="540000" y="6496200"/>
            <a:ext cx="11088000" cy="360"/>
          </a:xfrm>
          <a:prstGeom prst="line">
            <a:avLst/>
          </a:prstGeom>
          <a:ln w="432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TextShape 41"/>
          <p:cNvSpPr txBox="1"/>
          <p:nvPr/>
        </p:nvSpPr>
        <p:spPr>
          <a:xfrm>
            <a:off x="540000" y="6528600"/>
            <a:ext cx="4320000" cy="155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850" spc="-1" strike="noStrike">
                <a:solidFill>
                  <a:srgbClr val="9cb2ce"/>
                </a:solidFill>
                <a:latin typeface="Noto Sans CJK JP"/>
              </a:rPr>
              <a:t>ProbTF-demo  |  AprilTag implementation overview</a:t>
            </a:r>
            <a:endParaRPr b="0" lang="en-US" sz="850" spc="-1" strike="noStrike">
              <a:solidFill>
                <a:srgbClr val="9cb2ce"/>
              </a:solidFill>
              <a:latin typeface="Noto Sans CJK JP"/>
              <a:ea typeface="Noto Sans CJK JP"/>
            </a:endParaRPr>
          </a:p>
        </p:txBody>
      </p:sp>
      <p:sp>
        <p:nvSpPr>
          <p:cNvPr id="152" name="TextShape 42"/>
          <p:cNvSpPr txBox="1"/>
          <p:nvPr/>
        </p:nvSpPr>
        <p:spPr>
          <a:xfrm>
            <a:off x="11124000" y="6528600"/>
            <a:ext cx="504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r"/>
            <a:r>
              <a:rPr b="1" lang="en-US" sz="900" spc="-1" strike="noStrike">
                <a:solidFill>
                  <a:srgbClr val="2563eb"/>
                </a:solidFill>
                <a:latin typeface="Noto Sans CJK JP"/>
              </a:rPr>
              <a:t>03</a:t>
            </a:r>
            <a:endParaRPr b="1" lang="en-US" sz="9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</p:sp>
      <p:sp>
        <p:nvSpPr>
          <p:cNvPr id="154" name="TextShape 2"/>
          <p:cNvSpPr txBox="1"/>
          <p:nvPr/>
        </p:nvSpPr>
        <p:spPr>
          <a:xfrm>
            <a:off x="540000" y="180000"/>
            <a:ext cx="3240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000" spc="-1" strike="noStrike">
                <a:solidFill>
                  <a:srgbClr val="2563eb"/>
                </a:solidFill>
                <a:latin typeface="Noto Sans CJK JP"/>
              </a:rPr>
              <a:t>COORDINATES</a:t>
            </a:r>
            <a:endParaRPr b="1" lang="en-US" sz="10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155" name="TextShape 3"/>
          <p:cNvSpPr txBox="1"/>
          <p:nvPr/>
        </p:nvSpPr>
        <p:spPr>
          <a:xfrm>
            <a:off x="540000" y="367200"/>
            <a:ext cx="10908000" cy="4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座標規約：</a:t>
            </a:r>
            <a:r>
              <a:rPr b="1" lang="en-US" sz="2500" spc="-1" strike="noStrike">
                <a:solidFill>
                  <a:srgbClr val="152238"/>
                </a:solidFill>
                <a:latin typeface="Noto Sans CJK JP"/>
              </a:rPr>
              <a:t>T_A_B </a:t>
            </a:r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は </a:t>
            </a:r>
            <a:r>
              <a:rPr b="1" lang="en-US" sz="2500" spc="-1" strike="noStrike">
                <a:solidFill>
                  <a:srgbClr val="152238"/>
                </a:solidFill>
                <a:latin typeface="Noto Sans CJK JP"/>
              </a:rPr>
              <a:t>B → A </a:t>
            </a:r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を写す</a:t>
            </a:r>
            <a:endParaRPr b="1" lang="en-US" sz="25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156" name="TextShape 4"/>
          <p:cNvSpPr txBox="1"/>
          <p:nvPr/>
        </p:nvSpPr>
        <p:spPr>
          <a:xfrm>
            <a:off x="540000" y="709200"/>
            <a:ext cx="10800000" cy="19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OpenCV optical 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と </a:t>
            </a:r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OpenGL camera 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の符号反転を一関数へ隔離</a:t>
            </a:r>
            <a:endParaRPr b="0" lang="en-US" sz="10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157" name="Line 5"/>
          <p:cNvSpPr/>
          <p:nvPr/>
        </p:nvSpPr>
        <p:spPr>
          <a:xfrm>
            <a:off x="540000" y="910800"/>
            <a:ext cx="11088000" cy="360"/>
          </a:xfrm>
          <a:prstGeom prst="line">
            <a:avLst/>
          </a:prstGeom>
          <a:ln w="54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Rectangle 6"/>
          <p:cNvSpPr/>
          <p:nvPr/>
        </p:nvSpPr>
        <p:spPr>
          <a:xfrm>
            <a:off x="0" y="0"/>
            <a:ext cx="936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59" name="Rectangle 7"/>
          <p:cNvSpPr/>
          <p:nvPr/>
        </p:nvSpPr>
        <p:spPr>
          <a:xfrm>
            <a:off x="576000" y="1242000"/>
            <a:ext cx="5148000" cy="4248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160" name="TextShape 8"/>
          <p:cNvSpPr txBox="1"/>
          <p:nvPr/>
        </p:nvSpPr>
        <p:spPr>
          <a:xfrm>
            <a:off x="810000" y="1422000"/>
            <a:ext cx="43200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1500" spc="-1" strike="noStrike">
                <a:solidFill>
                  <a:srgbClr val="2563eb"/>
                </a:solidFill>
                <a:latin typeface="Noto Sans CJK JP"/>
              </a:rPr>
              <a:t>保存する</a:t>
            </a:r>
            <a:r>
              <a:rPr b="1" lang="en-US" sz="1500" spc="-1" strike="noStrike">
                <a:solidFill>
                  <a:srgbClr val="2563eb"/>
                </a:solidFill>
                <a:latin typeface="Noto Sans CJK JP"/>
              </a:rPr>
              <a:t>3</a:t>
            </a:r>
            <a:r>
              <a:rPr b="1" lang="zh-CN" sz="1500" spc="-1" strike="noStrike">
                <a:solidFill>
                  <a:srgbClr val="2563eb"/>
                </a:solidFill>
                <a:latin typeface="Noto Sans CJK JP"/>
              </a:rPr>
              <a:t>変換</a:t>
            </a:r>
            <a:endParaRPr b="1" lang="en-US" sz="15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161" name="TextShape 9"/>
          <p:cNvSpPr txBox="1"/>
          <p:nvPr/>
        </p:nvSpPr>
        <p:spPr>
          <a:xfrm>
            <a:off x="882000" y="1872000"/>
            <a:ext cx="4248000" cy="11062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1" lang="en-US" sz="2000" spc="-1" strike="noStrike">
                <a:solidFill>
                  <a:srgbClr val="152238"/>
                </a:solidFill>
                <a:latin typeface="Noto Sans Mono CJK JP"/>
              </a:rPr>
              <a:t>T_W_C       T_W_M</a:t>
            </a:r>
            <a:endParaRPr b="1" lang="en-US" sz="2000" spc="-1" strike="noStrike">
              <a:solidFill>
                <a:srgbClr val="152238"/>
              </a:solidFill>
              <a:latin typeface="Noto Sans Mono CJK JP"/>
              <a:ea typeface="Noto Sans Mono CJK JP"/>
            </a:endParaRPr>
          </a:p>
          <a:p>
            <a:pPr algn="ctr"/>
            <a:endParaRPr b="1" lang="en-US" sz="2000" spc="-1" strike="noStrike">
              <a:solidFill>
                <a:srgbClr val="152238"/>
              </a:solidFill>
              <a:latin typeface="Noto Sans Mono CJK JP"/>
              <a:ea typeface="Noto Sans Mono CJK JP"/>
            </a:endParaRPr>
          </a:p>
          <a:p>
            <a:pPr algn="ctr"/>
            <a:r>
              <a:rPr b="1" lang="en-US" sz="2000" spc="-1" strike="noStrike">
                <a:solidFill>
                  <a:srgbClr val="152238"/>
                </a:solidFill>
                <a:latin typeface="Noto Sans Mono CJK JP"/>
              </a:rPr>
              <a:t>T_C_M = inv(T_W_C) · T_W_M</a:t>
            </a:r>
            <a:endParaRPr b="1" lang="en-US" sz="2000" spc="-1" strike="noStrike">
              <a:solidFill>
                <a:srgbClr val="152238"/>
              </a:solidFill>
              <a:latin typeface="Noto Sans Mono CJK JP"/>
              <a:ea typeface="Noto Sans Mono CJK JP"/>
            </a:endParaRPr>
          </a:p>
        </p:txBody>
      </p:sp>
      <p:sp>
        <p:nvSpPr>
          <p:cNvPr id="162" name="Rectangle 10"/>
          <p:cNvSpPr/>
          <p:nvPr/>
        </p:nvSpPr>
        <p:spPr>
          <a:xfrm>
            <a:off x="972000" y="2952000"/>
            <a:ext cx="4068000" cy="864000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</p:sp>
      <p:sp>
        <p:nvSpPr>
          <p:cNvPr id="163" name="TextShape 11"/>
          <p:cNvSpPr txBox="1"/>
          <p:nvPr/>
        </p:nvSpPr>
        <p:spPr>
          <a:xfrm>
            <a:off x="1116000" y="3183840"/>
            <a:ext cx="3780000" cy="585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Mono CJK JP"/>
              </a:rPr>
              <a:t>z_C = R(Q) z_M + X</a:t>
            </a:r>
            <a:endParaRPr b="1" lang="en-US" sz="1600" spc="-1" strike="noStrike">
              <a:solidFill>
                <a:srgbClr val="ffffff"/>
              </a:solidFill>
              <a:latin typeface="Noto Sans Mono CJK JP"/>
              <a:ea typeface="Noto Sans Mono CJK JP"/>
            </a:endParaRPr>
          </a:p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Mono CJK JP"/>
              </a:rPr>
              <a:t>edge direction:  camera ← marker</a:t>
            </a:r>
            <a:endParaRPr b="1" lang="en-US" sz="1600" spc="-1" strike="noStrike">
              <a:solidFill>
                <a:srgbClr val="ffffff"/>
              </a:solidFill>
              <a:latin typeface="Noto Sans Mono CJK JP"/>
              <a:ea typeface="Noto Sans Mono CJK JP"/>
            </a:endParaRPr>
          </a:p>
        </p:txBody>
      </p:sp>
      <p:sp>
        <p:nvSpPr>
          <p:cNvPr id="164" name="TextShape 12"/>
          <p:cNvSpPr txBox="1"/>
          <p:nvPr/>
        </p:nvSpPr>
        <p:spPr>
          <a:xfrm>
            <a:off x="846000" y="4284000"/>
            <a:ext cx="4320000" cy="6634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W : world</a:t>
            </a:r>
            <a:endParaRPr b="0" lang="en-US" sz="12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C : OpenCV / ROS optical camera</a:t>
            </a:r>
            <a:endParaRPr b="0" lang="en-US" sz="12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Mᵢ : tag i</a:t>
            </a:r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（原点は中心、単位 </a:t>
            </a:r>
            <a:r>
              <a:rPr b="0" lang="en-US" sz="1200" spc="-1" strike="noStrike">
                <a:solidFill>
                  <a:srgbClr val="5c6b82"/>
                </a:solidFill>
                <a:latin typeface="Noto Sans CJK JP"/>
              </a:rPr>
              <a:t>m</a:t>
            </a:r>
            <a:r>
              <a:rPr b="0" lang="zh-CN" sz="1200" spc="-1" strike="noStrike">
                <a:solidFill>
                  <a:srgbClr val="5c6b82"/>
                </a:solidFill>
                <a:latin typeface="Noto Sans CJK JP"/>
              </a:rPr>
              <a:t>）</a:t>
            </a:r>
            <a:endParaRPr b="0" lang="en-US" sz="12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165" name="Rectangle 13"/>
          <p:cNvSpPr/>
          <p:nvPr/>
        </p:nvSpPr>
        <p:spPr>
          <a:xfrm>
            <a:off x="6264000" y="1242000"/>
            <a:ext cx="5148000" cy="4248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166" name="TextShape 14"/>
          <p:cNvSpPr txBox="1"/>
          <p:nvPr/>
        </p:nvSpPr>
        <p:spPr>
          <a:xfrm>
            <a:off x="6498000" y="1422000"/>
            <a:ext cx="45000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500" spc="-1" strike="noStrike">
                <a:solidFill>
                  <a:srgbClr val="2563eb"/>
                </a:solidFill>
                <a:latin typeface="Noto Sans CJK JP"/>
              </a:rPr>
              <a:t>camera convention</a:t>
            </a:r>
            <a:endParaRPr b="1" lang="en-US" sz="15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167" name="Rectangle 15"/>
          <p:cNvSpPr/>
          <p:nvPr/>
        </p:nvSpPr>
        <p:spPr>
          <a:xfrm>
            <a:off x="6516000" y="1854000"/>
            <a:ext cx="4644000" cy="684000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</p:sp>
      <p:sp>
        <p:nvSpPr>
          <p:cNvPr id="168" name="TextShape 16"/>
          <p:cNvSpPr txBox="1"/>
          <p:nvPr/>
        </p:nvSpPr>
        <p:spPr>
          <a:xfrm>
            <a:off x="6696000" y="1962000"/>
            <a:ext cx="18000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100" spc="-1" strike="noStrike">
                <a:solidFill>
                  <a:srgbClr val="2563eb"/>
                </a:solidFill>
                <a:latin typeface="Noto Sans CJK JP"/>
              </a:rPr>
              <a:t>OpenCV / ROS optical</a:t>
            </a:r>
            <a:endParaRPr b="1" lang="en-US" sz="11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169" name="TextShape 17"/>
          <p:cNvSpPr txBox="1"/>
          <p:nvPr/>
        </p:nvSpPr>
        <p:spPr>
          <a:xfrm>
            <a:off x="8460000" y="1962000"/>
            <a:ext cx="24840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200" spc="-1" strike="noStrike">
                <a:solidFill>
                  <a:srgbClr val="152238"/>
                </a:solidFill>
                <a:latin typeface="Noto Sans CJK JP"/>
              </a:rPr>
              <a:t>x </a:t>
            </a:r>
            <a:r>
              <a:rPr b="1" lang="zh-CN" sz="1200" spc="-1" strike="noStrike">
                <a:solidFill>
                  <a:srgbClr val="152238"/>
                </a:solidFill>
                <a:latin typeface="Noto Sans CJK JP"/>
              </a:rPr>
              <a:t>右  </a:t>
            </a:r>
            <a:r>
              <a:rPr b="1" lang="en-US" sz="1200" spc="-1" strike="noStrike">
                <a:solidFill>
                  <a:srgbClr val="152238"/>
                </a:solidFill>
                <a:latin typeface="Noto Sans CJK JP"/>
              </a:rPr>
              <a:t>/  y </a:t>
            </a:r>
            <a:r>
              <a:rPr b="1" lang="zh-CN" sz="1200" spc="-1" strike="noStrike">
                <a:solidFill>
                  <a:srgbClr val="152238"/>
                </a:solidFill>
                <a:latin typeface="Noto Sans CJK JP"/>
              </a:rPr>
              <a:t>下  </a:t>
            </a:r>
            <a:r>
              <a:rPr b="1" lang="en-US" sz="1200" spc="-1" strike="noStrike">
                <a:solidFill>
                  <a:srgbClr val="152238"/>
                </a:solidFill>
                <a:latin typeface="Noto Sans CJK JP"/>
              </a:rPr>
              <a:t>/  z </a:t>
            </a:r>
            <a:r>
              <a:rPr b="1" lang="zh-CN" sz="1200" spc="-1" strike="noStrike">
                <a:solidFill>
                  <a:srgbClr val="152238"/>
                </a:solidFill>
                <a:latin typeface="Noto Sans CJK JP"/>
              </a:rPr>
              <a:t>前方</a:t>
            </a:r>
            <a:endParaRPr b="1" lang="en-US" sz="12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170" name="Rectangle 18"/>
          <p:cNvSpPr/>
          <p:nvPr/>
        </p:nvSpPr>
        <p:spPr>
          <a:xfrm>
            <a:off x="6516000" y="2736000"/>
            <a:ext cx="4644000" cy="684000"/>
          </a:xfrm>
          <a:prstGeom prst="roundRect">
            <a:avLst/>
          </a:prstGeom>
          <a:solidFill>
            <a:srgbClr val="f1ebff"/>
          </a:solidFill>
          <a:ln>
            <a:noFill/>
          </a:ln>
        </p:spPr>
      </p:sp>
      <p:sp>
        <p:nvSpPr>
          <p:cNvPr id="171" name="TextShape 19"/>
          <p:cNvSpPr txBox="1"/>
          <p:nvPr/>
        </p:nvSpPr>
        <p:spPr>
          <a:xfrm>
            <a:off x="6696000" y="2844000"/>
            <a:ext cx="18000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100" spc="-1" strike="noStrike">
                <a:solidFill>
                  <a:srgbClr val="7c3aed"/>
                </a:solidFill>
                <a:latin typeface="Noto Sans CJK JP"/>
              </a:rPr>
              <a:t>pyrender / OpenGL</a:t>
            </a:r>
            <a:endParaRPr b="1" lang="en-US" sz="1100" spc="-1" strike="noStrike">
              <a:solidFill>
                <a:srgbClr val="7c3aed"/>
              </a:solidFill>
              <a:latin typeface="Noto Sans CJK JP"/>
              <a:ea typeface="Noto Sans CJK JP"/>
            </a:endParaRPr>
          </a:p>
        </p:txBody>
      </p:sp>
      <p:sp>
        <p:nvSpPr>
          <p:cNvPr id="172" name="TextShape 20"/>
          <p:cNvSpPr txBox="1"/>
          <p:nvPr/>
        </p:nvSpPr>
        <p:spPr>
          <a:xfrm>
            <a:off x="8460000" y="2844000"/>
            <a:ext cx="24840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200" spc="-1" strike="noStrike">
                <a:solidFill>
                  <a:srgbClr val="152238"/>
                </a:solidFill>
                <a:latin typeface="Noto Sans CJK JP"/>
              </a:rPr>
              <a:t>x </a:t>
            </a:r>
            <a:r>
              <a:rPr b="1" lang="zh-CN" sz="1200" spc="-1" strike="noStrike">
                <a:solidFill>
                  <a:srgbClr val="152238"/>
                </a:solidFill>
                <a:latin typeface="Noto Sans CJK JP"/>
              </a:rPr>
              <a:t>右  </a:t>
            </a:r>
            <a:r>
              <a:rPr b="1" lang="en-US" sz="1200" spc="-1" strike="noStrike">
                <a:solidFill>
                  <a:srgbClr val="152238"/>
                </a:solidFill>
                <a:latin typeface="Noto Sans CJK JP"/>
              </a:rPr>
              <a:t>/  y </a:t>
            </a:r>
            <a:r>
              <a:rPr b="1" lang="zh-CN" sz="1200" spc="-1" strike="noStrike">
                <a:solidFill>
                  <a:srgbClr val="152238"/>
                </a:solidFill>
                <a:latin typeface="Noto Sans CJK JP"/>
              </a:rPr>
              <a:t>上  </a:t>
            </a:r>
            <a:r>
              <a:rPr b="1" lang="en-US" sz="1200" spc="-1" strike="noStrike">
                <a:solidFill>
                  <a:srgbClr val="152238"/>
                </a:solidFill>
                <a:latin typeface="Noto Sans CJK JP"/>
              </a:rPr>
              <a:t>/  z </a:t>
            </a:r>
            <a:r>
              <a:rPr b="1" lang="zh-CN" sz="1200" spc="-1" strike="noStrike">
                <a:solidFill>
                  <a:srgbClr val="152238"/>
                </a:solidFill>
                <a:latin typeface="Noto Sans CJK JP"/>
              </a:rPr>
              <a:t>後方</a:t>
            </a:r>
            <a:endParaRPr b="1" lang="en-US" sz="12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173" name="TextShape 21"/>
          <p:cNvSpPr txBox="1"/>
          <p:nvPr/>
        </p:nvSpPr>
        <p:spPr>
          <a:xfrm>
            <a:off x="6624000" y="3770640"/>
            <a:ext cx="4428000" cy="662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1800" spc="-1" strike="noStrike">
                <a:solidFill>
                  <a:srgbClr val="152238"/>
                </a:solidFill>
                <a:latin typeface="Noto Sans Mono CJK JP"/>
              </a:rPr>
              <a:t>F = diag(1, −1, −1, 1)</a:t>
            </a:r>
            <a:endParaRPr b="1" lang="en-US" sz="1800" spc="-1" strike="noStrike">
              <a:solidFill>
                <a:srgbClr val="152238"/>
              </a:solidFill>
              <a:latin typeface="Noto Sans Mono CJK JP"/>
              <a:ea typeface="Noto Sans Mono CJK JP"/>
            </a:endParaRPr>
          </a:p>
          <a:p>
            <a:pPr algn="ctr"/>
            <a:r>
              <a:rPr b="1" lang="en-US" sz="1800" spc="-1" strike="noStrike">
                <a:solidFill>
                  <a:srgbClr val="152238"/>
                </a:solidFill>
                <a:latin typeface="Noto Sans Mono CJK JP"/>
              </a:rPr>
              <a:t>T_W_GL = T_W_C · F</a:t>
            </a:r>
            <a:endParaRPr b="1" lang="en-US" sz="1800" spc="-1" strike="noStrike">
              <a:solidFill>
                <a:srgbClr val="152238"/>
              </a:solidFill>
              <a:latin typeface="Noto Sans Mono CJK JP"/>
              <a:ea typeface="Noto Sans Mono CJK JP"/>
            </a:endParaRPr>
          </a:p>
        </p:txBody>
      </p:sp>
      <p:sp>
        <p:nvSpPr>
          <p:cNvPr id="174" name="Rectangle 22"/>
          <p:cNvSpPr/>
          <p:nvPr/>
        </p:nvSpPr>
        <p:spPr>
          <a:xfrm>
            <a:off x="7164000" y="4590000"/>
            <a:ext cx="3456000" cy="201600"/>
          </a:xfrm>
          <a:prstGeom prst="roundRect">
            <a:avLst/>
          </a:prstGeom>
          <a:solidFill>
            <a:srgbClr val="e8f7f1"/>
          </a:solidFill>
          <a:ln>
            <a:noFill/>
          </a:ln>
        </p:spPr>
      </p:sp>
      <p:sp>
        <p:nvSpPr>
          <p:cNvPr id="175" name="TextShape 23"/>
          <p:cNvSpPr txBox="1"/>
          <p:nvPr/>
        </p:nvSpPr>
        <p:spPr>
          <a:xfrm>
            <a:off x="7164000" y="4665240"/>
            <a:ext cx="34560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1100" spc="-1" strike="noStrike">
                <a:solidFill>
                  <a:srgbClr val="059669"/>
                </a:solidFill>
                <a:latin typeface="Noto Sans CJK JP"/>
              </a:rPr>
              <a:t>coordinates.py </a:t>
            </a:r>
            <a:r>
              <a:rPr b="1" lang="zh-CN" sz="1100" spc="-1" strike="noStrike">
                <a:solidFill>
                  <a:srgbClr val="059669"/>
                </a:solidFill>
                <a:latin typeface="Noto Sans CJK JP"/>
              </a:rPr>
              <a:t>の</a:t>
            </a:r>
            <a:r>
              <a:rPr b="1" lang="en-US" sz="1100" spc="-1" strike="noStrike">
                <a:solidFill>
                  <a:srgbClr val="059669"/>
                </a:solidFill>
                <a:latin typeface="Noto Sans CJK JP"/>
              </a:rPr>
              <a:t>1</a:t>
            </a:r>
            <a:r>
              <a:rPr b="1" lang="zh-CN" sz="1100" spc="-1" strike="noStrike">
                <a:solidFill>
                  <a:srgbClr val="059669"/>
                </a:solidFill>
                <a:latin typeface="Noto Sans CJK JP"/>
              </a:rPr>
              <a:t>箇所だけ</a:t>
            </a:r>
            <a:endParaRPr b="1" lang="en-US" sz="11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176" name="TextShape 24"/>
          <p:cNvSpPr txBox="1"/>
          <p:nvPr/>
        </p:nvSpPr>
        <p:spPr>
          <a:xfrm>
            <a:off x="6624000" y="5040000"/>
            <a:ext cx="4428000" cy="19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非ゼロ </a:t>
            </a:r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xyz + roll / pitch / yaw 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で </a:t>
            </a:r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unit test</a:t>
            </a:r>
            <a:endParaRPr b="0" lang="en-US" sz="10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177" name="Line 25"/>
          <p:cNvSpPr/>
          <p:nvPr/>
        </p:nvSpPr>
        <p:spPr>
          <a:xfrm>
            <a:off x="540000" y="6496200"/>
            <a:ext cx="11088000" cy="360"/>
          </a:xfrm>
          <a:prstGeom prst="line">
            <a:avLst/>
          </a:prstGeom>
          <a:ln w="432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TextShape 26"/>
          <p:cNvSpPr txBox="1"/>
          <p:nvPr/>
        </p:nvSpPr>
        <p:spPr>
          <a:xfrm>
            <a:off x="540000" y="6528600"/>
            <a:ext cx="4320000" cy="155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850" spc="-1" strike="noStrike">
                <a:solidFill>
                  <a:srgbClr val="9cb2ce"/>
                </a:solidFill>
                <a:latin typeface="Noto Sans CJK JP"/>
              </a:rPr>
              <a:t>ProbTF-demo  |  AprilTag implementation overview</a:t>
            </a:r>
            <a:endParaRPr b="0" lang="en-US" sz="850" spc="-1" strike="noStrike">
              <a:solidFill>
                <a:srgbClr val="9cb2ce"/>
              </a:solidFill>
              <a:latin typeface="Noto Sans CJK JP"/>
              <a:ea typeface="Noto Sans CJK JP"/>
            </a:endParaRPr>
          </a:p>
        </p:txBody>
      </p:sp>
      <p:sp>
        <p:nvSpPr>
          <p:cNvPr id="179" name="TextShape 27"/>
          <p:cNvSpPr txBox="1"/>
          <p:nvPr/>
        </p:nvSpPr>
        <p:spPr>
          <a:xfrm>
            <a:off x="11124000" y="6528600"/>
            <a:ext cx="504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r"/>
            <a:r>
              <a:rPr b="1" lang="en-US" sz="900" spc="-1" strike="noStrike">
                <a:solidFill>
                  <a:srgbClr val="2563eb"/>
                </a:solidFill>
                <a:latin typeface="Noto Sans CJK JP"/>
              </a:rPr>
              <a:t>04</a:t>
            </a:r>
            <a:endParaRPr b="1" lang="en-US" sz="9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</p:sp>
      <p:sp>
        <p:nvSpPr>
          <p:cNvPr id="181" name="TextShape 2"/>
          <p:cNvSpPr txBox="1"/>
          <p:nvPr/>
        </p:nvSpPr>
        <p:spPr>
          <a:xfrm>
            <a:off x="540000" y="180000"/>
            <a:ext cx="3240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000" spc="-1" strike="noStrike">
                <a:solidFill>
                  <a:srgbClr val="7c3aed"/>
                </a:solidFill>
                <a:latin typeface="Noto Sans CJK JP"/>
              </a:rPr>
              <a:t>CORNER CONTRACT</a:t>
            </a:r>
            <a:endParaRPr b="1" lang="en-US" sz="1000" spc="-1" strike="noStrike">
              <a:solidFill>
                <a:srgbClr val="7c3aed"/>
              </a:solidFill>
              <a:latin typeface="Noto Sans CJK JP"/>
              <a:ea typeface="Noto Sans CJK JP"/>
            </a:endParaRPr>
          </a:p>
        </p:txBody>
      </p:sp>
      <p:sp>
        <p:nvSpPr>
          <p:cNvPr id="182" name="TextShape 3"/>
          <p:cNvSpPr txBox="1"/>
          <p:nvPr/>
        </p:nvSpPr>
        <p:spPr>
          <a:xfrm>
            <a:off x="540000" y="367200"/>
            <a:ext cx="10908000" cy="4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2500" spc="-1" strike="noStrike">
                <a:solidFill>
                  <a:srgbClr val="152238"/>
                </a:solidFill>
                <a:latin typeface="Noto Sans CJK JP"/>
              </a:rPr>
              <a:t>corner </a:t>
            </a:r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順は </a:t>
            </a:r>
            <a:r>
              <a:rPr b="1" lang="en-US" sz="2500" spc="-1" strike="noStrike">
                <a:solidFill>
                  <a:srgbClr val="152238"/>
                </a:solidFill>
                <a:latin typeface="Noto Sans CJK JP"/>
              </a:rPr>
              <a:t>API </a:t>
            </a:r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の一部として固定</a:t>
            </a:r>
            <a:endParaRPr b="1" lang="en-US" sz="25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183" name="TextShape 4"/>
          <p:cNvSpPr txBox="1"/>
          <p:nvPr/>
        </p:nvSpPr>
        <p:spPr>
          <a:xfrm>
            <a:off x="540000" y="709200"/>
            <a:ext cx="10800000" cy="19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detector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・</a:t>
            </a:r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renderer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・</a:t>
            </a:r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IPPE 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の </a:t>
            </a:r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correspondence 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を専用 </a:t>
            </a:r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adapter 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で一致させる</a:t>
            </a:r>
            <a:endParaRPr b="0" lang="en-US" sz="10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184" name="Line 5"/>
          <p:cNvSpPr/>
          <p:nvPr/>
        </p:nvSpPr>
        <p:spPr>
          <a:xfrm>
            <a:off x="540000" y="910800"/>
            <a:ext cx="11088000" cy="360"/>
          </a:xfrm>
          <a:prstGeom prst="line">
            <a:avLst/>
          </a:prstGeom>
          <a:ln w="54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Rectangle 6"/>
          <p:cNvSpPr/>
          <p:nvPr/>
        </p:nvSpPr>
        <p:spPr>
          <a:xfrm>
            <a:off x="0" y="0"/>
            <a:ext cx="936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86" name="Rectangle 7"/>
          <p:cNvSpPr/>
          <p:nvPr/>
        </p:nvSpPr>
        <p:spPr>
          <a:xfrm>
            <a:off x="576000" y="1224000"/>
            <a:ext cx="4824000" cy="4284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187" name="TextShape 8"/>
          <p:cNvSpPr txBox="1"/>
          <p:nvPr/>
        </p:nvSpPr>
        <p:spPr>
          <a:xfrm>
            <a:off x="792000" y="1404000"/>
            <a:ext cx="4320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400" spc="-1" strike="noStrike">
                <a:solidFill>
                  <a:srgbClr val="7c3aed"/>
                </a:solidFill>
                <a:latin typeface="Noto Sans CJK JP"/>
              </a:rPr>
              <a:t>tag frame</a:t>
            </a:r>
            <a:r>
              <a:rPr b="1" lang="zh-CN" sz="1400" spc="-1" strike="noStrike">
                <a:solidFill>
                  <a:srgbClr val="7c3aed"/>
                </a:solidFill>
                <a:latin typeface="Noto Sans CJK JP"/>
              </a:rPr>
              <a:t>（</a:t>
            </a:r>
            <a:r>
              <a:rPr b="1" lang="en-US" sz="1400" spc="-1" strike="noStrike">
                <a:solidFill>
                  <a:srgbClr val="7c3aed"/>
                </a:solidFill>
                <a:latin typeface="Noto Sans CJK JP"/>
              </a:rPr>
              <a:t>y </a:t>
            </a:r>
            <a:r>
              <a:rPr b="1" lang="zh-CN" sz="1400" spc="-1" strike="noStrike">
                <a:solidFill>
                  <a:srgbClr val="7c3aed"/>
                </a:solidFill>
                <a:latin typeface="Noto Sans CJK JP"/>
              </a:rPr>
              <a:t>は画像上）</a:t>
            </a:r>
            <a:endParaRPr b="1" lang="en-US" sz="1400" spc="-1" strike="noStrike">
              <a:solidFill>
                <a:srgbClr val="7c3aed"/>
              </a:solidFill>
              <a:latin typeface="Noto Sans CJK JP"/>
              <a:ea typeface="Noto Sans CJK JP"/>
            </a:endParaRPr>
          </a:p>
        </p:txBody>
      </p:sp>
      <p:sp>
        <p:nvSpPr>
          <p:cNvPr id="188" name="Rectangle 9"/>
          <p:cNvSpPr/>
          <p:nvPr/>
        </p:nvSpPr>
        <p:spPr>
          <a:xfrm>
            <a:off x="1836000" y="1998000"/>
            <a:ext cx="2340000" cy="2340000"/>
          </a:xfrm>
          <a:prstGeom prst="roundRect">
            <a:avLst/>
          </a:prstGeom>
          <a:solidFill>
            <a:srgbClr val="ffffff"/>
          </a:solidFill>
          <a:ln w="16200">
            <a:solidFill>
              <a:srgbClr val="152238"/>
            </a:solidFill>
            <a:round/>
          </a:ln>
        </p:spPr>
      </p:sp>
      <p:sp>
        <p:nvSpPr>
          <p:cNvPr id="189" name="Ellipse 10"/>
          <p:cNvSpPr/>
          <p:nvPr/>
        </p:nvSpPr>
        <p:spPr>
          <a:xfrm>
            <a:off x="1674000" y="1800000"/>
            <a:ext cx="273600" cy="2736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90" name="TextShape 11"/>
          <p:cNvSpPr txBox="1"/>
          <p:nvPr/>
        </p:nvSpPr>
        <p:spPr>
          <a:xfrm>
            <a:off x="1440000" y="2106000"/>
            <a:ext cx="756000" cy="3322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1" lang="en-US" sz="900" spc="-1" strike="noStrike">
                <a:solidFill>
                  <a:srgbClr val="152238"/>
                </a:solidFill>
                <a:latin typeface="Noto Sans CJK JP"/>
              </a:rPr>
              <a:t>p₁  TL</a:t>
            </a:r>
            <a:endParaRPr b="1" lang="en-US" sz="9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  <a:p>
            <a:pPr algn="ctr"/>
            <a:r>
              <a:rPr b="1" lang="en-US" sz="900" spc="-1" strike="noStrike">
                <a:solidFill>
                  <a:srgbClr val="152238"/>
                </a:solidFill>
                <a:latin typeface="Noto Sans CJK JP"/>
              </a:rPr>
              <a:t>(−L/2,+L/2)</a:t>
            </a:r>
            <a:endParaRPr b="1" lang="en-US" sz="9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191" name="Ellipse 12"/>
          <p:cNvSpPr/>
          <p:nvPr/>
        </p:nvSpPr>
        <p:spPr>
          <a:xfrm>
            <a:off x="3708000" y="1800000"/>
            <a:ext cx="273600" cy="2736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92" name="TextShape 13"/>
          <p:cNvSpPr txBox="1"/>
          <p:nvPr/>
        </p:nvSpPr>
        <p:spPr>
          <a:xfrm>
            <a:off x="3474000" y="2106000"/>
            <a:ext cx="756000" cy="3322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1" lang="en-US" sz="900" spc="-1" strike="noStrike">
                <a:solidFill>
                  <a:srgbClr val="152238"/>
                </a:solidFill>
                <a:latin typeface="Noto Sans CJK JP"/>
              </a:rPr>
              <a:t>p₂  TR</a:t>
            </a:r>
            <a:endParaRPr b="1" lang="en-US" sz="9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  <a:p>
            <a:pPr algn="ctr"/>
            <a:r>
              <a:rPr b="1" lang="en-US" sz="900" spc="-1" strike="noStrike">
                <a:solidFill>
                  <a:srgbClr val="152238"/>
                </a:solidFill>
                <a:latin typeface="Noto Sans CJK JP"/>
              </a:rPr>
              <a:t>(+L/2,+L/2)</a:t>
            </a:r>
            <a:endParaRPr b="1" lang="en-US" sz="9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193" name="Ellipse 14"/>
          <p:cNvSpPr/>
          <p:nvPr/>
        </p:nvSpPr>
        <p:spPr>
          <a:xfrm>
            <a:off x="3708000" y="4356000"/>
            <a:ext cx="273600" cy="2736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94" name="TextShape 15"/>
          <p:cNvSpPr txBox="1"/>
          <p:nvPr/>
        </p:nvSpPr>
        <p:spPr>
          <a:xfrm>
            <a:off x="3474000" y="4662000"/>
            <a:ext cx="756000" cy="3322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1" lang="en-US" sz="900" spc="-1" strike="noStrike">
                <a:solidFill>
                  <a:srgbClr val="152238"/>
                </a:solidFill>
                <a:latin typeface="Noto Sans CJK JP"/>
              </a:rPr>
              <a:t>p₃  BR</a:t>
            </a:r>
            <a:endParaRPr b="1" lang="en-US" sz="9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  <a:p>
            <a:pPr algn="ctr"/>
            <a:r>
              <a:rPr b="1" lang="en-US" sz="900" spc="-1" strike="noStrike">
                <a:solidFill>
                  <a:srgbClr val="152238"/>
                </a:solidFill>
                <a:latin typeface="Noto Sans CJK JP"/>
              </a:rPr>
              <a:t>(+L/2,−L/2)</a:t>
            </a:r>
            <a:endParaRPr b="1" lang="en-US" sz="9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195" name="Ellipse 16"/>
          <p:cNvSpPr/>
          <p:nvPr/>
        </p:nvSpPr>
        <p:spPr>
          <a:xfrm>
            <a:off x="1674000" y="4356000"/>
            <a:ext cx="273600" cy="2736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96" name="TextShape 17"/>
          <p:cNvSpPr txBox="1"/>
          <p:nvPr/>
        </p:nvSpPr>
        <p:spPr>
          <a:xfrm>
            <a:off x="1440000" y="4662000"/>
            <a:ext cx="756000" cy="3322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1" lang="en-US" sz="900" spc="-1" strike="noStrike">
                <a:solidFill>
                  <a:srgbClr val="152238"/>
                </a:solidFill>
                <a:latin typeface="Noto Sans CJK JP"/>
              </a:rPr>
              <a:t>p₄  BL</a:t>
            </a:r>
            <a:endParaRPr b="1" lang="en-US" sz="9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  <a:p>
            <a:pPr algn="ctr"/>
            <a:r>
              <a:rPr b="1" lang="en-US" sz="900" spc="-1" strike="noStrike">
                <a:solidFill>
                  <a:srgbClr val="152238"/>
                </a:solidFill>
                <a:latin typeface="Noto Sans CJK JP"/>
              </a:rPr>
              <a:t>(−L/2,−L/2)</a:t>
            </a:r>
            <a:endParaRPr b="1" lang="en-US" sz="9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197" name="TextShape 18"/>
          <p:cNvSpPr txBox="1"/>
          <p:nvPr/>
        </p:nvSpPr>
        <p:spPr>
          <a:xfrm>
            <a:off x="2268000" y="2772000"/>
            <a:ext cx="1476000" cy="33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1" lang="en-US" sz="1800" spc="-1" strike="noStrike">
                <a:solidFill>
                  <a:srgbClr val="152238"/>
                </a:solidFill>
                <a:latin typeface="Noto Sans CJK JP"/>
              </a:rPr>
              <a:t>AprilTag</a:t>
            </a:r>
            <a:endParaRPr b="1" lang="en-US" sz="18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198" name="TextShape 19"/>
          <p:cNvSpPr txBox="1"/>
          <p:nvPr/>
        </p:nvSpPr>
        <p:spPr>
          <a:xfrm>
            <a:off x="2268000" y="3114000"/>
            <a:ext cx="1476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1" lang="en-US" sz="1400" spc="-1" strike="noStrike">
                <a:solidFill>
                  <a:srgbClr val="7c3aed"/>
                </a:solidFill>
                <a:latin typeface="Noto Sans CJK JP"/>
              </a:rPr>
              <a:t>1 → 2 → 3 → 4</a:t>
            </a:r>
            <a:endParaRPr b="1" lang="en-US" sz="1400" spc="-1" strike="noStrike">
              <a:solidFill>
                <a:srgbClr val="7c3aed"/>
              </a:solidFill>
              <a:latin typeface="Noto Sans CJK JP"/>
              <a:ea typeface="Noto Sans CJK JP"/>
            </a:endParaRPr>
          </a:p>
        </p:txBody>
      </p:sp>
      <p:sp>
        <p:nvSpPr>
          <p:cNvPr id="199" name="Rectangle 20"/>
          <p:cNvSpPr/>
          <p:nvPr/>
        </p:nvSpPr>
        <p:spPr>
          <a:xfrm>
            <a:off x="5940000" y="1224000"/>
            <a:ext cx="5472000" cy="4284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200" name="TextShape 21"/>
          <p:cNvSpPr txBox="1"/>
          <p:nvPr/>
        </p:nvSpPr>
        <p:spPr>
          <a:xfrm>
            <a:off x="6174000" y="1404000"/>
            <a:ext cx="4968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400" spc="-1" strike="noStrike">
                <a:solidFill>
                  <a:srgbClr val="7c3aed"/>
                </a:solidFill>
                <a:latin typeface="Noto Sans CJK JP"/>
              </a:rPr>
              <a:t>OpenCV contract</a:t>
            </a:r>
            <a:endParaRPr b="1" lang="en-US" sz="1400" spc="-1" strike="noStrike">
              <a:solidFill>
                <a:srgbClr val="7c3aed"/>
              </a:solidFill>
              <a:latin typeface="Noto Sans CJK JP"/>
              <a:ea typeface="Noto Sans CJK JP"/>
            </a:endParaRPr>
          </a:p>
        </p:txBody>
      </p:sp>
      <p:sp>
        <p:nvSpPr>
          <p:cNvPr id="201" name="TextShape 22"/>
          <p:cNvSpPr txBox="1"/>
          <p:nvPr/>
        </p:nvSpPr>
        <p:spPr>
          <a:xfrm>
            <a:off x="6264000" y="1800000"/>
            <a:ext cx="4860000" cy="518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400" spc="-1" strike="noStrike">
                <a:solidFill>
                  <a:srgbClr val="152238"/>
                </a:solidFill>
                <a:latin typeface="Noto Sans CJK JP"/>
              </a:rPr>
              <a:t>ArucoDetector</a:t>
            </a:r>
            <a:endParaRPr b="1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  <a:p>
            <a:r>
              <a:rPr b="1" lang="en-US" sz="1400" spc="-1" strike="noStrike">
                <a:solidFill>
                  <a:srgbClr val="152238"/>
                </a:solidFill>
                <a:latin typeface="Noto Sans CJK JP"/>
              </a:rPr>
              <a:t>ID </a:t>
            </a:r>
            <a:r>
              <a:rPr b="1" lang="zh-CN" sz="1400" spc="-1" strike="noStrike">
                <a:solidFill>
                  <a:srgbClr val="152238"/>
                </a:solidFill>
                <a:latin typeface="Noto Sans CJK JP"/>
              </a:rPr>
              <a:t>の面内回転を復号して </a:t>
            </a:r>
            <a:r>
              <a:rPr b="1" lang="en-US" sz="1400" spc="-1" strike="noStrike">
                <a:solidFill>
                  <a:srgbClr val="152238"/>
                </a:solidFill>
                <a:latin typeface="Noto Sans CJK JP"/>
              </a:rPr>
              <a:t>TL → TR → BR → BL</a:t>
            </a:r>
            <a:endParaRPr b="1" lang="en-US" sz="14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202" name="TextShape 23"/>
          <p:cNvSpPr txBox="1"/>
          <p:nvPr/>
        </p:nvSpPr>
        <p:spPr>
          <a:xfrm>
            <a:off x="8100000" y="2474640"/>
            <a:ext cx="324000" cy="47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2600" spc="-1" strike="noStrike">
                <a:solidFill>
                  <a:srgbClr val="7c3aed"/>
                </a:solidFill>
                <a:latin typeface="Noto Sans CJK JP"/>
              </a:rPr>
              <a:t>→</a:t>
            </a:r>
            <a:endParaRPr b="1" lang="en-US" sz="2600" spc="-1" strike="noStrike">
              <a:solidFill>
                <a:srgbClr val="7c3aed"/>
              </a:solidFill>
              <a:latin typeface="Noto Sans CJK JP"/>
              <a:ea typeface="Noto Sans CJK JP"/>
            </a:endParaRPr>
          </a:p>
        </p:txBody>
      </p:sp>
      <p:sp>
        <p:nvSpPr>
          <p:cNvPr id="203" name="TextShape 24"/>
          <p:cNvSpPr txBox="1"/>
          <p:nvPr/>
        </p:nvSpPr>
        <p:spPr>
          <a:xfrm>
            <a:off x="6264000" y="2772000"/>
            <a:ext cx="4860000" cy="4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300" spc="-1" strike="noStrike">
                <a:solidFill>
                  <a:srgbClr val="152238"/>
                </a:solidFill>
                <a:latin typeface="Noto Sans CJK JP"/>
              </a:rPr>
              <a:t>solvePnPGeneric(..., SOLVEPNP_IPPE_SQUARE)</a:t>
            </a:r>
            <a:endParaRPr b="1" lang="en-US" sz="13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  <a:p>
            <a:r>
              <a:rPr b="1" lang="zh-CN" sz="1300" spc="-1" strike="noStrike">
                <a:solidFill>
                  <a:srgbClr val="152238"/>
                </a:solidFill>
                <a:latin typeface="Noto Sans CJK JP"/>
              </a:rPr>
              <a:t>上記 </a:t>
            </a:r>
            <a:r>
              <a:rPr b="1" lang="en-US" sz="1300" spc="-1" strike="noStrike">
                <a:solidFill>
                  <a:srgbClr val="152238"/>
                </a:solidFill>
                <a:latin typeface="Noto Sans CJK JP"/>
              </a:rPr>
              <a:t>object points </a:t>
            </a:r>
            <a:r>
              <a:rPr b="1" lang="zh-CN" sz="1300" spc="-1" strike="noStrike">
                <a:solidFill>
                  <a:srgbClr val="152238"/>
                </a:solidFill>
                <a:latin typeface="Noto Sans CJK JP"/>
              </a:rPr>
              <a:t>を厳密な順で渡す</a:t>
            </a:r>
            <a:endParaRPr b="1" lang="en-US" sz="13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204" name="Rectangle 25"/>
          <p:cNvSpPr/>
          <p:nvPr/>
        </p:nvSpPr>
        <p:spPr>
          <a:xfrm>
            <a:off x="6264000" y="3636000"/>
            <a:ext cx="4860000" cy="972000"/>
          </a:xfrm>
          <a:prstGeom prst="roundRect">
            <a:avLst/>
          </a:prstGeom>
          <a:solidFill>
            <a:srgbClr val="fdecec"/>
          </a:solidFill>
          <a:ln w="7200">
            <a:solidFill>
              <a:srgbClr val="f3a6a6"/>
            </a:solidFill>
            <a:round/>
          </a:ln>
        </p:spPr>
      </p:sp>
      <p:sp>
        <p:nvSpPr>
          <p:cNvPr id="205" name="TextShape 26"/>
          <p:cNvSpPr txBox="1"/>
          <p:nvPr/>
        </p:nvSpPr>
        <p:spPr>
          <a:xfrm>
            <a:off x="6444000" y="3798000"/>
            <a:ext cx="4500000" cy="4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1150" spc="-1" strike="noStrike">
                <a:solidFill>
                  <a:srgbClr val="dc2626"/>
                </a:solidFill>
                <a:latin typeface="Noto Sans CJK JP"/>
              </a:rPr>
              <a:t>参照文書の例示順をそのまま </a:t>
            </a:r>
            <a:r>
              <a:rPr b="1" lang="en-US" sz="1150" spc="-1" strike="noStrike">
                <a:solidFill>
                  <a:srgbClr val="dc2626"/>
                </a:solidFill>
                <a:latin typeface="Noto Sans CJK JP"/>
              </a:rPr>
              <a:t>IPPE </a:t>
            </a:r>
            <a:r>
              <a:rPr b="1" lang="zh-CN" sz="1150" spc="-1" strike="noStrike">
                <a:solidFill>
                  <a:srgbClr val="dc2626"/>
                </a:solidFill>
                <a:latin typeface="Noto Sans CJK JP"/>
              </a:rPr>
              <a:t>に渡さない</a:t>
            </a:r>
            <a:endParaRPr b="1" lang="en-US" sz="115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  <a:p>
            <a:r>
              <a:rPr b="1" lang="zh-CN" sz="1150" spc="-1" strike="noStrike">
                <a:solidFill>
                  <a:srgbClr val="dc2626"/>
                </a:solidFill>
                <a:latin typeface="Noto Sans CJK JP"/>
              </a:rPr>
              <a:t>上下反転・</a:t>
            </a:r>
            <a:r>
              <a:rPr b="1" lang="en-US" sz="1150" spc="-1" strike="noStrike">
                <a:solidFill>
                  <a:srgbClr val="dc2626"/>
                </a:solidFill>
                <a:latin typeface="Noto Sans CJK JP"/>
              </a:rPr>
              <a:t>transpose </a:t>
            </a:r>
            <a:r>
              <a:rPr b="1" lang="zh-CN" sz="1150" spc="-1" strike="noStrike">
                <a:solidFill>
                  <a:srgbClr val="dc2626"/>
                </a:solidFill>
                <a:latin typeface="Noto Sans CJK JP"/>
              </a:rPr>
              <a:t>は正面タグだけでは隠れる</a:t>
            </a:r>
            <a:endParaRPr b="1" lang="en-US" sz="115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</p:txBody>
      </p:sp>
      <p:sp>
        <p:nvSpPr>
          <p:cNvPr id="206" name="Rectangle 27"/>
          <p:cNvSpPr/>
          <p:nvPr/>
        </p:nvSpPr>
        <p:spPr>
          <a:xfrm>
            <a:off x="6660000" y="4878000"/>
            <a:ext cx="4068000" cy="201600"/>
          </a:xfrm>
          <a:prstGeom prst="roundRect">
            <a:avLst/>
          </a:prstGeom>
          <a:solidFill>
            <a:srgbClr val="e8f7f1"/>
          </a:solidFill>
          <a:ln>
            <a:noFill/>
          </a:ln>
        </p:spPr>
      </p:sp>
      <p:sp>
        <p:nvSpPr>
          <p:cNvPr id="207" name="TextShape 28"/>
          <p:cNvSpPr txBox="1"/>
          <p:nvPr/>
        </p:nvSpPr>
        <p:spPr>
          <a:xfrm>
            <a:off x="6660000" y="4953240"/>
            <a:ext cx="4068000" cy="19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1050" spc="-1" strike="noStrike">
                <a:solidFill>
                  <a:srgbClr val="059669"/>
                </a:solidFill>
                <a:latin typeface="Noto Sans CJK JP"/>
              </a:rPr>
              <a:t>rendered corner ↔ projectPoints : max ≤ 2 px</a:t>
            </a:r>
            <a:endParaRPr b="1" lang="en-US" sz="105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208" name="Line 29"/>
          <p:cNvSpPr/>
          <p:nvPr/>
        </p:nvSpPr>
        <p:spPr>
          <a:xfrm>
            <a:off x="540000" y="6496200"/>
            <a:ext cx="11088000" cy="360"/>
          </a:xfrm>
          <a:prstGeom prst="line">
            <a:avLst/>
          </a:prstGeom>
          <a:ln w="432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TextShape 30"/>
          <p:cNvSpPr txBox="1"/>
          <p:nvPr/>
        </p:nvSpPr>
        <p:spPr>
          <a:xfrm>
            <a:off x="540000" y="6528600"/>
            <a:ext cx="4320000" cy="155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850" spc="-1" strike="noStrike">
                <a:solidFill>
                  <a:srgbClr val="9cb2ce"/>
                </a:solidFill>
                <a:latin typeface="Noto Sans CJK JP"/>
              </a:rPr>
              <a:t>ProbTF-demo  |  AprilTag implementation overview</a:t>
            </a:r>
            <a:endParaRPr b="0" lang="en-US" sz="850" spc="-1" strike="noStrike">
              <a:solidFill>
                <a:srgbClr val="9cb2ce"/>
              </a:solidFill>
              <a:latin typeface="Noto Sans CJK JP"/>
              <a:ea typeface="Noto Sans CJK JP"/>
            </a:endParaRPr>
          </a:p>
        </p:txBody>
      </p:sp>
      <p:sp>
        <p:nvSpPr>
          <p:cNvPr id="210" name="TextShape 31"/>
          <p:cNvSpPr txBox="1"/>
          <p:nvPr/>
        </p:nvSpPr>
        <p:spPr>
          <a:xfrm>
            <a:off x="11124000" y="6528600"/>
            <a:ext cx="504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r"/>
            <a:r>
              <a:rPr b="1" lang="en-US" sz="900" spc="-1" strike="noStrike">
                <a:solidFill>
                  <a:srgbClr val="2563eb"/>
                </a:solidFill>
                <a:latin typeface="Noto Sans CJK JP"/>
              </a:rPr>
              <a:t>05</a:t>
            </a:r>
            <a:endParaRPr b="1" lang="en-US" sz="9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</p:sp>
      <p:sp>
        <p:nvSpPr>
          <p:cNvPr id="212" name="TextShape 2"/>
          <p:cNvSpPr txBox="1"/>
          <p:nvPr/>
        </p:nvSpPr>
        <p:spPr>
          <a:xfrm>
            <a:off x="540000" y="180000"/>
            <a:ext cx="3240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000" spc="-1" strike="noStrike">
                <a:solidFill>
                  <a:srgbClr val="2563eb"/>
                </a:solidFill>
                <a:latin typeface="Noto Sans CJK JP"/>
              </a:rPr>
              <a:t>PHASE 1  |  RENDERER</a:t>
            </a:r>
            <a:endParaRPr b="1" lang="en-US" sz="10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213" name="TextShape 3"/>
          <p:cNvSpPr txBox="1"/>
          <p:nvPr/>
        </p:nvSpPr>
        <p:spPr>
          <a:xfrm>
            <a:off x="540000" y="367200"/>
            <a:ext cx="10908000" cy="4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可視性を保証してから </a:t>
            </a:r>
            <a:r>
              <a:rPr b="1" lang="en-US" sz="2500" spc="-1" strike="noStrike">
                <a:solidFill>
                  <a:srgbClr val="152238"/>
                </a:solidFill>
                <a:latin typeface="Noto Sans CJK JP"/>
              </a:rPr>
              <a:t>world pose </a:t>
            </a:r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へ変換</a:t>
            </a:r>
            <a:endParaRPr b="1" lang="en-US" sz="25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214" name="TextShape 4"/>
          <p:cNvSpPr txBox="1"/>
          <p:nvPr/>
        </p:nvSpPr>
        <p:spPr>
          <a:xfrm>
            <a:off x="540000" y="709200"/>
            <a:ext cx="10800000" cy="19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美観よりも </a:t>
            </a:r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geometry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・</a:t>
            </a:r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determinism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・</a:t>
            </a:r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failure scenario 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を優先</a:t>
            </a:r>
            <a:endParaRPr b="0" lang="en-US" sz="10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215" name="Line 5"/>
          <p:cNvSpPr/>
          <p:nvPr/>
        </p:nvSpPr>
        <p:spPr>
          <a:xfrm>
            <a:off x="540000" y="910800"/>
            <a:ext cx="11088000" cy="360"/>
          </a:xfrm>
          <a:prstGeom prst="line">
            <a:avLst/>
          </a:prstGeom>
          <a:ln w="54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Rectangle 6"/>
          <p:cNvSpPr/>
          <p:nvPr/>
        </p:nvSpPr>
        <p:spPr>
          <a:xfrm>
            <a:off x="0" y="0"/>
            <a:ext cx="936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17" name="Rectangle 7"/>
          <p:cNvSpPr/>
          <p:nvPr/>
        </p:nvSpPr>
        <p:spPr>
          <a:xfrm>
            <a:off x="568800" y="1234800"/>
            <a:ext cx="3736800" cy="28152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pic>
        <p:nvPicPr>
          <p:cNvPr id="218" name="" descr=""/>
          <p:cNvPicPr/>
          <p:nvPr/>
        </p:nvPicPr>
        <p:blipFill>
          <a:blip r:embed="rId1"/>
          <a:stretch/>
        </p:blipFill>
        <p:spPr>
          <a:xfrm>
            <a:off x="594000" y="1260000"/>
            <a:ext cx="3686400" cy="2764800"/>
          </a:xfrm>
          <a:prstGeom prst="rect">
            <a:avLst/>
          </a:prstGeom>
          <a:ln>
            <a:noFill/>
          </a:ln>
        </p:spPr>
      </p:pic>
      <p:sp>
        <p:nvSpPr>
          <p:cNvPr id="219" name="TextShape 8"/>
          <p:cNvSpPr txBox="1"/>
          <p:nvPr/>
        </p:nvSpPr>
        <p:spPr>
          <a:xfrm>
            <a:off x="648000" y="4122000"/>
            <a:ext cx="3564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0" lang="en-US" sz="900" spc="-1" strike="noStrike">
                <a:solidFill>
                  <a:srgbClr val="5c6b82"/>
                </a:solidFill>
                <a:latin typeface="Noto Sans CJK JP"/>
              </a:rPr>
              <a:t>moderate fixture  |  GT / detected / mode axes</a:t>
            </a:r>
            <a:endParaRPr b="0" lang="en-US" sz="9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220" name="Rectangle 9"/>
          <p:cNvSpPr/>
          <p:nvPr/>
        </p:nvSpPr>
        <p:spPr>
          <a:xfrm>
            <a:off x="4608000" y="1260000"/>
            <a:ext cx="3204000" cy="2772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221" name="TextShape 10"/>
          <p:cNvSpPr txBox="1"/>
          <p:nvPr/>
        </p:nvSpPr>
        <p:spPr>
          <a:xfrm>
            <a:off x="4824000" y="1429200"/>
            <a:ext cx="2736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400" spc="-1" strike="noStrike">
                <a:solidFill>
                  <a:srgbClr val="2563eb"/>
                </a:solidFill>
                <a:latin typeface="Noto Sans CJK JP"/>
              </a:rPr>
              <a:t>render path</a:t>
            </a:r>
            <a:endParaRPr b="1" lang="en-US" sz="14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222" name="TextShape 11"/>
          <p:cNvSpPr txBox="1"/>
          <p:nvPr/>
        </p:nvSpPr>
        <p:spPr>
          <a:xfrm>
            <a:off x="4824000" y="1782000"/>
            <a:ext cx="2736000" cy="160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150" spc="-1" strike="noStrike">
                <a:solidFill>
                  <a:srgbClr val="152238"/>
                </a:solidFill>
                <a:latin typeface="Noto Sans CJK JP"/>
              </a:rPr>
              <a:t>• </a:t>
            </a:r>
            <a:r>
              <a:rPr b="0" lang="en-US" sz="1150" spc="-1" strike="noStrike">
                <a:solidFill>
                  <a:srgbClr val="152238"/>
                </a:solidFill>
                <a:latin typeface="Noto Sans CJK JP"/>
              </a:rPr>
              <a:t>IntrinsicsCamera(K)</a:t>
            </a:r>
            <a:endParaRPr b="0" lang="en-US" sz="115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  <a:p>
            <a:r>
              <a:rPr b="0" lang="en-US" sz="1150" spc="-1" strike="noStrike">
                <a:solidFill>
                  <a:srgbClr val="152238"/>
                </a:solidFill>
                <a:latin typeface="Noto Sans CJK JP"/>
              </a:rPr>
              <a:t>• </a:t>
            </a:r>
            <a:r>
              <a:rPr b="0" lang="en-US" sz="1150" spc="-1" strike="noStrike">
                <a:solidFill>
                  <a:srgbClr val="152238"/>
                </a:solidFill>
                <a:latin typeface="Noto Sans CJK JP"/>
              </a:rPr>
              <a:t>AprilTag + white margin</a:t>
            </a:r>
            <a:endParaRPr b="0" lang="en-US" sz="115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  <a:p>
            <a:r>
              <a:rPr b="0" lang="en-US" sz="1150" spc="-1" strike="noStrike">
                <a:solidFill>
                  <a:srgbClr val="152238"/>
                </a:solidFill>
                <a:latin typeface="Noto Sans CJK JP"/>
              </a:rPr>
              <a:t>• </a:t>
            </a:r>
            <a:r>
              <a:rPr b="0" lang="en-US" sz="1150" spc="-1" strike="noStrike">
                <a:solidFill>
                  <a:srgbClr val="152238"/>
                </a:solidFill>
                <a:latin typeface="Noto Sans CJK JP"/>
              </a:rPr>
              <a:t>coded square = 0.12 m</a:t>
            </a:r>
            <a:endParaRPr b="0" lang="en-US" sz="115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  <a:p>
            <a:r>
              <a:rPr b="0" lang="en-US" sz="1150" spc="-1" strike="noStrike">
                <a:solidFill>
                  <a:srgbClr val="152238"/>
                </a:solidFill>
                <a:latin typeface="Noto Sans CJK JP"/>
              </a:rPr>
              <a:t>• </a:t>
            </a:r>
            <a:r>
              <a:rPr b="0" lang="en-US" sz="1150" spc="-1" strike="noStrike">
                <a:solidFill>
                  <a:srgbClr val="152238"/>
                </a:solidFill>
                <a:latin typeface="Noto Sans CJK JP"/>
              </a:rPr>
              <a:t>one-sided textured quad</a:t>
            </a:r>
            <a:endParaRPr b="0" lang="en-US" sz="115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  <a:p>
            <a:r>
              <a:rPr b="0" lang="en-US" sz="1150" spc="-1" strike="noStrike">
                <a:solidFill>
                  <a:srgbClr val="152238"/>
                </a:solidFill>
                <a:latin typeface="Noto Sans CJK JP"/>
              </a:rPr>
              <a:t>• </a:t>
            </a:r>
            <a:r>
              <a:rPr b="0" lang="en-US" sz="1150" spc="-1" strike="noStrike">
                <a:solidFill>
                  <a:srgbClr val="152238"/>
                </a:solidFill>
                <a:latin typeface="Noto Sans CJK JP"/>
              </a:rPr>
              <a:t>ambient only / shadow off</a:t>
            </a:r>
            <a:endParaRPr b="0" lang="en-US" sz="115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  <a:p>
            <a:r>
              <a:rPr b="0" lang="en-US" sz="1150" spc="-1" strike="noStrike">
                <a:solidFill>
                  <a:srgbClr val="152238"/>
                </a:solidFill>
                <a:latin typeface="Noto Sans CJK JP"/>
              </a:rPr>
              <a:t>• </a:t>
            </a:r>
            <a:r>
              <a:rPr b="0" lang="en-US" sz="1150" spc="-1" strike="noStrike">
                <a:solidFill>
                  <a:srgbClr val="152238"/>
                </a:solidFill>
                <a:latin typeface="Noto Sans CJK JP"/>
              </a:rPr>
              <a:t>EGL / OSMesa lazy import</a:t>
            </a:r>
            <a:endParaRPr b="0" lang="en-US" sz="115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  <a:p>
            <a:r>
              <a:rPr b="0" lang="en-US" sz="1150" spc="-1" strike="noStrike">
                <a:solidFill>
                  <a:srgbClr val="152238"/>
                </a:solidFill>
                <a:latin typeface="Noto Sans CJK JP"/>
              </a:rPr>
              <a:t>• </a:t>
            </a:r>
            <a:r>
              <a:rPr b="0" lang="en-US" sz="1150" spc="-1" strike="noStrike">
                <a:solidFill>
                  <a:srgbClr val="152238"/>
                </a:solidFill>
                <a:latin typeface="Noto Sans CJK JP"/>
              </a:rPr>
              <a:t>RGB + metric depth + instance</a:t>
            </a:r>
            <a:endParaRPr b="0" lang="en-US" sz="115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223" name="Rectangle 12"/>
          <p:cNvSpPr/>
          <p:nvPr/>
        </p:nvSpPr>
        <p:spPr>
          <a:xfrm>
            <a:off x="4932000" y="3636000"/>
            <a:ext cx="2520000" cy="201600"/>
          </a:xfrm>
          <a:prstGeom prst="roundRect">
            <a:avLst/>
          </a:prstGeom>
          <a:solidFill>
            <a:srgbClr val="e8f7f1"/>
          </a:solidFill>
          <a:ln>
            <a:noFill/>
          </a:ln>
        </p:spPr>
      </p:sp>
      <p:sp>
        <p:nvSpPr>
          <p:cNvPr id="224" name="TextShape 13"/>
          <p:cNvSpPr txBox="1"/>
          <p:nvPr/>
        </p:nvSpPr>
        <p:spPr>
          <a:xfrm>
            <a:off x="4932000" y="3711240"/>
            <a:ext cx="2520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1000" spc="-1" strike="noStrike">
                <a:solidFill>
                  <a:srgbClr val="059669"/>
                </a:solidFill>
                <a:latin typeface="Noto Sans CJK JP"/>
              </a:rPr>
              <a:t>seed → byte-identical</a:t>
            </a:r>
            <a:endParaRPr b="1" lang="en-US" sz="10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225" name="Rectangle 14"/>
          <p:cNvSpPr/>
          <p:nvPr/>
        </p:nvSpPr>
        <p:spPr>
          <a:xfrm>
            <a:off x="8136000" y="1260000"/>
            <a:ext cx="3420000" cy="2772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226" name="TextShape 15"/>
          <p:cNvSpPr txBox="1"/>
          <p:nvPr/>
        </p:nvSpPr>
        <p:spPr>
          <a:xfrm>
            <a:off x="8352000" y="1429200"/>
            <a:ext cx="2952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400" spc="-1" strike="noStrike">
                <a:solidFill>
                  <a:srgbClr val="2563eb"/>
                </a:solidFill>
                <a:latin typeface="Noto Sans CJK JP"/>
              </a:rPr>
              <a:t>scene sampler</a:t>
            </a:r>
            <a:endParaRPr b="1" lang="en-US" sz="14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227" name="Rectangle 16"/>
          <p:cNvSpPr/>
          <p:nvPr/>
        </p:nvSpPr>
        <p:spPr>
          <a:xfrm>
            <a:off x="8352000" y="1800000"/>
            <a:ext cx="1332000" cy="396000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</p:sp>
      <p:sp>
        <p:nvSpPr>
          <p:cNvPr id="228" name="TextShape 17"/>
          <p:cNvSpPr txBox="1"/>
          <p:nvPr/>
        </p:nvSpPr>
        <p:spPr>
          <a:xfrm>
            <a:off x="8442000" y="1864800"/>
            <a:ext cx="720000" cy="1756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950" spc="-1" strike="noStrike">
                <a:solidFill>
                  <a:srgbClr val="2563eb"/>
                </a:solidFill>
                <a:latin typeface="Noto Sans CJK JP"/>
              </a:rPr>
              <a:t>frontal</a:t>
            </a:r>
            <a:endParaRPr b="1" lang="en-US" sz="95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229" name="TextShape 18"/>
          <p:cNvSpPr txBox="1"/>
          <p:nvPr/>
        </p:nvSpPr>
        <p:spPr>
          <a:xfrm>
            <a:off x="9144000" y="1864800"/>
            <a:ext cx="432000" cy="155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r"/>
            <a:r>
              <a:rPr b="1" lang="en-US" sz="850" spc="-1" strike="noStrike">
                <a:solidFill>
                  <a:srgbClr val="152238"/>
                </a:solidFill>
                <a:latin typeface="Noto Sans CJK JP"/>
              </a:rPr>
              <a:t>0–10°</a:t>
            </a:r>
            <a:endParaRPr b="1" lang="en-US" sz="85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230" name="Rectangle 19"/>
          <p:cNvSpPr/>
          <p:nvPr/>
        </p:nvSpPr>
        <p:spPr>
          <a:xfrm>
            <a:off x="9864000" y="1800000"/>
            <a:ext cx="1332000" cy="396000"/>
          </a:xfrm>
          <a:prstGeom prst="roundRect">
            <a:avLst/>
          </a:prstGeom>
          <a:solidFill>
            <a:srgbClr val="e8f7f1"/>
          </a:solidFill>
          <a:ln>
            <a:noFill/>
          </a:ln>
        </p:spPr>
      </p:sp>
      <p:sp>
        <p:nvSpPr>
          <p:cNvPr id="231" name="TextShape 20"/>
          <p:cNvSpPr txBox="1"/>
          <p:nvPr/>
        </p:nvSpPr>
        <p:spPr>
          <a:xfrm>
            <a:off x="9954000" y="1864800"/>
            <a:ext cx="720000" cy="1756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950" spc="-1" strike="noStrike">
                <a:solidFill>
                  <a:srgbClr val="059669"/>
                </a:solidFill>
                <a:latin typeface="Noto Sans CJK JP"/>
              </a:rPr>
              <a:t>moderate</a:t>
            </a:r>
            <a:endParaRPr b="1" lang="en-US" sz="95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232" name="TextShape 21"/>
          <p:cNvSpPr txBox="1"/>
          <p:nvPr/>
        </p:nvSpPr>
        <p:spPr>
          <a:xfrm>
            <a:off x="10656000" y="1864800"/>
            <a:ext cx="432000" cy="155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r"/>
            <a:r>
              <a:rPr b="1" lang="en-US" sz="850" spc="-1" strike="noStrike">
                <a:solidFill>
                  <a:srgbClr val="152238"/>
                </a:solidFill>
                <a:latin typeface="Noto Sans CJK JP"/>
              </a:rPr>
              <a:t>10–45°</a:t>
            </a:r>
            <a:endParaRPr b="1" lang="en-US" sz="85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233" name="Rectangle 22"/>
          <p:cNvSpPr/>
          <p:nvPr/>
        </p:nvSpPr>
        <p:spPr>
          <a:xfrm>
            <a:off x="8352000" y="2340000"/>
            <a:ext cx="1332000" cy="39600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</p:sp>
      <p:sp>
        <p:nvSpPr>
          <p:cNvPr id="234" name="TextShape 23"/>
          <p:cNvSpPr txBox="1"/>
          <p:nvPr/>
        </p:nvSpPr>
        <p:spPr>
          <a:xfrm>
            <a:off x="8442000" y="2404800"/>
            <a:ext cx="720000" cy="1756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950" spc="-1" strike="noStrike">
                <a:solidFill>
                  <a:srgbClr val="d97706"/>
                </a:solidFill>
                <a:latin typeface="Noto Sans CJK JP"/>
              </a:rPr>
              <a:t>oblique</a:t>
            </a:r>
            <a:endParaRPr b="1" lang="en-US" sz="950" spc="-1" strike="noStrike">
              <a:solidFill>
                <a:srgbClr val="d97706"/>
              </a:solidFill>
              <a:latin typeface="Noto Sans CJK JP"/>
              <a:ea typeface="Noto Sans CJK JP"/>
            </a:endParaRPr>
          </a:p>
        </p:txBody>
      </p:sp>
      <p:sp>
        <p:nvSpPr>
          <p:cNvPr id="235" name="TextShape 24"/>
          <p:cNvSpPr txBox="1"/>
          <p:nvPr/>
        </p:nvSpPr>
        <p:spPr>
          <a:xfrm>
            <a:off x="9144000" y="2404800"/>
            <a:ext cx="432000" cy="155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r"/>
            <a:r>
              <a:rPr b="1" lang="en-US" sz="850" spc="-1" strike="noStrike">
                <a:solidFill>
                  <a:srgbClr val="152238"/>
                </a:solidFill>
                <a:latin typeface="Noto Sans CJK JP"/>
              </a:rPr>
              <a:t>45–70°</a:t>
            </a:r>
            <a:endParaRPr b="1" lang="en-US" sz="85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236" name="Rectangle 25"/>
          <p:cNvSpPr/>
          <p:nvPr/>
        </p:nvSpPr>
        <p:spPr>
          <a:xfrm>
            <a:off x="9864000" y="2340000"/>
            <a:ext cx="1332000" cy="396000"/>
          </a:xfrm>
          <a:prstGeom prst="roundRect">
            <a:avLst/>
          </a:prstGeom>
          <a:solidFill>
            <a:srgbClr val="f1ebff"/>
          </a:solidFill>
          <a:ln>
            <a:noFill/>
          </a:ln>
        </p:spPr>
      </p:sp>
      <p:sp>
        <p:nvSpPr>
          <p:cNvPr id="237" name="TextShape 26"/>
          <p:cNvSpPr txBox="1"/>
          <p:nvPr/>
        </p:nvSpPr>
        <p:spPr>
          <a:xfrm>
            <a:off x="9954000" y="2404800"/>
            <a:ext cx="720000" cy="1756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950" spc="-1" strike="noStrike">
                <a:solidFill>
                  <a:srgbClr val="7c3aed"/>
                </a:solidFill>
                <a:latin typeface="Noto Sans CJK JP"/>
              </a:rPr>
              <a:t>small</a:t>
            </a:r>
            <a:endParaRPr b="1" lang="en-US" sz="950" spc="-1" strike="noStrike">
              <a:solidFill>
                <a:srgbClr val="7c3aed"/>
              </a:solidFill>
              <a:latin typeface="Noto Sans CJK JP"/>
              <a:ea typeface="Noto Sans CJK JP"/>
            </a:endParaRPr>
          </a:p>
        </p:txBody>
      </p:sp>
      <p:sp>
        <p:nvSpPr>
          <p:cNvPr id="238" name="TextShape 27"/>
          <p:cNvSpPr txBox="1"/>
          <p:nvPr/>
        </p:nvSpPr>
        <p:spPr>
          <a:xfrm>
            <a:off x="10656000" y="2404800"/>
            <a:ext cx="432000" cy="31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r"/>
            <a:r>
              <a:rPr b="1" lang="en-US" sz="850" spc="-1" strike="noStrike">
                <a:solidFill>
                  <a:srgbClr val="152238"/>
                </a:solidFill>
                <a:latin typeface="Noto Sans CJK JP"/>
              </a:rPr>
              <a:t>24–60 px</a:t>
            </a:r>
            <a:endParaRPr b="1" lang="en-US" sz="85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239" name="Rectangle 28"/>
          <p:cNvSpPr/>
          <p:nvPr/>
        </p:nvSpPr>
        <p:spPr>
          <a:xfrm>
            <a:off x="8352000" y="2880000"/>
            <a:ext cx="1332000" cy="396000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</p:sp>
      <p:sp>
        <p:nvSpPr>
          <p:cNvPr id="240" name="TextShape 29"/>
          <p:cNvSpPr txBox="1"/>
          <p:nvPr/>
        </p:nvSpPr>
        <p:spPr>
          <a:xfrm>
            <a:off x="8442000" y="2944800"/>
            <a:ext cx="720000" cy="1756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950" spc="-1" strike="noStrike">
                <a:solidFill>
                  <a:srgbClr val="dc2626"/>
                </a:solidFill>
                <a:latin typeface="Noto Sans CJK JP"/>
              </a:rPr>
              <a:t>occluded</a:t>
            </a:r>
            <a:endParaRPr b="1" lang="en-US" sz="95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</p:txBody>
      </p:sp>
      <p:sp>
        <p:nvSpPr>
          <p:cNvPr id="241" name="TextShape 30"/>
          <p:cNvSpPr txBox="1"/>
          <p:nvPr/>
        </p:nvSpPr>
        <p:spPr>
          <a:xfrm>
            <a:off x="9144000" y="2944800"/>
            <a:ext cx="432000" cy="155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r"/>
            <a:r>
              <a:rPr b="1" lang="en-US" sz="850" spc="-1" strike="noStrike">
                <a:solidFill>
                  <a:srgbClr val="152238"/>
                </a:solidFill>
                <a:latin typeface="Noto Sans CJK JP"/>
              </a:rPr>
              <a:t>partial</a:t>
            </a:r>
            <a:endParaRPr b="1" lang="en-US" sz="85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242" name="Rectangle 31"/>
          <p:cNvSpPr/>
          <p:nvPr/>
        </p:nvSpPr>
        <p:spPr>
          <a:xfrm>
            <a:off x="9864000" y="2880000"/>
            <a:ext cx="1332000" cy="396000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</p:sp>
      <p:sp>
        <p:nvSpPr>
          <p:cNvPr id="243" name="TextShape 32"/>
          <p:cNvSpPr txBox="1"/>
          <p:nvPr/>
        </p:nvSpPr>
        <p:spPr>
          <a:xfrm>
            <a:off x="9954000" y="2944800"/>
            <a:ext cx="720000" cy="1756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950" spc="-1" strike="noStrike">
                <a:solidFill>
                  <a:srgbClr val="0891b2"/>
                </a:solidFill>
                <a:latin typeface="Noto Sans CJK JP"/>
              </a:rPr>
              <a:t>multi_tag</a:t>
            </a:r>
            <a:endParaRPr b="1" lang="en-US" sz="950" spc="-1" strike="noStrike">
              <a:solidFill>
                <a:srgbClr val="0891b2"/>
              </a:solidFill>
              <a:latin typeface="Noto Sans CJK JP"/>
              <a:ea typeface="Noto Sans CJK JP"/>
            </a:endParaRPr>
          </a:p>
        </p:txBody>
      </p:sp>
      <p:sp>
        <p:nvSpPr>
          <p:cNvPr id="244" name="TextShape 33"/>
          <p:cNvSpPr txBox="1"/>
          <p:nvPr/>
        </p:nvSpPr>
        <p:spPr>
          <a:xfrm>
            <a:off x="10656000" y="2944800"/>
            <a:ext cx="432000" cy="155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r"/>
            <a:r>
              <a:rPr b="1" lang="en-US" sz="850" spc="-1" strike="noStrike">
                <a:solidFill>
                  <a:srgbClr val="152238"/>
                </a:solidFill>
                <a:latin typeface="Noto Sans CJK JP"/>
              </a:rPr>
              <a:t>3–5 IDs</a:t>
            </a:r>
            <a:endParaRPr b="1" lang="en-US" sz="85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245" name="TextShape 34"/>
          <p:cNvSpPr txBox="1"/>
          <p:nvPr/>
        </p:nvSpPr>
        <p:spPr>
          <a:xfrm>
            <a:off x="8352000" y="3510000"/>
            <a:ext cx="2952000" cy="3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1" lang="en-US" sz="950" spc="-1" strike="noStrike">
                <a:solidFill>
                  <a:srgbClr val="5c6b82"/>
                </a:solidFill>
                <a:latin typeface="Noto Sans CJK JP"/>
              </a:rPr>
              <a:t>z → pixel center → K⁻¹ backproject → pose → reject</a:t>
            </a:r>
            <a:endParaRPr b="1" lang="en-US" sz="9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246" name="Rectangle 35"/>
          <p:cNvSpPr/>
          <p:nvPr/>
        </p:nvSpPr>
        <p:spPr>
          <a:xfrm>
            <a:off x="576000" y="4608000"/>
            <a:ext cx="10980000" cy="900000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</p:sp>
      <p:sp>
        <p:nvSpPr>
          <p:cNvPr id="247" name="TextShape 36"/>
          <p:cNvSpPr txBox="1"/>
          <p:nvPr/>
        </p:nvSpPr>
        <p:spPr>
          <a:xfrm>
            <a:off x="792000" y="4868640"/>
            <a:ext cx="10512000" cy="30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1300" spc="-1" strike="noStrike">
                <a:solidFill>
                  <a:srgbClr val="ffffff"/>
                </a:solidFill>
                <a:latin typeface="Noto Sans CJK JP"/>
              </a:rPr>
              <a:t>camera sequence:  world tags </a:t>
            </a:r>
            <a:r>
              <a:rPr b="1" lang="zh-CN" sz="1300" spc="-1" strike="noStrike">
                <a:solidFill>
                  <a:srgbClr val="ffffff"/>
                </a:solidFill>
                <a:latin typeface="Noto Sans CJK JP"/>
              </a:rPr>
              <a:t>は固定  </a:t>
            </a:r>
            <a:r>
              <a:rPr b="1" lang="en-US" sz="1300" spc="-1" strike="noStrike">
                <a:solidFill>
                  <a:srgbClr val="ffffff"/>
                </a:solidFill>
                <a:latin typeface="Noto Sans CJK JP"/>
              </a:rPr>
              <a:t>/  T_W_C </a:t>
            </a:r>
            <a:r>
              <a:rPr b="1" lang="zh-CN" sz="1300" spc="-1" strike="noStrike">
                <a:solidFill>
                  <a:srgbClr val="ffffff"/>
                </a:solidFill>
                <a:latin typeface="Noto Sans CJK JP"/>
              </a:rPr>
              <a:t>だけを滑らかに更新  </a:t>
            </a:r>
            <a:r>
              <a:rPr b="1" lang="en-US" sz="1300" spc="-1" strike="noStrike">
                <a:solidFill>
                  <a:srgbClr val="ffffff"/>
                </a:solidFill>
                <a:latin typeface="Noto Sans CJK JP"/>
              </a:rPr>
              <a:t>/  </a:t>
            </a:r>
            <a:r>
              <a:rPr b="1" lang="zh-CN" sz="1300" spc="-1" strike="noStrike">
                <a:solidFill>
                  <a:srgbClr val="ffffff"/>
                </a:solidFill>
                <a:latin typeface="Noto Sans CJK JP"/>
              </a:rPr>
              <a:t>全 </a:t>
            </a:r>
            <a:r>
              <a:rPr b="1" lang="en-US" sz="1300" spc="-1" strike="noStrike">
                <a:solidFill>
                  <a:srgbClr val="ffffff"/>
                </a:solidFill>
                <a:latin typeface="Noto Sans CJK JP"/>
              </a:rPr>
              <a:t>frame </a:t>
            </a:r>
            <a:r>
              <a:rPr b="1" lang="zh-CN" sz="1300" spc="-1" strike="noStrike">
                <a:solidFill>
                  <a:srgbClr val="ffffff"/>
                </a:solidFill>
                <a:latin typeface="Noto Sans CJK JP"/>
              </a:rPr>
              <a:t>に完全 </a:t>
            </a:r>
            <a:r>
              <a:rPr b="1" lang="en-US" sz="1300" spc="-1" strike="noStrike">
                <a:solidFill>
                  <a:srgbClr val="ffffff"/>
                </a:solidFill>
                <a:latin typeface="Noto Sans CJK JP"/>
              </a:rPr>
              <a:t>annotation</a:t>
            </a:r>
            <a:endParaRPr b="1" lang="en-US" sz="13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248" name="Line 37"/>
          <p:cNvSpPr/>
          <p:nvPr/>
        </p:nvSpPr>
        <p:spPr>
          <a:xfrm>
            <a:off x="540000" y="6496200"/>
            <a:ext cx="11088000" cy="360"/>
          </a:xfrm>
          <a:prstGeom prst="line">
            <a:avLst/>
          </a:prstGeom>
          <a:ln w="432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TextShape 38"/>
          <p:cNvSpPr txBox="1"/>
          <p:nvPr/>
        </p:nvSpPr>
        <p:spPr>
          <a:xfrm>
            <a:off x="540000" y="6528600"/>
            <a:ext cx="4320000" cy="155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850" spc="-1" strike="noStrike">
                <a:solidFill>
                  <a:srgbClr val="9cb2ce"/>
                </a:solidFill>
                <a:latin typeface="Noto Sans CJK JP"/>
              </a:rPr>
              <a:t>ProbTF-demo  |  AprilTag implementation overview</a:t>
            </a:r>
            <a:endParaRPr b="0" lang="en-US" sz="850" spc="-1" strike="noStrike">
              <a:solidFill>
                <a:srgbClr val="9cb2ce"/>
              </a:solidFill>
              <a:latin typeface="Noto Sans CJK JP"/>
              <a:ea typeface="Noto Sans CJK JP"/>
            </a:endParaRPr>
          </a:p>
        </p:txBody>
      </p:sp>
      <p:sp>
        <p:nvSpPr>
          <p:cNvPr id="250" name="TextShape 39"/>
          <p:cNvSpPr txBox="1"/>
          <p:nvPr/>
        </p:nvSpPr>
        <p:spPr>
          <a:xfrm>
            <a:off x="11124000" y="6528600"/>
            <a:ext cx="504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r"/>
            <a:r>
              <a:rPr b="1" lang="en-US" sz="900" spc="-1" strike="noStrike">
                <a:solidFill>
                  <a:srgbClr val="2563eb"/>
                </a:solidFill>
                <a:latin typeface="Noto Sans CJK JP"/>
              </a:rPr>
              <a:t>06</a:t>
            </a:r>
            <a:endParaRPr b="1" lang="en-US" sz="9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</p:sp>
      <p:sp>
        <p:nvSpPr>
          <p:cNvPr id="252" name="TextShape 2"/>
          <p:cNvSpPr txBox="1"/>
          <p:nvPr/>
        </p:nvSpPr>
        <p:spPr>
          <a:xfrm>
            <a:off x="540000" y="180000"/>
            <a:ext cx="3240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000" spc="-1" strike="noStrike">
                <a:solidFill>
                  <a:srgbClr val="d97706"/>
                </a:solidFill>
                <a:latin typeface="Noto Sans CJK JP"/>
              </a:rPr>
              <a:t>DATASET CONTRACT</a:t>
            </a:r>
            <a:endParaRPr b="1" lang="en-US" sz="1000" spc="-1" strike="noStrike">
              <a:solidFill>
                <a:srgbClr val="d97706"/>
              </a:solidFill>
              <a:latin typeface="Noto Sans CJK JP"/>
              <a:ea typeface="Noto Sans CJK JP"/>
            </a:endParaRPr>
          </a:p>
        </p:txBody>
      </p:sp>
      <p:sp>
        <p:nvSpPr>
          <p:cNvPr id="253" name="TextShape 3"/>
          <p:cNvSpPr txBox="1"/>
          <p:nvPr/>
        </p:nvSpPr>
        <p:spPr>
          <a:xfrm>
            <a:off x="540000" y="367200"/>
            <a:ext cx="10908000" cy="4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2500" spc="-1" strike="noStrike">
                <a:solidFill>
                  <a:srgbClr val="152238"/>
                </a:solidFill>
                <a:latin typeface="Noto Sans CJK JP"/>
              </a:rPr>
              <a:t>RGB </a:t>
            </a:r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だけでなく、復元不能な真値を直接保存</a:t>
            </a:r>
            <a:endParaRPr b="1" lang="en-US" sz="25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254" name="TextShape 4"/>
          <p:cNvSpPr txBox="1"/>
          <p:nvPr/>
        </p:nvSpPr>
        <p:spPr>
          <a:xfrm>
            <a:off x="540000" y="709200"/>
            <a:ext cx="10800000" cy="19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frame directory 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が </a:t>
            </a:r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Phase 1 → Phase 3 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の明示的 </a:t>
            </a:r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wire boundary</a:t>
            </a:r>
            <a:endParaRPr b="0" lang="en-US" sz="10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255" name="Line 5"/>
          <p:cNvSpPr/>
          <p:nvPr/>
        </p:nvSpPr>
        <p:spPr>
          <a:xfrm>
            <a:off x="540000" y="910800"/>
            <a:ext cx="11088000" cy="360"/>
          </a:xfrm>
          <a:prstGeom prst="line">
            <a:avLst/>
          </a:prstGeom>
          <a:ln w="54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6" name="Rectangle 6"/>
          <p:cNvSpPr/>
          <p:nvPr/>
        </p:nvSpPr>
        <p:spPr>
          <a:xfrm>
            <a:off x="0" y="0"/>
            <a:ext cx="9360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57" name="Rectangle 7"/>
          <p:cNvSpPr/>
          <p:nvPr/>
        </p:nvSpPr>
        <p:spPr>
          <a:xfrm>
            <a:off x="576000" y="1224000"/>
            <a:ext cx="3528000" cy="2376000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</p:sp>
      <p:sp>
        <p:nvSpPr>
          <p:cNvPr id="258" name="TextShape 8"/>
          <p:cNvSpPr txBox="1"/>
          <p:nvPr/>
        </p:nvSpPr>
        <p:spPr>
          <a:xfrm>
            <a:off x="792000" y="1422000"/>
            <a:ext cx="3060000" cy="27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500" spc="-1" strike="noStrike">
                <a:solidFill>
                  <a:srgbClr val="8de8f5"/>
                </a:solidFill>
                <a:latin typeface="Noto Sans Mono CJK JP"/>
              </a:rPr>
              <a:t>frames/000000/</a:t>
            </a:r>
            <a:endParaRPr b="1" lang="en-US" sz="1500" spc="-1" strike="noStrike">
              <a:solidFill>
                <a:srgbClr val="8de8f5"/>
              </a:solidFill>
              <a:latin typeface="Noto Sans Mono CJK JP"/>
              <a:ea typeface="Noto Sans Mono CJK JP"/>
            </a:endParaRPr>
          </a:p>
        </p:txBody>
      </p:sp>
      <p:sp>
        <p:nvSpPr>
          <p:cNvPr id="259" name="TextShape 9"/>
          <p:cNvSpPr txBox="1"/>
          <p:nvPr/>
        </p:nvSpPr>
        <p:spPr>
          <a:xfrm>
            <a:off x="900000" y="1800000"/>
            <a:ext cx="2844000" cy="12963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400" spc="-1" strike="noStrike">
                <a:solidFill>
                  <a:srgbClr val="ffffff"/>
                </a:solidFill>
                <a:latin typeface="Noto Sans Mono CJK JP"/>
              </a:rPr>
              <a:t>├─ </a:t>
            </a:r>
            <a:r>
              <a:rPr b="0" lang="en-US" sz="1400" spc="-1" strike="noStrike">
                <a:solidFill>
                  <a:srgbClr val="ffffff"/>
                </a:solidFill>
                <a:latin typeface="Noto Sans Mono CJK JP"/>
              </a:rPr>
              <a:t>rgb.png</a:t>
            </a:r>
            <a:endParaRPr b="0" lang="en-US" sz="1400" spc="-1" strike="noStrike">
              <a:solidFill>
                <a:srgbClr val="ffffff"/>
              </a:solidFill>
              <a:latin typeface="Noto Sans Mono CJK JP"/>
              <a:ea typeface="Noto Sans Mono CJK JP"/>
            </a:endParaRPr>
          </a:p>
          <a:p>
            <a:r>
              <a:rPr b="0" lang="en-US" sz="1400" spc="-1" strike="noStrike">
                <a:solidFill>
                  <a:srgbClr val="ffffff"/>
                </a:solidFill>
                <a:latin typeface="Noto Sans Mono CJK JP"/>
              </a:rPr>
              <a:t>├─ </a:t>
            </a:r>
            <a:r>
              <a:rPr b="0" lang="en-US" sz="1400" spc="-1" strike="noStrike">
                <a:solidFill>
                  <a:srgbClr val="ffffff"/>
                </a:solidFill>
                <a:latin typeface="Noto Sans Mono CJK JP"/>
              </a:rPr>
              <a:t>depth.npy          # float32 [m]</a:t>
            </a:r>
            <a:endParaRPr b="0" lang="en-US" sz="1400" spc="-1" strike="noStrike">
              <a:solidFill>
                <a:srgbClr val="ffffff"/>
              </a:solidFill>
              <a:latin typeface="Noto Sans Mono CJK JP"/>
              <a:ea typeface="Noto Sans Mono CJK JP"/>
            </a:endParaRPr>
          </a:p>
          <a:p>
            <a:r>
              <a:rPr b="0" lang="en-US" sz="1400" spc="-1" strike="noStrike">
                <a:solidFill>
                  <a:srgbClr val="ffffff"/>
                </a:solidFill>
                <a:latin typeface="Noto Sans Mono CJK JP"/>
              </a:rPr>
              <a:t>├─ </a:t>
            </a:r>
            <a:r>
              <a:rPr b="0" lang="en-US" sz="1400" spc="-1" strike="noStrike">
                <a:solidFill>
                  <a:srgbClr val="ffffff"/>
                </a:solidFill>
                <a:latin typeface="Noto Sans Mono CJK JP"/>
              </a:rPr>
              <a:t>instance_id.png   # uint16</a:t>
            </a:r>
            <a:endParaRPr b="0" lang="en-US" sz="1400" spc="-1" strike="noStrike">
              <a:solidFill>
                <a:srgbClr val="ffffff"/>
              </a:solidFill>
              <a:latin typeface="Noto Sans Mono CJK JP"/>
              <a:ea typeface="Noto Sans Mono CJK JP"/>
            </a:endParaRPr>
          </a:p>
          <a:p>
            <a:r>
              <a:rPr b="0" lang="en-US" sz="1400" spc="-1" strike="noStrike">
                <a:solidFill>
                  <a:srgbClr val="ffffff"/>
                </a:solidFill>
                <a:latin typeface="Noto Sans Mono CJK JP"/>
              </a:rPr>
              <a:t>└─ </a:t>
            </a:r>
            <a:r>
              <a:rPr b="0" lang="en-US" sz="1400" spc="-1" strike="noStrike">
                <a:solidFill>
                  <a:srgbClr val="ffffff"/>
                </a:solidFill>
                <a:latin typeface="Noto Sans Mono CJK JP"/>
              </a:rPr>
              <a:t>metadata.json</a:t>
            </a:r>
            <a:endParaRPr b="0" lang="en-US" sz="1400" spc="-1" strike="noStrike">
              <a:solidFill>
                <a:srgbClr val="ffffff"/>
              </a:solidFill>
              <a:latin typeface="Noto Sans Mono CJK JP"/>
              <a:ea typeface="Noto Sans Mono CJK JP"/>
            </a:endParaRPr>
          </a:p>
        </p:txBody>
      </p:sp>
      <p:sp>
        <p:nvSpPr>
          <p:cNvPr id="260" name="TextShape 10"/>
          <p:cNvSpPr txBox="1"/>
          <p:nvPr/>
        </p:nvSpPr>
        <p:spPr>
          <a:xfrm>
            <a:off x="792000" y="3222000"/>
            <a:ext cx="3060000" cy="19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050" spc="-1" strike="noStrike">
                <a:solidFill>
                  <a:srgbClr val="c2d1e5"/>
                </a:solidFill>
                <a:latin typeface="Noto Sans CJK JP"/>
              </a:rPr>
              <a:t>seed </a:t>
            </a:r>
            <a:r>
              <a:rPr b="0" lang="zh-CN" sz="1050" spc="-1" strike="noStrike">
                <a:solidFill>
                  <a:srgbClr val="c2d1e5"/>
                </a:solidFill>
                <a:latin typeface="Noto Sans CJK JP"/>
              </a:rPr>
              <a:t>固定で全 </a:t>
            </a:r>
            <a:r>
              <a:rPr b="0" lang="en-US" sz="1050" spc="-1" strike="noStrike">
                <a:solidFill>
                  <a:srgbClr val="c2d1e5"/>
                </a:solidFill>
                <a:latin typeface="Noto Sans CJK JP"/>
              </a:rPr>
              <a:t>file </a:t>
            </a:r>
            <a:r>
              <a:rPr b="0" lang="zh-CN" sz="1050" spc="-1" strike="noStrike">
                <a:solidFill>
                  <a:srgbClr val="c2d1e5"/>
                </a:solidFill>
                <a:latin typeface="Noto Sans CJK JP"/>
              </a:rPr>
              <a:t>を再生成</a:t>
            </a:r>
            <a:endParaRPr b="0" lang="en-US" sz="1050" spc="-1" strike="noStrike">
              <a:solidFill>
                <a:srgbClr val="c2d1e5"/>
              </a:solidFill>
              <a:latin typeface="Noto Sans CJK JP"/>
              <a:ea typeface="Noto Sans CJK JP"/>
            </a:endParaRPr>
          </a:p>
        </p:txBody>
      </p:sp>
      <p:sp>
        <p:nvSpPr>
          <p:cNvPr id="261" name="Rectangle 11"/>
          <p:cNvSpPr/>
          <p:nvPr/>
        </p:nvSpPr>
        <p:spPr>
          <a:xfrm>
            <a:off x="4428000" y="1224000"/>
            <a:ext cx="3348000" cy="2376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262" name="TextShape 12"/>
          <p:cNvSpPr txBox="1"/>
          <p:nvPr/>
        </p:nvSpPr>
        <p:spPr>
          <a:xfrm>
            <a:off x="4644000" y="1422000"/>
            <a:ext cx="2916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400" spc="-1" strike="noStrike">
                <a:solidFill>
                  <a:srgbClr val="d97706"/>
                </a:solidFill>
                <a:latin typeface="Noto Sans CJK JP"/>
              </a:rPr>
              <a:t>metadata.json</a:t>
            </a:r>
            <a:endParaRPr b="1" lang="en-US" sz="1400" spc="-1" strike="noStrike">
              <a:solidFill>
                <a:srgbClr val="d97706"/>
              </a:solidFill>
              <a:latin typeface="Noto Sans CJK JP"/>
              <a:ea typeface="Noto Sans CJK JP"/>
            </a:endParaRPr>
          </a:p>
        </p:txBody>
      </p:sp>
      <p:sp>
        <p:nvSpPr>
          <p:cNvPr id="263" name="TextShape 13"/>
          <p:cNvSpPr txBox="1"/>
          <p:nvPr/>
        </p:nvSpPr>
        <p:spPr>
          <a:xfrm>
            <a:off x="4644000" y="1764000"/>
            <a:ext cx="2880000" cy="15382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050" spc="-1" strike="noStrike">
                <a:solidFill>
                  <a:srgbClr val="152238"/>
                </a:solidFill>
                <a:latin typeface="Noto Sans Mono CJK JP"/>
              </a:rPr>
              <a:t>camera</a:t>
            </a:r>
            <a:endParaRPr b="0" lang="en-US" sz="1050" spc="-1" strike="noStrike">
              <a:solidFill>
                <a:srgbClr val="152238"/>
              </a:solidFill>
              <a:latin typeface="Noto Sans Mono CJK JP"/>
              <a:ea typeface="Noto Sans Mono CJK JP"/>
            </a:endParaRPr>
          </a:p>
          <a:p>
            <a:r>
              <a:rPr b="0" lang="en-US" sz="1050" spc="-1" strike="noStrike">
                <a:solidFill>
                  <a:srgbClr val="152238"/>
                </a:solidFill>
                <a:latin typeface="Noto Sans Mono CJK JP"/>
              </a:rPr>
              <a:t>  </a:t>
            </a:r>
            <a:r>
              <a:rPr b="0" lang="en-US" sz="1050" spc="-1" strike="noStrike">
                <a:solidFill>
                  <a:srgbClr val="152238"/>
                </a:solidFill>
                <a:latin typeface="Noto Sans Mono CJK JP"/>
              </a:rPr>
              <a:t>K / distortion / T_W_C</a:t>
            </a:r>
            <a:endParaRPr b="0" lang="en-US" sz="1050" spc="-1" strike="noStrike">
              <a:solidFill>
                <a:srgbClr val="152238"/>
              </a:solidFill>
              <a:latin typeface="Noto Sans Mono CJK JP"/>
              <a:ea typeface="Noto Sans Mono CJK JP"/>
            </a:endParaRPr>
          </a:p>
          <a:p>
            <a:endParaRPr b="0" lang="en-US" sz="1050" spc="-1" strike="noStrike">
              <a:solidFill>
                <a:srgbClr val="152238"/>
              </a:solidFill>
              <a:latin typeface="Noto Sans Mono CJK JP"/>
              <a:ea typeface="Noto Sans Mono CJK JP"/>
            </a:endParaRPr>
          </a:p>
          <a:p>
            <a:r>
              <a:rPr b="0" lang="en-US" sz="1050" spc="-1" strike="noStrike">
                <a:solidFill>
                  <a:srgbClr val="152238"/>
                </a:solidFill>
                <a:latin typeface="Noto Sans Mono CJK JP"/>
              </a:rPr>
              <a:t>tag[i]</a:t>
            </a:r>
            <a:endParaRPr b="0" lang="en-US" sz="1050" spc="-1" strike="noStrike">
              <a:solidFill>
                <a:srgbClr val="152238"/>
              </a:solidFill>
              <a:latin typeface="Noto Sans Mono CJK JP"/>
              <a:ea typeface="Noto Sans Mono CJK JP"/>
            </a:endParaRPr>
          </a:p>
          <a:p>
            <a:r>
              <a:rPr b="0" lang="en-US" sz="1050" spc="-1" strike="noStrike">
                <a:solidFill>
                  <a:srgbClr val="152238"/>
                </a:solidFill>
                <a:latin typeface="Noto Sans Mono CJK JP"/>
              </a:rPr>
              <a:t>  </a:t>
            </a:r>
            <a:r>
              <a:rPr b="0" lang="en-US" sz="1050" spc="-1" strike="noStrike">
                <a:solidFill>
                  <a:srgbClr val="152238"/>
                </a:solidFill>
                <a:latin typeface="Noto Sans Mono CJK JP"/>
              </a:rPr>
              <a:t>family / id / size_m</a:t>
            </a:r>
            <a:endParaRPr b="0" lang="en-US" sz="1050" spc="-1" strike="noStrike">
              <a:solidFill>
                <a:srgbClr val="152238"/>
              </a:solidFill>
              <a:latin typeface="Noto Sans Mono CJK JP"/>
              <a:ea typeface="Noto Sans Mono CJK JP"/>
            </a:endParaRPr>
          </a:p>
          <a:p>
            <a:r>
              <a:rPr b="0" lang="en-US" sz="1050" spc="-1" strike="noStrike">
                <a:solidFill>
                  <a:srgbClr val="152238"/>
                </a:solidFill>
                <a:latin typeface="Noto Sans Mono CJK JP"/>
              </a:rPr>
              <a:t>  </a:t>
            </a:r>
            <a:r>
              <a:rPr b="0" lang="en-US" sz="1050" spc="-1" strike="noStrike">
                <a:solidFill>
                  <a:srgbClr val="152238"/>
                </a:solidFill>
                <a:latin typeface="Noto Sans Mono CJK JP"/>
              </a:rPr>
              <a:t>T_W_M / T_C_M</a:t>
            </a:r>
            <a:endParaRPr b="0" lang="en-US" sz="1050" spc="-1" strike="noStrike">
              <a:solidFill>
                <a:srgbClr val="152238"/>
              </a:solidFill>
              <a:latin typeface="Noto Sans Mono CJK JP"/>
              <a:ea typeface="Noto Sans Mono CJK JP"/>
            </a:endParaRPr>
          </a:p>
          <a:p>
            <a:r>
              <a:rPr b="0" lang="en-US" sz="1050" spc="-1" strike="noStrike">
                <a:solidFill>
                  <a:srgbClr val="152238"/>
                </a:solidFill>
                <a:latin typeface="Noto Sans Mono CJK JP"/>
              </a:rPr>
              <a:t>  </a:t>
            </a:r>
            <a:r>
              <a:rPr b="0" lang="en-US" sz="1050" spc="-1" strike="noStrike">
                <a:solidFill>
                  <a:srgbClr val="152238"/>
                </a:solidFill>
                <a:latin typeface="Noto Sans Mono CJK JP"/>
              </a:rPr>
              <a:t>ordered corners / depth</a:t>
            </a:r>
            <a:endParaRPr b="0" lang="en-US" sz="1050" spc="-1" strike="noStrike">
              <a:solidFill>
                <a:srgbClr val="152238"/>
              </a:solidFill>
              <a:latin typeface="Noto Sans Mono CJK JP"/>
              <a:ea typeface="Noto Sans Mono CJK JP"/>
            </a:endParaRPr>
          </a:p>
          <a:p>
            <a:r>
              <a:rPr b="0" lang="en-US" sz="1050" spc="-1" strike="noStrike">
                <a:solidFill>
                  <a:srgbClr val="152238"/>
                </a:solidFill>
                <a:latin typeface="Noto Sans Mono CJK JP"/>
              </a:rPr>
              <a:t>  </a:t>
            </a:r>
            <a:r>
              <a:rPr b="0" lang="en-US" sz="1050" spc="-1" strike="noStrike">
                <a:solidFill>
                  <a:srgbClr val="152238"/>
                </a:solidFill>
                <a:latin typeface="Noto Sans Mono CJK JP"/>
              </a:rPr>
              <a:t>front-facing / visibility / size</a:t>
            </a:r>
            <a:endParaRPr b="0" lang="en-US" sz="1050" spc="-1" strike="noStrike">
              <a:solidFill>
                <a:srgbClr val="152238"/>
              </a:solidFill>
              <a:latin typeface="Noto Sans Mono CJK JP"/>
              <a:ea typeface="Noto Sans Mono CJK JP"/>
            </a:endParaRPr>
          </a:p>
        </p:txBody>
      </p:sp>
      <p:sp>
        <p:nvSpPr>
          <p:cNvPr id="264" name="Rectangle 14"/>
          <p:cNvSpPr/>
          <p:nvPr/>
        </p:nvSpPr>
        <p:spPr>
          <a:xfrm>
            <a:off x="8100000" y="1224000"/>
            <a:ext cx="3456000" cy="2376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265" name="TextShape 15"/>
          <p:cNvSpPr txBox="1"/>
          <p:nvPr/>
        </p:nvSpPr>
        <p:spPr>
          <a:xfrm>
            <a:off x="8316000" y="1422000"/>
            <a:ext cx="2988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400" spc="-1" strike="noStrike">
                <a:solidFill>
                  <a:srgbClr val="d97706"/>
                </a:solidFill>
                <a:latin typeface="Noto Sans CJK JP"/>
              </a:rPr>
              <a:t>8 degradation toggles</a:t>
            </a:r>
            <a:endParaRPr b="1" lang="en-US" sz="1400" spc="-1" strike="noStrike">
              <a:solidFill>
                <a:srgbClr val="d97706"/>
              </a:solidFill>
              <a:latin typeface="Noto Sans CJK JP"/>
              <a:ea typeface="Noto Sans CJK JP"/>
            </a:endParaRPr>
          </a:p>
        </p:txBody>
      </p:sp>
      <p:sp>
        <p:nvSpPr>
          <p:cNvPr id="266" name="Rectangle 16"/>
          <p:cNvSpPr/>
          <p:nvPr/>
        </p:nvSpPr>
        <p:spPr>
          <a:xfrm>
            <a:off x="8316000" y="1800000"/>
            <a:ext cx="1332000" cy="20160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</p:sp>
      <p:sp>
        <p:nvSpPr>
          <p:cNvPr id="267" name="TextShape 17"/>
          <p:cNvSpPr txBox="1"/>
          <p:nvPr/>
        </p:nvSpPr>
        <p:spPr>
          <a:xfrm>
            <a:off x="8316000" y="1875240"/>
            <a:ext cx="1332000" cy="155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850" spc="-1" strike="noStrike">
                <a:solidFill>
                  <a:srgbClr val="d97706"/>
                </a:solidFill>
                <a:latin typeface="Noto Sans CJK JP"/>
              </a:rPr>
              <a:t>Gaussian noise</a:t>
            </a:r>
            <a:endParaRPr b="1" lang="en-US" sz="850" spc="-1" strike="noStrike">
              <a:solidFill>
                <a:srgbClr val="d97706"/>
              </a:solidFill>
              <a:latin typeface="Noto Sans CJK JP"/>
              <a:ea typeface="Noto Sans CJK JP"/>
            </a:endParaRPr>
          </a:p>
        </p:txBody>
      </p:sp>
      <p:sp>
        <p:nvSpPr>
          <p:cNvPr id="268" name="Rectangle 18"/>
          <p:cNvSpPr/>
          <p:nvPr/>
        </p:nvSpPr>
        <p:spPr>
          <a:xfrm>
            <a:off x="9792000" y="1800000"/>
            <a:ext cx="1332000" cy="20160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</p:sp>
      <p:sp>
        <p:nvSpPr>
          <p:cNvPr id="269" name="TextShape 19"/>
          <p:cNvSpPr txBox="1"/>
          <p:nvPr/>
        </p:nvSpPr>
        <p:spPr>
          <a:xfrm>
            <a:off x="9792000" y="1875240"/>
            <a:ext cx="1332000" cy="155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850" spc="-1" strike="noStrike">
                <a:solidFill>
                  <a:srgbClr val="d97706"/>
                </a:solidFill>
                <a:latin typeface="Noto Sans CJK JP"/>
              </a:rPr>
              <a:t>defocus blur</a:t>
            </a:r>
            <a:endParaRPr b="1" lang="en-US" sz="850" spc="-1" strike="noStrike">
              <a:solidFill>
                <a:srgbClr val="d97706"/>
              </a:solidFill>
              <a:latin typeface="Noto Sans CJK JP"/>
              <a:ea typeface="Noto Sans CJK JP"/>
            </a:endParaRPr>
          </a:p>
        </p:txBody>
      </p:sp>
      <p:sp>
        <p:nvSpPr>
          <p:cNvPr id="270" name="Rectangle 20"/>
          <p:cNvSpPr/>
          <p:nvPr/>
        </p:nvSpPr>
        <p:spPr>
          <a:xfrm>
            <a:off x="8316000" y="2178000"/>
            <a:ext cx="1332000" cy="20160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</p:sp>
      <p:sp>
        <p:nvSpPr>
          <p:cNvPr id="271" name="TextShape 21"/>
          <p:cNvSpPr txBox="1"/>
          <p:nvPr/>
        </p:nvSpPr>
        <p:spPr>
          <a:xfrm>
            <a:off x="8316000" y="2253240"/>
            <a:ext cx="1332000" cy="155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850" spc="-1" strike="noStrike">
                <a:solidFill>
                  <a:srgbClr val="d97706"/>
                </a:solidFill>
                <a:latin typeface="Noto Sans CJK JP"/>
              </a:rPr>
              <a:t>motion blur</a:t>
            </a:r>
            <a:endParaRPr b="1" lang="en-US" sz="850" spc="-1" strike="noStrike">
              <a:solidFill>
                <a:srgbClr val="d97706"/>
              </a:solidFill>
              <a:latin typeface="Noto Sans CJK JP"/>
              <a:ea typeface="Noto Sans CJK JP"/>
            </a:endParaRPr>
          </a:p>
        </p:txBody>
      </p:sp>
      <p:sp>
        <p:nvSpPr>
          <p:cNvPr id="272" name="Rectangle 22"/>
          <p:cNvSpPr/>
          <p:nvPr/>
        </p:nvSpPr>
        <p:spPr>
          <a:xfrm>
            <a:off x="9792000" y="2178000"/>
            <a:ext cx="1332000" cy="20160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</p:sp>
      <p:sp>
        <p:nvSpPr>
          <p:cNvPr id="273" name="TextShape 23"/>
          <p:cNvSpPr txBox="1"/>
          <p:nvPr/>
        </p:nvSpPr>
        <p:spPr>
          <a:xfrm>
            <a:off x="9792000" y="2253240"/>
            <a:ext cx="1332000" cy="155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850" spc="-1" strike="noStrike">
                <a:solidFill>
                  <a:srgbClr val="d97706"/>
                </a:solidFill>
                <a:latin typeface="Noto Sans CJK JP"/>
              </a:rPr>
              <a:t>brightness / contrast</a:t>
            </a:r>
            <a:endParaRPr b="1" lang="en-US" sz="850" spc="-1" strike="noStrike">
              <a:solidFill>
                <a:srgbClr val="d97706"/>
              </a:solidFill>
              <a:latin typeface="Noto Sans CJK JP"/>
              <a:ea typeface="Noto Sans CJK JP"/>
            </a:endParaRPr>
          </a:p>
        </p:txBody>
      </p:sp>
      <p:sp>
        <p:nvSpPr>
          <p:cNvPr id="274" name="Rectangle 24"/>
          <p:cNvSpPr/>
          <p:nvPr/>
        </p:nvSpPr>
        <p:spPr>
          <a:xfrm>
            <a:off x="8316000" y="2556000"/>
            <a:ext cx="1332000" cy="20160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</p:sp>
      <p:sp>
        <p:nvSpPr>
          <p:cNvPr id="275" name="TextShape 25"/>
          <p:cNvSpPr txBox="1"/>
          <p:nvPr/>
        </p:nvSpPr>
        <p:spPr>
          <a:xfrm>
            <a:off x="8316000" y="2631240"/>
            <a:ext cx="1332000" cy="155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850" spc="-1" strike="noStrike">
                <a:solidFill>
                  <a:srgbClr val="d97706"/>
                </a:solidFill>
                <a:latin typeface="Noto Sans CJK JP"/>
              </a:rPr>
              <a:t>radial distortion</a:t>
            </a:r>
            <a:endParaRPr b="1" lang="en-US" sz="850" spc="-1" strike="noStrike">
              <a:solidFill>
                <a:srgbClr val="d97706"/>
              </a:solidFill>
              <a:latin typeface="Noto Sans CJK JP"/>
              <a:ea typeface="Noto Sans CJK JP"/>
            </a:endParaRPr>
          </a:p>
        </p:txBody>
      </p:sp>
      <p:sp>
        <p:nvSpPr>
          <p:cNvPr id="276" name="Rectangle 26"/>
          <p:cNvSpPr/>
          <p:nvPr/>
        </p:nvSpPr>
        <p:spPr>
          <a:xfrm>
            <a:off x="9792000" y="2556000"/>
            <a:ext cx="1332000" cy="20160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</p:sp>
      <p:sp>
        <p:nvSpPr>
          <p:cNvPr id="277" name="TextShape 27"/>
          <p:cNvSpPr txBox="1"/>
          <p:nvPr/>
        </p:nvSpPr>
        <p:spPr>
          <a:xfrm>
            <a:off x="9792000" y="2631240"/>
            <a:ext cx="1332000" cy="155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850" spc="-1" strike="noStrike">
                <a:solidFill>
                  <a:srgbClr val="d97706"/>
                </a:solidFill>
                <a:latin typeface="Noto Sans CJK JP"/>
              </a:rPr>
              <a:t>partial occlusion</a:t>
            </a:r>
            <a:endParaRPr b="1" lang="en-US" sz="850" spc="-1" strike="noStrike">
              <a:solidFill>
                <a:srgbClr val="d97706"/>
              </a:solidFill>
              <a:latin typeface="Noto Sans CJK JP"/>
              <a:ea typeface="Noto Sans CJK JP"/>
            </a:endParaRPr>
          </a:p>
        </p:txBody>
      </p:sp>
      <p:sp>
        <p:nvSpPr>
          <p:cNvPr id="278" name="Rectangle 28"/>
          <p:cNvSpPr/>
          <p:nvPr/>
        </p:nvSpPr>
        <p:spPr>
          <a:xfrm>
            <a:off x="8316000" y="2934000"/>
            <a:ext cx="1332000" cy="20160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</p:sp>
      <p:sp>
        <p:nvSpPr>
          <p:cNvPr id="279" name="TextShape 29"/>
          <p:cNvSpPr txBox="1"/>
          <p:nvPr/>
        </p:nvSpPr>
        <p:spPr>
          <a:xfrm>
            <a:off x="8316000" y="3009240"/>
            <a:ext cx="1332000" cy="155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850" spc="-1" strike="noStrike">
                <a:solidFill>
                  <a:srgbClr val="d97706"/>
                </a:solidFill>
                <a:latin typeface="Noto Sans CJK JP"/>
              </a:rPr>
              <a:t>background clutter</a:t>
            </a:r>
            <a:endParaRPr b="1" lang="en-US" sz="850" spc="-1" strike="noStrike">
              <a:solidFill>
                <a:srgbClr val="d97706"/>
              </a:solidFill>
              <a:latin typeface="Noto Sans CJK JP"/>
              <a:ea typeface="Noto Sans CJK JP"/>
            </a:endParaRPr>
          </a:p>
        </p:txBody>
      </p:sp>
      <p:sp>
        <p:nvSpPr>
          <p:cNvPr id="280" name="Rectangle 30"/>
          <p:cNvSpPr/>
          <p:nvPr/>
        </p:nvSpPr>
        <p:spPr>
          <a:xfrm>
            <a:off x="9792000" y="2934000"/>
            <a:ext cx="1332000" cy="20160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</p:sp>
      <p:sp>
        <p:nvSpPr>
          <p:cNvPr id="281" name="TextShape 31"/>
          <p:cNvSpPr txBox="1"/>
          <p:nvPr/>
        </p:nvSpPr>
        <p:spPr>
          <a:xfrm>
            <a:off x="9792000" y="3009240"/>
            <a:ext cx="1332000" cy="155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850" spc="-1" strike="noStrike">
                <a:solidFill>
                  <a:srgbClr val="d97706"/>
                </a:solidFill>
                <a:latin typeface="Noto Sans CJK JP"/>
              </a:rPr>
              <a:t>rolling shutter</a:t>
            </a:r>
            <a:endParaRPr b="1" lang="en-US" sz="850" spc="-1" strike="noStrike">
              <a:solidFill>
                <a:srgbClr val="d97706"/>
              </a:solidFill>
              <a:latin typeface="Noto Sans CJK JP"/>
              <a:ea typeface="Noto Sans CJK JP"/>
            </a:endParaRPr>
          </a:p>
        </p:txBody>
      </p:sp>
      <p:sp>
        <p:nvSpPr>
          <p:cNvPr id="282" name="TextShape 32"/>
          <p:cNvSpPr txBox="1"/>
          <p:nvPr/>
        </p:nvSpPr>
        <p:spPr>
          <a:xfrm>
            <a:off x="8316000" y="3337200"/>
            <a:ext cx="2988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0" lang="zh-CN" sz="900" spc="-1" strike="noStrike">
                <a:solidFill>
                  <a:srgbClr val="5c6b82"/>
                </a:solidFill>
                <a:latin typeface="Noto Sans CJK JP"/>
              </a:rPr>
              <a:t>各因子を単独 </a:t>
            </a:r>
            <a:r>
              <a:rPr b="0" lang="en-US" sz="900" spc="-1" strike="noStrike">
                <a:solidFill>
                  <a:srgbClr val="5c6b82"/>
                </a:solidFill>
                <a:latin typeface="Noto Sans CJK JP"/>
              </a:rPr>
              <a:t>ON / clean </a:t>
            </a:r>
            <a:r>
              <a:rPr b="0" lang="zh-CN" sz="900" spc="-1" strike="noStrike">
                <a:solidFill>
                  <a:srgbClr val="5c6b82"/>
                </a:solidFill>
                <a:latin typeface="Noto Sans CJK JP"/>
              </a:rPr>
              <a:t>へ復帰可能</a:t>
            </a:r>
            <a:endParaRPr b="0" lang="en-US" sz="9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283" name="Rectangle 33"/>
          <p:cNvSpPr/>
          <p:nvPr/>
        </p:nvSpPr>
        <p:spPr>
          <a:xfrm>
            <a:off x="576000" y="4068000"/>
            <a:ext cx="10980000" cy="1440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284" name="TextShape 34"/>
          <p:cNvSpPr txBox="1"/>
          <p:nvPr/>
        </p:nvSpPr>
        <p:spPr>
          <a:xfrm>
            <a:off x="792000" y="4248000"/>
            <a:ext cx="3240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400" spc="-1" strike="noStrike">
                <a:solidFill>
                  <a:srgbClr val="d97706"/>
                </a:solidFill>
                <a:latin typeface="Noto Sans CJK JP"/>
              </a:rPr>
              <a:t>ground truth policy</a:t>
            </a:r>
            <a:endParaRPr b="1" lang="en-US" sz="1400" spc="-1" strike="noStrike">
              <a:solidFill>
                <a:srgbClr val="d97706"/>
              </a:solidFill>
              <a:latin typeface="Noto Sans CJK JP"/>
              <a:ea typeface="Noto Sans CJK JP"/>
            </a:endParaRPr>
          </a:p>
        </p:txBody>
      </p:sp>
      <p:sp>
        <p:nvSpPr>
          <p:cNvPr id="285" name="TextShape 35"/>
          <p:cNvSpPr txBox="1"/>
          <p:nvPr/>
        </p:nvSpPr>
        <p:spPr>
          <a:xfrm>
            <a:off x="792000" y="4554000"/>
            <a:ext cx="4752000" cy="518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400" spc="-1" strike="noStrike">
                <a:solidFill>
                  <a:srgbClr val="152238"/>
                </a:solidFill>
                <a:latin typeface="Noto Sans Mono CJK JP"/>
              </a:rPr>
              <a:t>corners_px = projectPoints(T_C_M, K, D)</a:t>
            </a:r>
            <a:endParaRPr b="1" lang="en-US" sz="1400" spc="-1" strike="noStrike">
              <a:solidFill>
                <a:srgbClr val="152238"/>
              </a:solidFill>
              <a:latin typeface="Noto Sans Mono CJK JP"/>
              <a:ea typeface="Noto Sans Mono CJK JP"/>
            </a:endParaRPr>
          </a:p>
          <a:p>
            <a:r>
              <a:rPr b="1" lang="en-US" sz="1400" spc="-1" strike="noStrike">
                <a:solidFill>
                  <a:srgbClr val="152238"/>
                </a:solidFill>
                <a:latin typeface="Noto Sans Mono CJK JP"/>
              </a:rPr>
              <a:t>rendered RGB </a:t>
            </a:r>
            <a:r>
              <a:rPr b="1" lang="zh-CN" sz="1400" spc="-1" strike="noStrike">
                <a:solidFill>
                  <a:srgbClr val="152238"/>
                </a:solidFill>
                <a:latin typeface="Noto Sans Mono CJK JP"/>
              </a:rPr>
              <a:t>の </a:t>
            </a:r>
            <a:r>
              <a:rPr b="1" lang="en-US" sz="1400" spc="-1" strike="noStrike">
                <a:solidFill>
                  <a:srgbClr val="152238"/>
                </a:solidFill>
                <a:latin typeface="Noto Sans Mono CJK JP"/>
              </a:rPr>
              <a:t>edge </a:t>
            </a:r>
            <a:r>
              <a:rPr b="1" lang="zh-CN" sz="1400" spc="-1" strike="noStrike">
                <a:solidFill>
                  <a:srgbClr val="152238"/>
                </a:solidFill>
                <a:latin typeface="Noto Sans Mono CJK JP"/>
              </a:rPr>
              <a:t>を逆算しない</a:t>
            </a:r>
            <a:endParaRPr b="1" lang="en-US" sz="1400" spc="-1" strike="noStrike">
              <a:solidFill>
                <a:srgbClr val="152238"/>
              </a:solidFill>
              <a:latin typeface="Noto Sans Mono CJK JP"/>
              <a:ea typeface="Noto Sans Mono CJK JP"/>
            </a:endParaRPr>
          </a:p>
        </p:txBody>
      </p:sp>
      <p:sp>
        <p:nvSpPr>
          <p:cNvPr id="286" name="Line 36"/>
          <p:cNvSpPr/>
          <p:nvPr/>
        </p:nvSpPr>
        <p:spPr>
          <a:xfrm>
            <a:off x="5976000" y="4284000"/>
            <a:ext cx="360" cy="990000"/>
          </a:xfrm>
          <a:prstGeom prst="line">
            <a:avLst/>
          </a:prstGeom>
          <a:ln w="72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7" name="TextShape 37"/>
          <p:cNvSpPr txBox="1"/>
          <p:nvPr/>
        </p:nvSpPr>
        <p:spPr>
          <a:xfrm>
            <a:off x="6336000" y="4320000"/>
            <a:ext cx="4680000" cy="60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100" spc="-1" strike="noStrike">
                <a:solidFill>
                  <a:srgbClr val="5c6b82"/>
                </a:solidFill>
                <a:latin typeface="Noto Sans CJK JP"/>
              </a:rPr>
              <a:t>radial distortion </a:t>
            </a:r>
            <a:r>
              <a:rPr b="0" lang="zh-CN" sz="1100" spc="-1" strike="noStrike">
                <a:solidFill>
                  <a:srgbClr val="5c6b82"/>
                </a:solidFill>
                <a:latin typeface="Noto Sans CJK JP"/>
              </a:rPr>
              <a:t>は </a:t>
            </a:r>
            <a:r>
              <a:rPr b="0" lang="en-US" sz="1100" spc="-1" strike="noStrike">
                <a:solidFill>
                  <a:srgbClr val="5c6b82"/>
                </a:solidFill>
                <a:latin typeface="Noto Sans CJK JP"/>
              </a:rPr>
              <a:t>camera model </a:t>
            </a:r>
            <a:r>
              <a:rPr b="0" lang="zh-CN" sz="1100" spc="-1" strike="noStrike">
                <a:solidFill>
                  <a:srgbClr val="5c6b82"/>
                </a:solidFill>
                <a:latin typeface="Noto Sans CJK JP"/>
              </a:rPr>
              <a:t>と </a:t>
            </a:r>
            <a:r>
              <a:rPr b="0" lang="en-US" sz="1100" spc="-1" strike="noStrike">
                <a:solidFill>
                  <a:srgbClr val="5c6b82"/>
                </a:solidFill>
                <a:latin typeface="Noto Sans CJK JP"/>
              </a:rPr>
              <a:t>corner </a:t>
            </a:r>
            <a:r>
              <a:rPr b="0" lang="zh-CN" sz="1100" spc="-1" strike="noStrike">
                <a:solidFill>
                  <a:srgbClr val="5c6b82"/>
                </a:solidFill>
                <a:latin typeface="Noto Sans CJK JP"/>
              </a:rPr>
              <a:t>に反映</a:t>
            </a:r>
            <a:endParaRPr b="0" lang="en-US" sz="11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r>
              <a:rPr b="0" lang="en-US" sz="1100" spc="-1" strike="noStrike">
                <a:solidFill>
                  <a:srgbClr val="5c6b82"/>
                </a:solidFill>
                <a:latin typeface="Noto Sans CJK JP"/>
              </a:rPr>
              <a:t>rolling shutter </a:t>
            </a:r>
            <a:r>
              <a:rPr b="0" lang="zh-CN" sz="1100" spc="-1" strike="noStrike">
                <a:solidFill>
                  <a:srgbClr val="5c6b82"/>
                </a:solidFill>
                <a:latin typeface="Noto Sans CJK JP"/>
              </a:rPr>
              <a:t>は単一 </a:t>
            </a:r>
            <a:r>
              <a:rPr b="0" lang="en-US" sz="1100" spc="-1" strike="noStrike">
                <a:solidFill>
                  <a:srgbClr val="5c6b82"/>
                </a:solidFill>
                <a:latin typeface="Noto Sans CJK JP"/>
              </a:rPr>
              <a:t>global pose </a:t>
            </a:r>
            <a:r>
              <a:rPr b="0" lang="zh-CN" sz="1100" spc="-1" strike="noStrike">
                <a:solidFill>
                  <a:srgbClr val="5c6b82"/>
                </a:solidFill>
                <a:latin typeface="Noto Sans CJK JP"/>
              </a:rPr>
              <a:t>を持たない </a:t>
            </a:r>
            <a:r>
              <a:rPr b="0" lang="en-US" sz="1100" spc="-1" strike="noStrike">
                <a:solidFill>
                  <a:srgbClr val="5c6b82"/>
                </a:solidFill>
                <a:latin typeface="Noto Sans CJK JP"/>
              </a:rPr>
              <a:t>image-space effect </a:t>
            </a:r>
            <a:r>
              <a:rPr b="0" lang="zh-CN" sz="1100" spc="-1" strike="noStrike">
                <a:solidFill>
                  <a:srgbClr val="5c6b82"/>
                </a:solidFill>
                <a:latin typeface="Noto Sans CJK JP"/>
              </a:rPr>
              <a:t>と明記</a:t>
            </a:r>
            <a:endParaRPr b="0" lang="en-US" sz="11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288" name="Line 38"/>
          <p:cNvSpPr/>
          <p:nvPr/>
        </p:nvSpPr>
        <p:spPr>
          <a:xfrm>
            <a:off x="540000" y="6496200"/>
            <a:ext cx="11088000" cy="360"/>
          </a:xfrm>
          <a:prstGeom prst="line">
            <a:avLst/>
          </a:prstGeom>
          <a:ln w="432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9" name="TextShape 39"/>
          <p:cNvSpPr txBox="1"/>
          <p:nvPr/>
        </p:nvSpPr>
        <p:spPr>
          <a:xfrm>
            <a:off x="540000" y="6528600"/>
            <a:ext cx="4320000" cy="155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850" spc="-1" strike="noStrike">
                <a:solidFill>
                  <a:srgbClr val="9cb2ce"/>
                </a:solidFill>
                <a:latin typeface="Noto Sans CJK JP"/>
              </a:rPr>
              <a:t>ProbTF-demo  |  AprilTag implementation overview</a:t>
            </a:r>
            <a:endParaRPr b="0" lang="en-US" sz="850" spc="-1" strike="noStrike">
              <a:solidFill>
                <a:srgbClr val="9cb2ce"/>
              </a:solidFill>
              <a:latin typeface="Noto Sans CJK JP"/>
              <a:ea typeface="Noto Sans CJK JP"/>
            </a:endParaRPr>
          </a:p>
        </p:txBody>
      </p:sp>
      <p:sp>
        <p:nvSpPr>
          <p:cNvPr id="290" name="TextShape 40"/>
          <p:cNvSpPr txBox="1"/>
          <p:nvPr/>
        </p:nvSpPr>
        <p:spPr>
          <a:xfrm>
            <a:off x="11124000" y="6528600"/>
            <a:ext cx="504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r"/>
            <a:r>
              <a:rPr b="1" lang="en-US" sz="900" spc="-1" strike="noStrike">
                <a:solidFill>
                  <a:srgbClr val="2563eb"/>
                </a:solidFill>
                <a:latin typeface="Noto Sans CJK JP"/>
              </a:rPr>
              <a:t>07</a:t>
            </a:r>
            <a:endParaRPr b="1" lang="en-US" sz="9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</p:sp>
      <p:sp>
        <p:nvSpPr>
          <p:cNvPr id="292" name="TextShape 2"/>
          <p:cNvSpPr txBox="1"/>
          <p:nvPr/>
        </p:nvSpPr>
        <p:spPr>
          <a:xfrm>
            <a:off x="540000" y="180000"/>
            <a:ext cx="3240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000" spc="-1" strike="noStrike">
                <a:solidFill>
                  <a:srgbClr val="7c3aed"/>
                </a:solidFill>
                <a:latin typeface="Noto Sans CJK JP"/>
              </a:rPr>
              <a:t>PHASE 2  |  PLANAR PNP</a:t>
            </a:r>
            <a:endParaRPr b="1" lang="en-US" sz="1000" spc="-1" strike="noStrike">
              <a:solidFill>
                <a:srgbClr val="7c3aed"/>
              </a:solidFill>
              <a:latin typeface="Noto Sans CJK JP"/>
              <a:ea typeface="Noto Sans CJK JP"/>
            </a:endParaRPr>
          </a:p>
        </p:txBody>
      </p:sp>
      <p:sp>
        <p:nvSpPr>
          <p:cNvPr id="293" name="TextShape 3"/>
          <p:cNvSpPr txBox="1"/>
          <p:nvPr/>
        </p:nvSpPr>
        <p:spPr>
          <a:xfrm>
            <a:off x="540000" y="367200"/>
            <a:ext cx="10908000" cy="4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2500" spc="-1" strike="noStrike">
                <a:solidFill>
                  <a:srgbClr val="152238"/>
                </a:solidFill>
                <a:latin typeface="Noto Sans CJK JP"/>
              </a:rPr>
              <a:t>IPPE </a:t>
            </a:r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の二解を離散 </a:t>
            </a:r>
            <a:r>
              <a:rPr b="1" lang="en-US" sz="2500" spc="-1" strike="noStrike">
                <a:solidFill>
                  <a:srgbClr val="152238"/>
                </a:solidFill>
                <a:latin typeface="Noto Sans CJK JP"/>
              </a:rPr>
              <a:t>hypothesis </a:t>
            </a:r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として保持</a:t>
            </a:r>
            <a:endParaRPr b="1" lang="en-US" sz="25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294" name="TextShape 4"/>
          <p:cNvSpPr txBox="1"/>
          <p:nvPr/>
        </p:nvSpPr>
        <p:spPr>
          <a:xfrm>
            <a:off x="540000" y="709200"/>
            <a:ext cx="10800000" cy="19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reprojection error 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最小の一解へ </a:t>
            </a:r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collapse 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させない</a:t>
            </a:r>
            <a:endParaRPr b="0" lang="en-US" sz="10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295" name="Line 5"/>
          <p:cNvSpPr/>
          <p:nvPr/>
        </p:nvSpPr>
        <p:spPr>
          <a:xfrm>
            <a:off x="540000" y="910800"/>
            <a:ext cx="11088000" cy="360"/>
          </a:xfrm>
          <a:prstGeom prst="line">
            <a:avLst/>
          </a:prstGeom>
          <a:ln w="54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6" name="Rectangle 6"/>
          <p:cNvSpPr/>
          <p:nvPr/>
        </p:nvSpPr>
        <p:spPr>
          <a:xfrm>
            <a:off x="0" y="0"/>
            <a:ext cx="936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97" name="Rectangle 7"/>
          <p:cNvSpPr/>
          <p:nvPr/>
        </p:nvSpPr>
        <p:spPr>
          <a:xfrm>
            <a:off x="550800" y="1216800"/>
            <a:ext cx="3736800" cy="28152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pic>
        <p:nvPicPr>
          <p:cNvPr id="298" name="" descr=""/>
          <p:cNvPicPr/>
          <p:nvPr/>
        </p:nvPicPr>
        <p:blipFill>
          <a:blip r:embed="rId1"/>
          <a:stretch/>
        </p:blipFill>
        <p:spPr>
          <a:xfrm>
            <a:off x="576000" y="1242000"/>
            <a:ext cx="3686400" cy="2764800"/>
          </a:xfrm>
          <a:prstGeom prst="rect">
            <a:avLst/>
          </a:prstGeom>
          <a:ln>
            <a:noFill/>
          </a:ln>
        </p:spPr>
      </p:pic>
      <p:sp>
        <p:nvSpPr>
          <p:cNvPr id="299" name="TextShape 8"/>
          <p:cNvSpPr txBox="1"/>
          <p:nvPr/>
        </p:nvSpPr>
        <p:spPr>
          <a:xfrm>
            <a:off x="630000" y="4111200"/>
            <a:ext cx="3564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0" lang="en-US" sz="900" spc="-1" strike="noStrike">
                <a:solidFill>
                  <a:srgbClr val="5c6b82"/>
                </a:solidFill>
                <a:latin typeface="Noto Sans CJK JP"/>
              </a:rPr>
              <a:t>frontal: planar ambiguity </a:t>
            </a:r>
            <a:r>
              <a:rPr b="0" lang="zh-CN" sz="900" spc="-1" strike="noStrike">
                <a:solidFill>
                  <a:srgbClr val="5c6b82"/>
                </a:solidFill>
                <a:latin typeface="Noto Sans CJK JP"/>
              </a:rPr>
              <a:t>が重要になる条件</a:t>
            </a:r>
            <a:endParaRPr b="0" lang="en-US" sz="9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300" name="Rectangle 9"/>
          <p:cNvSpPr/>
          <p:nvPr/>
        </p:nvSpPr>
        <p:spPr>
          <a:xfrm>
            <a:off x="4608000" y="1404000"/>
            <a:ext cx="1800000" cy="1080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301" name="Rectangle 10"/>
          <p:cNvSpPr/>
          <p:nvPr/>
        </p:nvSpPr>
        <p:spPr>
          <a:xfrm>
            <a:off x="4608000" y="1404000"/>
            <a:ext cx="28800" cy="10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02" name="TextShape 11"/>
          <p:cNvSpPr txBox="1"/>
          <p:nvPr/>
        </p:nvSpPr>
        <p:spPr>
          <a:xfrm>
            <a:off x="4716000" y="1736640"/>
            <a:ext cx="1584000" cy="44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1200" spc="-1" strike="noStrike">
                <a:solidFill>
                  <a:srgbClr val="152238"/>
                </a:solidFill>
                <a:latin typeface="Noto Sans CJK JP"/>
              </a:rPr>
              <a:t>ordered corners</a:t>
            </a:r>
            <a:endParaRPr b="1" lang="en-US" sz="12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  <a:p>
            <a:pPr algn="ctr"/>
            <a:r>
              <a:rPr b="1" lang="en-US" sz="1200" spc="-1" strike="noStrike">
                <a:solidFill>
                  <a:srgbClr val="152238"/>
                </a:solidFill>
                <a:latin typeface="Noto Sans CJK JP"/>
              </a:rPr>
              <a:t>K / D / L</a:t>
            </a:r>
            <a:endParaRPr b="1" lang="en-US" sz="12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303" name="Rectangle 12"/>
          <p:cNvSpPr/>
          <p:nvPr/>
        </p:nvSpPr>
        <p:spPr>
          <a:xfrm>
            <a:off x="6732000" y="1404000"/>
            <a:ext cx="1800000" cy="1080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304" name="Rectangle 13"/>
          <p:cNvSpPr/>
          <p:nvPr/>
        </p:nvSpPr>
        <p:spPr>
          <a:xfrm>
            <a:off x="6732000" y="1404000"/>
            <a:ext cx="28800" cy="108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305" name="TextShape 14"/>
          <p:cNvSpPr txBox="1"/>
          <p:nvPr/>
        </p:nvSpPr>
        <p:spPr>
          <a:xfrm>
            <a:off x="6840000" y="1736640"/>
            <a:ext cx="1584000" cy="44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1200" spc="-1" strike="noStrike">
                <a:solidFill>
                  <a:srgbClr val="152238"/>
                </a:solidFill>
                <a:latin typeface="Noto Sans CJK JP"/>
              </a:rPr>
              <a:t>IPPE_SQUARE</a:t>
            </a:r>
            <a:endParaRPr b="1" lang="en-US" sz="12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  <a:p>
            <a:pPr algn="ctr"/>
            <a:r>
              <a:rPr b="1" lang="en-US" sz="1200" spc="-1" strike="noStrike">
                <a:solidFill>
                  <a:srgbClr val="152238"/>
                </a:solidFill>
                <a:latin typeface="Noto Sans CJK JP"/>
              </a:rPr>
              <a:t>seed 0 / seed 1</a:t>
            </a:r>
            <a:endParaRPr b="1" lang="en-US" sz="12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306" name="Rectangle 15"/>
          <p:cNvSpPr/>
          <p:nvPr/>
        </p:nvSpPr>
        <p:spPr>
          <a:xfrm>
            <a:off x="8856000" y="1404000"/>
            <a:ext cx="1800000" cy="1080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307" name="Rectangle 16"/>
          <p:cNvSpPr/>
          <p:nvPr/>
        </p:nvSpPr>
        <p:spPr>
          <a:xfrm>
            <a:off x="8856000" y="1404000"/>
            <a:ext cx="28800" cy="108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08" name="TextShape 17"/>
          <p:cNvSpPr txBox="1"/>
          <p:nvPr/>
        </p:nvSpPr>
        <p:spPr>
          <a:xfrm>
            <a:off x="8964000" y="1847160"/>
            <a:ext cx="1584000" cy="44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1200" spc="-1" strike="noStrike">
                <a:solidFill>
                  <a:srgbClr val="152238"/>
                </a:solidFill>
                <a:latin typeface="Noto Sans CJK JP"/>
              </a:rPr>
              <a:t>branch-local</a:t>
            </a:r>
            <a:endParaRPr b="1" lang="en-US" sz="12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  <a:p>
            <a:pPr algn="ctr"/>
            <a:r>
              <a:rPr b="1" lang="en-US" sz="1200" spc="-1" strike="noStrike">
                <a:solidFill>
                  <a:srgbClr val="152238"/>
                </a:solidFill>
                <a:latin typeface="Noto Sans CJK JP"/>
              </a:rPr>
              <a:t>Mahalanobis refine</a:t>
            </a:r>
            <a:endParaRPr b="1" lang="en-US" sz="12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309" name="TextShape 18"/>
          <p:cNvSpPr txBox="1"/>
          <p:nvPr/>
        </p:nvSpPr>
        <p:spPr>
          <a:xfrm>
            <a:off x="6408000" y="1862640"/>
            <a:ext cx="324000" cy="47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2600" spc="-1" strike="noStrike">
                <a:solidFill>
                  <a:srgbClr val="0891b2"/>
                </a:solidFill>
                <a:latin typeface="Noto Sans CJK JP"/>
              </a:rPr>
              <a:t>→</a:t>
            </a:r>
            <a:endParaRPr b="1" lang="en-US" sz="2600" spc="-1" strike="noStrike">
              <a:solidFill>
                <a:srgbClr val="0891b2"/>
              </a:solidFill>
              <a:latin typeface="Noto Sans CJK JP"/>
              <a:ea typeface="Noto Sans CJK JP"/>
            </a:endParaRPr>
          </a:p>
        </p:txBody>
      </p:sp>
      <p:sp>
        <p:nvSpPr>
          <p:cNvPr id="310" name="TextShape 19"/>
          <p:cNvSpPr txBox="1"/>
          <p:nvPr/>
        </p:nvSpPr>
        <p:spPr>
          <a:xfrm>
            <a:off x="8532000" y="1862640"/>
            <a:ext cx="324000" cy="47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2600" spc="-1" strike="noStrike">
                <a:solidFill>
                  <a:srgbClr val="0891b2"/>
                </a:solidFill>
                <a:latin typeface="Noto Sans CJK JP"/>
              </a:rPr>
              <a:t>→</a:t>
            </a:r>
            <a:endParaRPr b="1" lang="en-US" sz="2600" spc="-1" strike="noStrike">
              <a:solidFill>
                <a:srgbClr val="0891b2"/>
              </a:solidFill>
              <a:latin typeface="Noto Sans CJK JP"/>
              <a:ea typeface="Noto Sans CJK JP"/>
            </a:endParaRPr>
          </a:p>
        </p:txBody>
      </p:sp>
      <p:sp>
        <p:nvSpPr>
          <p:cNvPr id="311" name="TextShape 20"/>
          <p:cNvSpPr txBox="1"/>
          <p:nvPr/>
        </p:nvSpPr>
        <p:spPr>
          <a:xfrm>
            <a:off x="4608000" y="2736000"/>
            <a:ext cx="6408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1" lang="en-US" sz="1300" spc="-1" strike="noStrike">
                <a:solidFill>
                  <a:srgbClr val="7c3aed"/>
                </a:solidFill>
                <a:latin typeface="Noto Sans Mono CJK JP"/>
              </a:rPr>
              <a:t>solvePnPGeneric(..., SOLVEPNP_IPPE_SQUARE)</a:t>
            </a:r>
            <a:endParaRPr b="1" lang="en-US" sz="1300" spc="-1" strike="noStrike">
              <a:solidFill>
                <a:srgbClr val="7c3aed"/>
              </a:solidFill>
              <a:latin typeface="Noto Sans Mono CJK JP"/>
              <a:ea typeface="Noto Sans Mono CJK JP"/>
            </a:endParaRPr>
          </a:p>
        </p:txBody>
      </p:sp>
      <p:sp>
        <p:nvSpPr>
          <p:cNvPr id="312" name="Rectangle 21"/>
          <p:cNvSpPr/>
          <p:nvPr/>
        </p:nvSpPr>
        <p:spPr>
          <a:xfrm>
            <a:off x="4752000" y="3240000"/>
            <a:ext cx="3024000" cy="1296000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</p:sp>
      <p:sp>
        <p:nvSpPr>
          <p:cNvPr id="313" name="TextShape 22"/>
          <p:cNvSpPr txBox="1"/>
          <p:nvPr/>
        </p:nvSpPr>
        <p:spPr>
          <a:xfrm>
            <a:off x="4914000" y="3384000"/>
            <a:ext cx="2700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300" spc="-1" strike="noStrike">
                <a:solidFill>
                  <a:srgbClr val="2563eb"/>
                </a:solidFill>
                <a:latin typeface="Noto Sans CJK JP"/>
              </a:rPr>
              <a:t>seed branch 0</a:t>
            </a:r>
            <a:endParaRPr b="1" lang="en-US" sz="13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314" name="TextShape 23"/>
          <p:cNvSpPr txBox="1"/>
          <p:nvPr/>
        </p:nvSpPr>
        <p:spPr>
          <a:xfrm>
            <a:off x="4914000" y="3690000"/>
            <a:ext cx="2700000" cy="405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100" spc="-1" strike="noStrike">
                <a:solidFill>
                  <a:srgbClr val="152238"/>
                </a:solidFill>
                <a:latin typeface="Noto Sans CJK JP"/>
              </a:rPr>
              <a:t>cheirality → line search</a:t>
            </a:r>
            <a:endParaRPr b="0" lang="en-US" sz="11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  <a:p>
            <a:r>
              <a:rPr b="0" lang="en-US" sz="1100" spc="-1" strike="noStrike">
                <a:solidFill>
                  <a:srgbClr val="152238"/>
                </a:solidFill>
                <a:latin typeface="Noto Sans CJK JP"/>
              </a:rPr>
              <a:t>Voronoi guard → local Hessian</a:t>
            </a:r>
            <a:endParaRPr b="0" lang="en-US" sz="11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315" name="Rectangle 24"/>
          <p:cNvSpPr/>
          <p:nvPr/>
        </p:nvSpPr>
        <p:spPr>
          <a:xfrm>
            <a:off x="5364000" y="4248000"/>
            <a:ext cx="1800000" cy="20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16" name="TextShape 25"/>
          <p:cNvSpPr txBox="1"/>
          <p:nvPr/>
        </p:nvSpPr>
        <p:spPr>
          <a:xfrm>
            <a:off x="5364000" y="4406040"/>
            <a:ext cx="1800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900" spc="-1" strike="noStrike">
                <a:solidFill>
                  <a:srgbClr val="2563eb"/>
                </a:solidFill>
                <a:latin typeface="Noto Sans CJK JP"/>
              </a:rPr>
              <a:t>candidate provenance </a:t>
            </a:r>
            <a:r>
              <a:rPr b="1" lang="zh-CN" sz="900" spc="-1" strike="noStrike">
                <a:solidFill>
                  <a:srgbClr val="2563eb"/>
                </a:solidFill>
                <a:latin typeface="Noto Sans CJK JP"/>
              </a:rPr>
              <a:t>を保持</a:t>
            </a:r>
            <a:endParaRPr b="1" lang="en-US" sz="9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317" name="Rectangle 26"/>
          <p:cNvSpPr/>
          <p:nvPr/>
        </p:nvSpPr>
        <p:spPr>
          <a:xfrm>
            <a:off x="8136000" y="3240000"/>
            <a:ext cx="3024000" cy="1296000"/>
          </a:xfrm>
          <a:prstGeom prst="roundRect">
            <a:avLst/>
          </a:prstGeom>
          <a:solidFill>
            <a:srgbClr val="f1ebff"/>
          </a:solidFill>
          <a:ln>
            <a:noFill/>
          </a:ln>
        </p:spPr>
      </p:sp>
      <p:sp>
        <p:nvSpPr>
          <p:cNvPr id="318" name="TextShape 27"/>
          <p:cNvSpPr txBox="1"/>
          <p:nvPr/>
        </p:nvSpPr>
        <p:spPr>
          <a:xfrm>
            <a:off x="8298000" y="3384000"/>
            <a:ext cx="2700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300" spc="-1" strike="noStrike">
                <a:solidFill>
                  <a:srgbClr val="7c3aed"/>
                </a:solidFill>
                <a:latin typeface="Noto Sans CJK JP"/>
              </a:rPr>
              <a:t>seed branch 1</a:t>
            </a:r>
            <a:endParaRPr b="1" lang="en-US" sz="1300" spc="-1" strike="noStrike">
              <a:solidFill>
                <a:srgbClr val="7c3aed"/>
              </a:solidFill>
              <a:latin typeface="Noto Sans CJK JP"/>
              <a:ea typeface="Noto Sans CJK JP"/>
            </a:endParaRPr>
          </a:p>
        </p:txBody>
      </p:sp>
      <p:sp>
        <p:nvSpPr>
          <p:cNvPr id="319" name="TextShape 28"/>
          <p:cNvSpPr txBox="1"/>
          <p:nvPr/>
        </p:nvSpPr>
        <p:spPr>
          <a:xfrm>
            <a:off x="8298000" y="3690000"/>
            <a:ext cx="2700000" cy="405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100" spc="-1" strike="noStrike">
                <a:solidFill>
                  <a:srgbClr val="152238"/>
                </a:solidFill>
                <a:latin typeface="Noto Sans CJK JP"/>
              </a:rPr>
              <a:t>cheirality → line search</a:t>
            </a:r>
            <a:endParaRPr b="0" lang="en-US" sz="11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  <a:p>
            <a:r>
              <a:rPr b="0" lang="en-US" sz="1100" spc="-1" strike="noStrike">
                <a:solidFill>
                  <a:srgbClr val="152238"/>
                </a:solidFill>
                <a:latin typeface="Noto Sans CJK JP"/>
              </a:rPr>
              <a:t>seed fallback → local Hessian</a:t>
            </a:r>
            <a:endParaRPr b="0" lang="en-US" sz="11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320" name="Rectangle 29"/>
          <p:cNvSpPr/>
          <p:nvPr/>
        </p:nvSpPr>
        <p:spPr>
          <a:xfrm>
            <a:off x="8748000" y="4248000"/>
            <a:ext cx="1800000" cy="20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21" name="TextShape 30"/>
          <p:cNvSpPr txBox="1"/>
          <p:nvPr/>
        </p:nvSpPr>
        <p:spPr>
          <a:xfrm>
            <a:off x="8748000" y="4406040"/>
            <a:ext cx="1800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900" spc="-1" strike="noStrike">
                <a:solidFill>
                  <a:srgbClr val="7c3aed"/>
                </a:solidFill>
                <a:latin typeface="Noto Sans CJK JP"/>
              </a:rPr>
              <a:t>candidate provenance </a:t>
            </a:r>
            <a:r>
              <a:rPr b="1" lang="zh-CN" sz="900" spc="-1" strike="noStrike">
                <a:solidFill>
                  <a:srgbClr val="7c3aed"/>
                </a:solidFill>
                <a:latin typeface="Noto Sans CJK JP"/>
              </a:rPr>
              <a:t>を保持</a:t>
            </a:r>
            <a:endParaRPr b="1" lang="en-US" sz="900" spc="-1" strike="noStrike">
              <a:solidFill>
                <a:srgbClr val="7c3aed"/>
              </a:solidFill>
              <a:latin typeface="Noto Sans CJK JP"/>
              <a:ea typeface="Noto Sans CJK JP"/>
            </a:endParaRPr>
          </a:p>
        </p:txBody>
      </p:sp>
      <p:sp>
        <p:nvSpPr>
          <p:cNvPr id="322" name="Rectangle 31"/>
          <p:cNvSpPr/>
          <p:nvPr/>
        </p:nvSpPr>
        <p:spPr>
          <a:xfrm>
            <a:off x="4608000" y="5040000"/>
            <a:ext cx="6408000" cy="576000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</p:sp>
      <p:sp>
        <p:nvSpPr>
          <p:cNvPr id="323" name="TextShape 32"/>
          <p:cNvSpPr txBox="1"/>
          <p:nvPr/>
        </p:nvSpPr>
        <p:spPr>
          <a:xfrm>
            <a:off x="4788000" y="5235840"/>
            <a:ext cx="6048000" cy="21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1150" spc="-1" strike="noStrike">
                <a:solidFill>
                  <a:srgbClr val="ffffff"/>
                </a:solidFill>
                <a:latin typeface="Noto Sans CJK JP"/>
              </a:rPr>
              <a:t>K </a:t>
            </a:r>
            <a:r>
              <a:rPr b="1" lang="zh-CN" sz="1150" spc="-1" strike="noStrike">
                <a:solidFill>
                  <a:srgbClr val="ffffff"/>
                </a:solidFill>
                <a:latin typeface="Noto Sans CJK JP"/>
              </a:rPr>
              <a:t>は通常</a:t>
            </a:r>
            <a:r>
              <a:rPr b="1" lang="en-US" sz="1150" spc="-1" strike="noStrike">
                <a:solidFill>
                  <a:srgbClr val="ffffff"/>
                </a:solidFill>
                <a:latin typeface="Noto Sans CJK JP"/>
              </a:rPr>
              <a:t>2</a:t>
            </a:r>
            <a:r>
              <a:rPr b="1" lang="zh-CN" sz="1150" spc="-1" strike="noStrike">
                <a:solidFill>
                  <a:srgbClr val="ffffff"/>
                </a:solidFill>
                <a:latin typeface="Noto Sans CJK JP"/>
              </a:rPr>
              <a:t>だが固定しない  </a:t>
            </a:r>
            <a:r>
              <a:rPr b="1" lang="en-US" sz="1150" spc="-1" strike="noStrike">
                <a:solidFill>
                  <a:srgbClr val="ffffff"/>
                </a:solidFill>
                <a:latin typeface="Noto Sans CJK JP"/>
              </a:rPr>
              <a:t>/  duplicate</a:t>
            </a:r>
            <a:r>
              <a:rPr b="1" lang="zh-CN" sz="1150" spc="-1" strike="noStrike">
                <a:solidFill>
                  <a:srgbClr val="ffffff"/>
                </a:solidFill>
                <a:latin typeface="Noto Sans CJK JP"/>
              </a:rPr>
              <a:t>・</a:t>
            </a:r>
            <a:r>
              <a:rPr b="1" lang="en-US" sz="1150" spc="-1" strike="noStrike">
                <a:solidFill>
                  <a:srgbClr val="ffffff"/>
                </a:solidFill>
                <a:latin typeface="Noto Sans CJK JP"/>
              </a:rPr>
              <a:t>non-SPD</a:t>
            </a:r>
            <a:r>
              <a:rPr b="1" lang="zh-CN" sz="1150" spc="-1" strike="noStrike">
                <a:solidFill>
                  <a:srgbClr val="ffffff"/>
                </a:solidFill>
                <a:latin typeface="Noto Sans CJK JP"/>
              </a:rPr>
              <a:t>・負 </a:t>
            </a:r>
            <a:r>
              <a:rPr b="1" lang="en-US" sz="1150" spc="-1" strike="noStrike">
                <a:solidFill>
                  <a:srgbClr val="ffffff"/>
                </a:solidFill>
                <a:latin typeface="Noto Sans CJK JP"/>
              </a:rPr>
              <a:t>depth </a:t>
            </a:r>
            <a:r>
              <a:rPr b="1" lang="zh-CN" sz="1150" spc="-1" strike="noStrike">
                <a:solidFill>
                  <a:srgbClr val="ffffff"/>
                </a:solidFill>
                <a:latin typeface="Noto Sans CJK JP"/>
              </a:rPr>
              <a:t>は明示 </a:t>
            </a:r>
            <a:r>
              <a:rPr b="1" lang="en-US" sz="1150" spc="-1" strike="noStrike">
                <a:solidFill>
                  <a:srgbClr val="ffffff"/>
                </a:solidFill>
                <a:latin typeface="Noto Sans CJK JP"/>
              </a:rPr>
              <a:t>reject</a:t>
            </a:r>
            <a:endParaRPr b="1" lang="en-US" sz="115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324" name="Line 33"/>
          <p:cNvSpPr/>
          <p:nvPr/>
        </p:nvSpPr>
        <p:spPr>
          <a:xfrm>
            <a:off x="540000" y="6496200"/>
            <a:ext cx="11088000" cy="360"/>
          </a:xfrm>
          <a:prstGeom prst="line">
            <a:avLst/>
          </a:prstGeom>
          <a:ln w="432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5" name="TextShape 34"/>
          <p:cNvSpPr txBox="1"/>
          <p:nvPr/>
        </p:nvSpPr>
        <p:spPr>
          <a:xfrm>
            <a:off x="540000" y="6528600"/>
            <a:ext cx="4320000" cy="155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850" spc="-1" strike="noStrike">
                <a:solidFill>
                  <a:srgbClr val="9cb2ce"/>
                </a:solidFill>
                <a:latin typeface="Noto Sans CJK JP"/>
              </a:rPr>
              <a:t>ProbTF-demo  |  AprilTag implementation overview</a:t>
            </a:r>
            <a:endParaRPr b="0" lang="en-US" sz="850" spc="-1" strike="noStrike">
              <a:solidFill>
                <a:srgbClr val="9cb2ce"/>
              </a:solidFill>
              <a:latin typeface="Noto Sans CJK JP"/>
              <a:ea typeface="Noto Sans CJK JP"/>
            </a:endParaRPr>
          </a:p>
        </p:txBody>
      </p:sp>
      <p:sp>
        <p:nvSpPr>
          <p:cNvPr id="326" name="TextShape 35"/>
          <p:cNvSpPr txBox="1"/>
          <p:nvPr/>
        </p:nvSpPr>
        <p:spPr>
          <a:xfrm>
            <a:off x="11124000" y="6528600"/>
            <a:ext cx="504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r"/>
            <a:r>
              <a:rPr b="1" lang="en-US" sz="900" spc="-1" strike="noStrike">
                <a:solidFill>
                  <a:srgbClr val="2563eb"/>
                </a:solidFill>
                <a:latin typeface="Noto Sans CJK JP"/>
              </a:rPr>
              <a:t>08</a:t>
            </a:r>
            <a:endParaRPr b="1" lang="en-US" sz="9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</p:sp>
      <p:sp>
        <p:nvSpPr>
          <p:cNvPr id="328" name="TextShape 2"/>
          <p:cNvSpPr txBox="1"/>
          <p:nvPr/>
        </p:nvSpPr>
        <p:spPr>
          <a:xfrm>
            <a:off x="540000" y="180000"/>
            <a:ext cx="3240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000" spc="-1" strike="noStrike">
                <a:solidFill>
                  <a:srgbClr val="7c3aed"/>
                </a:solidFill>
                <a:latin typeface="Noto Sans CJK JP"/>
              </a:rPr>
              <a:t>IMAGE LIKELIHOOD</a:t>
            </a:r>
            <a:endParaRPr b="1" lang="en-US" sz="1000" spc="-1" strike="noStrike">
              <a:solidFill>
                <a:srgbClr val="7c3aed"/>
              </a:solidFill>
              <a:latin typeface="Noto Sans CJK JP"/>
              <a:ea typeface="Noto Sans CJK JP"/>
            </a:endParaRPr>
          </a:p>
        </p:txBody>
      </p:sp>
      <p:sp>
        <p:nvSpPr>
          <p:cNvPr id="329" name="TextShape 3"/>
          <p:cNvSpPr txBox="1"/>
          <p:nvPr/>
        </p:nvSpPr>
        <p:spPr>
          <a:xfrm>
            <a:off x="540000" y="367200"/>
            <a:ext cx="10908000" cy="4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2500" spc="-1" strike="noStrike">
                <a:solidFill>
                  <a:srgbClr val="152238"/>
                </a:solidFill>
                <a:latin typeface="Noto Sans CJK JP"/>
              </a:rPr>
              <a:t>8×8 covariance </a:t>
            </a:r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を </a:t>
            </a:r>
            <a:r>
              <a:rPr b="1" lang="en-US" sz="2500" spc="-1" strike="noStrike">
                <a:solidFill>
                  <a:srgbClr val="152238"/>
                </a:solidFill>
                <a:latin typeface="Noto Sans CJK JP"/>
              </a:rPr>
              <a:t>mode</a:t>
            </a:r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・</a:t>
            </a:r>
            <a:r>
              <a:rPr b="1" lang="en-US" sz="2500" spc="-1" strike="noStrike">
                <a:solidFill>
                  <a:srgbClr val="152238"/>
                </a:solidFill>
                <a:latin typeface="Noto Sans CJK JP"/>
              </a:rPr>
              <a:t>coupling</a:t>
            </a:r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・</a:t>
            </a:r>
            <a:r>
              <a:rPr b="1" lang="en-US" sz="2500" spc="-1" strike="noStrike">
                <a:solidFill>
                  <a:srgbClr val="152238"/>
                </a:solidFill>
                <a:latin typeface="Noto Sans CJK JP"/>
              </a:rPr>
              <a:t>weight </a:t>
            </a:r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まで伝播</a:t>
            </a:r>
            <a:endParaRPr b="1" lang="en-US" sz="25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330" name="TextShape 4"/>
          <p:cNvSpPr txBox="1"/>
          <p:nvPr/>
        </p:nvSpPr>
        <p:spPr>
          <a:xfrm>
            <a:off x="540000" y="709200"/>
            <a:ext cx="10800000" cy="19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最小実装は </a:t>
            </a:r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σpix² I₈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、</a:t>
            </a:r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interface 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は </a:t>
            </a:r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full covariance 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を保持</a:t>
            </a:r>
            <a:endParaRPr b="0" lang="en-US" sz="10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331" name="Line 5"/>
          <p:cNvSpPr/>
          <p:nvPr/>
        </p:nvSpPr>
        <p:spPr>
          <a:xfrm>
            <a:off x="540000" y="910800"/>
            <a:ext cx="11088000" cy="360"/>
          </a:xfrm>
          <a:prstGeom prst="line">
            <a:avLst/>
          </a:prstGeom>
          <a:ln w="54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2" name="Rectangle 6"/>
          <p:cNvSpPr/>
          <p:nvPr/>
        </p:nvSpPr>
        <p:spPr>
          <a:xfrm>
            <a:off x="0" y="0"/>
            <a:ext cx="936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333" name="Rectangle 7"/>
          <p:cNvSpPr/>
          <p:nvPr/>
        </p:nvSpPr>
        <p:spPr>
          <a:xfrm>
            <a:off x="576000" y="1224000"/>
            <a:ext cx="5220000" cy="4284000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</p:sp>
      <p:sp>
        <p:nvSpPr>
          <p:cNvPr id="334" name="TextShape 8"/>
          <p:cNvSpPr txBox="1"/>
          <p:nvPr/>
        </p:nvSpPr>
        <p:spPr>
          <a:xfrm>
            <a:off x="810000" y="1422000"/>
            <a:ext cx="4608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400" spc="-1" strike="noStrike">
                <a:solidFill>
                  <a:srgbClr val="8de8f5"/>
                </a:solidFill>
                <a:latin typeface="Noto Sans CJK JP"/>
              </a:rPr>
              <a:t>observation model</a:t>
            </a:r>
            <a:endParaRPr b="1" lang="en-US" sz="1400" spc="-1" strike="noStrike">
              <a:solidFill>
                <a:srgbClr val="8de8f5"/>
              </a:solidFill>
              <a:latin typeface="Noto Sans CJK JP"/>
              <a:ea typeface="Noto Sans CJK JP"/>
            </a:endParaRPr>
          </a:p>
        </p:txBody>
      </p:sp>
      <p:sp>
        <p:nvSpPr>
          <p:cNvPr id="335" name="TextShape 9"/>
          <p:cNvSpPr txBox="1"/>
          <p:nvPr/>
        </p:nvSpPr>
        <p:spPr>
          <a:xfrm>
            <a:off x="882000" y="1818000"/>
            <a:ext cx="4428000" cy="175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600" spc="-1" strike="noStrike">
                <a:solidFill>
                  <a:srgbClr val="ffffff"/>
                </a:solidFill>
                <a:latin typeface="Noto Sans Mono CJK JP"/>
              </a:rPr>
              <a:t>y = (y₁,…,y₄) ∈ R⁸</a:t>
            </a:r>
            <a:endParaRPr b="0" lang="en-US" sz="1600" spc="-1" strike="noStrike">
              <a:solidFill>
                <a:srgbClr val="ffffff"/>
              </a:solidFill>
              <a:latin typeface="Noto Sans Mono CJK JP"/>
              <a:ea typeface="Noto Sans Mono CJK JP"/>
            </a:endParaRPr>
          </a:p>
          <a:p>
            <a:r>
              <a:rPr b="0" lang="en-US" sz="1600" spc="-1" strike="noStrike">
                <a:solidFill>
                  <a:srgbClr val="ffffff"/>
                </a:solidFill>
                <a:latin typeface="Noto Sans Mono CJK JP"/>
              </a:rPr>
              <a:t>Σ_img = σpix² I₈</a:t>
            </a:r>
            <a:endParaRPr b="0" lang="en-US" sz="1600" spc="-1" strike="noStrike">
              <a:solidFill>
                <a:srgbClr val="ffffff"/>
              </a:solidFill>
              <a:latin typeface="Noto Sans Mono CJK JP"/>
              <a:ea typeface="Noto Sans Mono CJK JP"/>
            </a:endParaRPr>
          </a:p>
          <a:p>
            <a:r>
              <a:rPr b="0" lang="en-US" sz="1600" spc="-1" strike="noStrike">
                <a:solidFill>
                  <a:srgbClr val="ffffff"/>
                </a:solidFill>
                <a:latin typeface="Noto Sans Mono CJK JP"/>
              </a:rPr>
              <a:t>σpix = 0.5 px</a:t>
            </a:r>
            <a:endParaRPr b="0" lang="en-US" sz="1600" spc="-1" strike="noStrike">
              <a:solidFill>
                <a:srgbClr val="ffffff"/>
              </a:solidFill>
              <a:latin typeface="Noto Sans Mono CJK JP"/>
              <a:ea typeface="Noto Sans Mono CJK JP"/>
            </a:endParaRPr>
          </a:p>
          <a:p>
            <a:endParaRPr b="0" lang="en-US" sz="1600" spc="-1" strike="noStrike">
              <a:solidFill>
                <a:srgbClr val="ffffff"/>
              </a:solidFill>
              <a:latin typeface="Noto Sans Mono CJK JP"/>
              <a:ea typeface="Noto Sans Mono CJK JP"/>
            </a:endParaRPr>
          </a:p>
          <a:p>
            <a:r>
              <a:rPr b="0" lang="en-US" sz="1600" spc="-1" strike="noStrike">
                <a:solidFill>
                  <a:srgbClr val="ffffff"/>
                </a:solidFill>
                <a:latin typeface="Noto Sans Mono CJK JP"/>
              </a:rPr>
              <a:t>hⱼ(x,q) = π(x + R(q)pⱼ)</a:t>
            </a:r>
            <a:endParaRPr b="0" lang="en-US" sz="1600" spc="-1" strike="noStrike">
              <a:solidFill>
                <a:srgbClr val="ffffff"/>
              </a:solidFill>
              <a:latin typeface="Noto Sans Mono CJK JP"/>
              <a:ea typeface="Noto Sans Mono CJK JP"/>
            </a:endParaRPr>
          </a:p>
          <a:p>
            <a:r>
              <a:rPr b="0" lang="en-US" sz="1600" spc="-1" strike="noStrike">
                <a:solidFill>
                  <a:srgbClr val="ffffff"/>
                </a:solidFill>
                <a:latin typeface="Noto Sans Mono CJK JP"/>
              </a:rPr>
              <a:t>r(x,q) = h(x,q) − y</a:t>
            </a:r>
            <a:endParaRPr b="0" lang="en-US" sz="1600" spc="-1" strike="noStrike">
              <a:solidFill>
                <a:srgbClr val="ffffff"/>
              </a:solidFill>
              <a:latin typeface="Noto Sans Mono CJK JP"/>
              <a:ea typeface="Noto Sans Mono CJK JP"/>
            </a:endParaRPr>
          </a:p>
        </p:txBody>
      </p:sp>
      <p:sp>
        <p:nvSpPr>
          <p:cNvPr id="336" name="Line 10"/>
          <p:cNvSpPr/>
          <p:nvPr/>
        </p:nvSpPr>
        <p:spPr>
          <a:xfrm>
            <a:off x="864000" y="3600000"/>
            <a:ext cx="4536000" cy="360"/>
          </a:xfrm>
          <a:prstGeom prst="line">
            <a:avLst/>
          </a:prstGeom>
          <a:ln w="7200">
            <a:solidFill>
              <a:srgbClr val="1c335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7" name="TextShape 11"/>
          <p:cNvSpPr txBox="1"/>
          <p:nvPr/>
        </p:nvSpPr>
        <p:spPr>
          <a:xfrm>
            <a:off x="882000" y="3888000"/>
            <a:ext cx="4428000" cy="81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400" spc="-1" strike="noStrike">
                <a:solidFill>
                  <a:srgbClr val="8de8f5"/>
                </a:solidFill>
                <a:latin typeface="Noto Sans Mono CJK JP"/>
              </a:rPr>
              <a:t>Φ(x,q) = ½ rᵀΣ_img⁻¹r</a:t>
            </a:r>
            <a:endParaRPr b="1" lang="en-US" sz="1400" spc="-1" strike="noStrike">
              <a:solidFill>
                <a:srgbClr val="8de8f5"/>
              </a:solidFill>
              <a:latin typeface="Noto Sans Mono CJK JP"/>
              <a:ea typeface="Noto Sans Mono CJK JP"/>
            </a:endParaRPr>
          </a:p>
          <a:p>
            <a:r>
              <a:rPr b="1" lang="en-US" sz="1400" spc="-1" strike="noStrike">
                <a:solidFill>
                  <a:srgbClr val="8de8f5"/>
                </a:solidFill>
                <a:latin typeface="Noto Sans Mono CJK JP"/>
              </a:rPr>
              <a:t>          </a:t>
            </a:r>
            <a:r>
              <a:rPr b="1" lang="en-US" sz="1400" spc="-1" strike="noStrike">
                <a:solidFill>
                  <a:srgbClr val="8de8f5"/>
                </a:solidFill>
                <a:latin typeface="Noto Sans Mono CJK JP"/>
              </a:rPr>
              <a:t>+ ½V⁻¹ ||x−m₀||²</a:t>
            </a:r>
            <a:endParaRPr b="1" lang="en-US" sz="1400" spc="-1" strike="noStrike">
              <a:solidFill>
                <a:srgbClr val="8de8f5"/>
              </a:solidFill>
              <a:latin typeface="Noto Sans Mono CJK JP"/>
              <a:ea typeface="Noto Sans Mono CJK JP"/>
            </a:endParaRPr>
          </a:p>
          <a:p>
            <a:r>
              <a:rPr b="1" lang="en-US" sz="1400" spc="-1" strike="noStrike">
                <a:solidFill>
                  <a:srgbClr val="8de8f5"/>
                </a:solidFill>
                <a:latin typeface="Noto Sans Mono CJK JP"/>
              </a:rPr>
              <a:t>V = 10⁶ m²</a:t>
            </a:r>
            <a:r>
              <a:rPr b="1" lang="zh-CN" sz="1400" spc="-1" strike="noStrike">
                <a:solidFill>
                  <a:srgbClr val="8de8f5"/>
                </a:solidFill>
                <a:latin typeface="Noto Sans Mono CJK JP"/>
              </a:rPr>
              <a:t>（</a:t>
            </a:r>
            <a:r>
              <a:rPr b="1" lang="en-US" sz="1400" spc="-1" strike="noStrike">
                <a:solidFill>
                  <a:srgbClr val="8de8f5"/>
                </a:solidFill>
                <a:latin typeface="Noto Sans Mono CJK JP"/>
              </a:rPr>
              <a:t>proper broad prior</a:t>
            </a:r>
            <a:r>
              <a:rPr b="1" lang="zh-CN" sz="1400" spc="-1" strike="noStrike">
                <a:solidFill>
                  <a:srgbClr val="8de8f5"/>
                </a:solidFill>
                <a:latin typeface="Noto Sans Mono CJK JP"/>
              </a:rPr>
              <a:t>）</a:t>
            </a:r>
            <a:endParaRPr b="1" lang="en-US" sz="1400" spc="-1" strike="noStrike">
              <a:solidFill>
                <a:srgbClr val="8de8f5"/>
              </a:solidFill>
              <a:latin typeface="Noto Sans Mono CJK JP"/>
              <a:ea typeface="Noto Sans Mono CJK JP"/>
            </a:endParaRPr>
          </a:p>
        </p:txBody>
      </p:sp>
      <p:sp>
        <p:nvSpPr>
          <p:cNvPr id="338" name="Rectangle 12"/>
          <p:cNvSpPr/>
          <p:nvPr/>
        </p:nvSpPr>
        <p:spPr>
          <a:xfrm>
            <a:off x="6300000" y="1224000"/>
            <a:ext cx="5256000" cy="1980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339" name="TextShape 13"/>
          <p:cNvSpPr txBox="1"/>
          <p:nvPr/>
        </p:nvSpPr>
        <p:spPr>
          <a:xfrm>
            <a:off x="6516000" y="1404000"/>
            <a:ext cx="4788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400" spc="-1" strike="noStrike">
                <a:solidFill>
                  <a:srgbClr val="7c3aed"/>
                </a:solidFill>
                <a:latin typeface="Noto Sans CJK JP"/>
              </a:rPr>
              <a:t>right perturbation</a:t>
            </a:r>
            <a:endParaRPr b="1" lang="en-US" sz="1400" spc="-1" strike="noStrike">
              <a:solidFill>
                <a:srgbClr val="7c3aed"/>
              </a:solidFill>
              <a:latin typeface="Noto Sans CJK JP"/>
              <a:ea typeface="Noto Sans CJK JP"/>
            </a:endParaRPr>
          </a:p>
        </p:txBody>
      </p:sp>
      <p:sp>
        <p:nvSpPr>
          <p:cNvPr id="340" name="TextShape 14"/>
          <p:cNvSpPr txBox="1"/>
          <p:nvPr/>
        </p:nvSpPr>
        <p:spPr>
          <a:xfrm>
            <a:off x="6588000" y="1844640"/>
            <a:ext cx="4644000" cy="698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1900" spc="-1" strike="noStrike">
                <a:solidFill>
                  <a:srgbClr val="152238"/>
                </a:solidFill>
                <a:latin typeface="Noto Sans Mono CJK JP"/>
              </a:rPr>
              <a:t>R(u) = Rℓ exp([u]×)</a:t>
            </a:r>
            <a:endParaRPr b="1" lang="en-US" sz="1900" spc="-1" strike="noStrike">
              <a:solidFill>
                <a:srgbClr val="152238"/>
              </a:solidFill>
              <a:latin typeface="Noto Sans Mono CJK JP"/>
              <a:ea typeface="Noto Sans Mono CJK JP"/>
            </a:endParaRPr>
          </a:p>
          <a:p>
            <a:pPr algn="ctr"/>
            <a:r>
              <a:rPr b="1" lang="en-US" sz="1900" spc="-1" strike="noStrike">
                <a:solidFill>
                  <a:srgbClr val="152238"/>
                </a:solidFill>
                <a:latin typeface="Noto Sans Mono CJK JP"/>
              </a:rPr>
              <a:t>x = mℓ + δx</a:t>
            </a:r>
            <a:endParaRPr b="1" lang="en-US" sz="1900" spc="-1" strike="noStrike">
              <a:solidFill>
                <a:srgbClr val="152238"/>
              </a:solidFill>
              <a:latin typeface="Noto Sans Mono CJK JP"/>
              <a:ea typeface="Noto Sans Mono CJK JP"/>
            </a:endParaRPr>
          </a:p>
        </p:txBody>
      </p:sp>
      <p:sp>
        <p:nvSpPr>
          <p:cNvPr id="341" name="TextShape 15"/>
          <p:cNvSpPr txBox="1"/>
          <p:nvPr/>
        </p:nvSpPr>
        <p:spPr>
          <a:xfrm>
            <a:off x="6588000" y="2538000"/>
            <a:ext cx="46440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0" lang="en-US" sz="1100" spc="-1" strike="noStrike">
                <a:solidFill>
                  <a:srgbClr val="5c6b82"/>
                </a:solidFill>
                <a:latin typeface="Noto Sans Mono CJK JP"/>
              </a:rPr>
              <a:t>rotation update:  R ← R · exp([δu]×)</a:t>
            </a:r>
            <a:endParaRPr b="0" lang="en-US" sz="1100" spc="-1" strike="noStrike">
              <a:solidFill>
                <a:srgbClr val="5c6b82"/>
              </a:solidFill>
              <a:latin typeface="Noto Sans Mono CJK JP"/>
              <a:ea typeface="Noto Sans Mono CJK JP"/>
            </a:endParaRPr>
          </a:p>
        </p:txBody>
      </p:sp>
      <p:sp>
        <p:nvSpPr>
          <p:cNvPr id="342" name="Rectangle 16"/>
          <p:cNvSpPr/>
          <p:nvPr/>
        </p:nvSpPr>
        <p:spPr>
          <a:xfrm>
            <a:off x="6300000" y="3492000"/>
            <a:ext cx="5256000" cy="2016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343" name="TextShape 17"/>
          <p:cNvSpPr txBox="1"/>
          <p:nvPr/>
        </p:nvSpPr>
        <p:spPr>
          <a:xfrm>
            <a:off x="6516000" y="3672000"/>
            <a:ext cx="4788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400" spc="-1" strike="noStrike">
                <a:solidFill>
                  <a:srgbClr val="7c3aed"/>
                </a:solidFill>
                <a:latin typeface="Noto Sans CJK JP"/>
              </a:rPr>
              <a:t>refinement policy</a:t>
            </a:r>
            <a:endParaRPr b="1" lang="en-US" sz="1400" spc="-1" strike="noStrike">
              <a:solidFill>
                <a:srgbClr val="7c3aed"/>
              </a:solidFill>
              <a:latin typeface="Noto Sans CJK JP"/>
              <a:ea typeface="Noto Sans CJK JP"/>
            </a:endParaRPr>
          </a:p>
        </p:txBody>
      </p:sp>
      <p:sp>
        <p:nvSpPr>
          <p:cNvPr id="344" name="Ellipse 18"/>
          <p:cNvSpPr/>
          <p:nvPr/>
        </p:nvSpPr>
        <p:spPr>
          <a:xfrm>
            <a:off x="6588000" y="4032000"/>
            <a:ext cx="151200" cy="1512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345" name="TextShape 19"/>
          <p:cNvSpPr txBox="1"/>
          <p:nvPr/>
        </p:nvSpPr>
        <p:spPr>
          <a:xfrm>
            <a:off x="6840000" y="4021200"/>
            <a:ext cx="1548000" cy="1756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950" spc="-1" strike="noStrike">
                <a:solidFill>
                  <a:srgbClr val="152238"/>
                </a:solidFill>
                <a:latin typeface="Noto Sans CJK JP"/>
              </a:rPr>
              <a:t>pinhole / D=0</a:t>
            </a:r>
            <a:endParaRPr b="1" lang="en-US" sz="95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346" name="TextShape 20"/>
          <p:cNvSpPr txBox="1"/>
          <p:nvPr/>
        </p:nvSpPr>
        <p:spPr>
          <a:xfrm>
            <a:off x="8352000" y="4021200"/>
            <a:ext cx="2844000" cy="1756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950" spc="-1" strike="noStrike">
                <a:solidFill>
                  <a:srgbClr val="5c6b82"/>
                </a:solidFill>
                <a:latin typeface="Noto Sans CJK JP"/>
              </a:rPr>
              <a:t>analytic right-chart Jacobian</a:t>
            </a:r>
            <a:endParaRPr b="0" lang="en-US" sz="9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347" name="Ellipse 21"/>
          <p:cNvSpPr/>
          <p:nvPr/>
        </p:nvSpPr>
        <p:spPr>
          <a:xfrm>
            <a:off x="6588000" y="4338000"/>
            <a:ext cx="151200" cy="1512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48" name="TextShape 22"/>
          <p:cNvSpPr txBox="1"/>
          <p:nvPr/>
        </p:nvSpPr>
        <p:spPr>
          <a:xfrm>
            <a:off x="6840000" y="4327200"/>
            <a:ext cx="1548000" cy="1756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950" spc="-1" strike="noStrike">
                <a:solidFill>
                  <a:srgbClr val="152238"/>
                </a:solidFill>
                <a:latin typeface="Noto Sans CJK JP"/>
              </a:rPr>
              <a:t>distortion ≠ 0</a:t>
            </a:r>
            <a:endParaRPr b="1" lang="en-US" sz="95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349" name="TextShape 23"/>
          <p:cNvSpPr txBox="1"/>
          <p:nvPr/>
        </p:nvSpPr>
        <p:spPr>
          <a:xfrm>
            <a:off x="8352000" y="4327200"/>
            <a:ext cx="2844000" cy="1756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950" spc="-1" strike="noStrike">
                <a:solidFill>
                  <a:srgbClr val="5c6b82"/>
                </a:solidFill>
                <a:latin typeface="Noto Sans CJK JP"/>
              </a:rPr>
              <a:t>central finite difference</a:t>
            </a:r>
            <a:endParaRPr b="0" lang="en-US" sz="9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350" name="Ellipse 24"/>
          <p:cNvSpPr/>
          <p:nvPr/>
        </p:nvSpPr>
        <p:spPr>
          <a:xfrm>
            <a:off x="6588000" y="4644000"/>
            <a:ext cx="151200" cy="151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351" name="TextShape 25"/>
          <p:cNvSpPr txBox="1"/>
          <p:nvPr/>
        </p:nvSpPr>
        <p:spPr>
          <a:xfrm>
            <a:off x="6840000" y="4633200"/>
            <a:ext cx="1548000" cy="1756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950" spc="-1" strike="noStrike">
                <a:solidFill>
                  <a:srgbClr val="152238"/>
                </a:solidFill>
                <a:latin typeface="Noto Sans CJK JP"/>
              </a:rPr>
              <a:t>both branches</a:t>
            </a:r>
            <a:endParaRPr b="1" lang="en-US" sz="95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352" name="TextShape 26"/>
          <p:cNvSpPr txBox="1"/>
          <p:nvPr/>
        </p:nvSpPr>
        <p:spPr>
          <a:xfrm>
            <a:off x="8352000" y="4633200"/>
            <a:ext cx="2844000" cy="1756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950" spc="-1" strike="noStrike">
                <a:solidFill>
                  <a:srgbClr val="5c6b82"/>
                </a:solidFill>
                <a:latin typeface="Noto Sans CJK JP"/>
              </a:rPr>
              <a:t>same Φ + line search + guard</a:t>
            </a:r>
            <a:endParaRPr b="0" lang="en-US" sz="9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353" name="Ellipse 27"/>
          <p:cNvSpPr/>
          <p:nvPr/>
        </p:nvSpPr>
        <p:spPr>
          <a:xfrm>
            <a:off x="6588000" y="4950000"/>
            <a:ext cx="151200" cy="1512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354" name="TextShape 28"/>
          <p:cNvSpPr txBox="1"/>
          <p:nvPr/>
        </p:nvSpPr>
        <p:spPr>
          <a:xfrm>
            <a:off x="6840000" y="4939200"/>
            <a:ext cx="1548000" cy="1756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950" spc="-1" strike="noStrike">
                <a:solidFill>
                  <a:srgbClr val="152238"/>
                </a:solidFill>
                <a:latin typeface="Noto Sans CJK JP"/>
              </a:rPr>
              <a:t>invalid local law</a:t>
            </a:r>
            <a:endParaRPr b="1" lang="en-US" sz="95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355" name="TextShape 29"/>
          <p:cNvSpPr txBox="1"/>
          <p:nvPr/>
        </p:nvSpPr>
        <p:spPr>
          <a:xfrm>
            <a:off x="8352000" y="4939200"/>
            <a:ext cx="2844000" cy="1756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950" spc="-1" strike="noStrike">
                <a:solidFill>
                  <a:srgbClr val="5c6b82"/>
                </a:solidFill>
                <a:latin typeface="Noto Sans CJK JP"/>
              </a:rPr>
              <a:t>reject with diagnostics</a:t>
            </a:r>
            <a:endParaRPr b="0" lang="en-US" sz="9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356" name="Line 30"/>
          <p:cNvSpPr/>
          <p:nvPr/>
        </p:nvSpPr>
        <p:spPr>
          <a:xfrm>
            <a:off x="540000" y="6496200"/>
            <a:ext cx="11088000" cy="360"/>
          </a:xfrm>
          <a:prstGeom prst="line">
            <a:avLst/>
          </a:prstGeom>
          <a:ln w="432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7" name="TextShape 31"/>
          <p:cNvSpPr txBox="1"/>
          <p:nvPr/>
        </p:nvSpPr>
        <p:spPr>
          <a:xfrm>
            <a:off x="540000" y="6528600"/>
            <a:ext cx="4320000" cy="155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850" spc="-1" strike="noStrike">
                <a:solidFill>
                  <a:srgbClr val="9cb2ce"/>
                </a:solidFill>
                <a:latin typeface="Noto Sans CJK JP"/>
              </a:rPr>
              <a:t>ProbTF-demo  |  AprilTag implementation overview</a:t>
            </a:r>
            <a:endParaRPr b="0" lang="en-US" sz="850" spc="-1" strike="noStrike">
              <a:solidFill>
                <a:srgbClr val="9cb2ce"/>
              </a:solidFill>
              <a:latin typeface="Noto Sans CJK JP"/>
              <a:ea typeface="Noto Sans CJK JP"/>
            </a:endParaRPr>
          </a:p>
        </p:txBody>
      </p:sp>
      <p:sp>
        <p:nvSpPr>
          <p:cNvPr id="358" name="TextShape 32"/>
          <p:cNvSpPr txBox="1"/>
          <p:nvPr/>
        </p:nvSpPr>
        <p:spPr>
          <a:xfrm>
            <a:off x="11124000" y="6528600"/>
            <a:ext cx="504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r"/>
            <a:r>
              <a:rPr b="1" lang="en-US" sz="900" spc="-1" strike="noStrike">
                <a:solidFill>
                  <a:srgbClr val="2563eb"/>
                </a:solidFill>
                <a:latin typeface="Noto Sans CJK JP"/>
              </a:rPr>
              <a:t>09</a:t>
            </a:r>
            <a:endParaRPr b="1" lang="en-US" sz="9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</p:sp>
      <p:sp>
        <p:nvSpPr>
          <p:cNvPr id="360" name="TextShape 2"/>
          <p:cNvSpPr txBox="1"/>
          <p:nvPr/>
        </p:nvSpPr>
        <p:spPr>
          <a:xfrm>
            <a:off x="540000" y="180000"/>
            <a:ext cx="3240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000" spc="-1" strike="noStrike">
                <a:solidFill>
                  <a:srgbClr val="7c3aed"/>
                </a:solidFill>
                <a:latin typeface="Noto Sans CJK JP"/>
              </a:rPr>
              <a:t>LOCAL HESSIAN</a:t>
            </a:r>
            <a:endParaRPr b="1" lang="en-US" sz="1000" spc="-1" strike="noStrike">
              <a:solidFill>
                <a:srgbClr val="7c3aed"/>
              </a:solidFill>
              <a:latin typeface="Noto Sans CJK JP"/>
              <a:ea typeface="Noto Sans CJK JP"/>
            </a:endParaRPr>
          </a:p>
        </p:txBody>
      </p:sp>
      <p:sp>
        <p:nvSpPr>
          <p:cNvPr id="361" name="TextShape 3"/>
          <p:cNvSpPr txBox="1"/>
          <p:nvPr/>
        </p:nvSpPr>
        <p:spPr>
          <a:xfrm>
            <a:off x="540000" y="367200"/>
            <a:ext cx="10908000" cy="4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2500" spc="-1" strike="noStrike">
                <a:solidFill>
                  <a:srgbClr val="152238"/>
                </a:solidFill>
                <a:latin typeface="Noto Sans CJK JP"/>
              </a:rPr>
              <a:t>pixel uncertainty </a:t>
            </a:r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を </a:t>
            </a:r>
            <a:r>
              <a:rPr b="1" lang="en-US" sz="2500" spc="-1" strike="noStrike">
                <a:solidFill>
                  <a:srgbClr val="152238"/>
                </a:solidFill>
                <a:latin typeface="Noto Sans CJK JP"/>
              </a:rPr>
              <a:t>6-DoF joint precision </a:t>
            </a:r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へ</a:t>
            </a:r>
            <a:endParaRPr b="1" lang="en-US" sz="25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362" name="TextShape 4"/>
          <p:cNvSpPr txBox="1"/>
          <p:nvPr/>
        </p:nvSpPr>
        <p:spPr>
          <a:xfrm>
            <a:off x="540000" y="709200"/>
            <a:ext cx="10800000" cy="19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right perturbation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の符号と </a:t>
            </a:r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block ordering [δx; u] 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を固定</a:t>
            </a:r>
            <a:endParaRPr b="0" lang="en-US" sz="10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363" name="Line 5"/>
          <p:cNvSpPr/>
          <p:nvPr/>
        </p:nvSpPr>
        <p:spPr>
          <a:xfrm>
            <a:off x="540000" y="910800"/>
            <a:ext cx="11088000" cy="360"/>
          </a:xfrm>
          <a:prstGeom prst="line">
            <a:avLst/>
          </a:prstGeom>
          <a:ln w="54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4" name="Rectangle 6"/>
          <p:cNvSpPr/>
          <p:nvPr/>
        </p:nvSpPr>
        <p:spPr>
          <a:xfrm>
            <a:off x="0" y="0"/>
            <a:ext cx="936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365" name="Rectangle 7"/>
          <p:cNvSpPr/>
          <p:nvPr/>
        </p:nvSpPr>
        <p:spPr>
          <a:xfrm>
            <a:off x="576000" y="1224000"/>
            <a:ext cx="4212000" cy="4248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366" name="TextShape 8"/>
          <p:cNvSpPr txBox="1"/>
          <p:nvPr/>
        </p:nvSpPr>
        <p:spPr>
          <a:xfrm>
            <a:off x="792000" y="1422000"/>
            <a:ext cx="3744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400" spc="-1" strike="noStrike">
                <a:solidFill>
                  <a:srgbClr val="7c3aed"/>
                </a:solidFill>
                <a:latin typeface="Noto Sans CJK JP"/>
              </a:rPr>
              <a:t>image Jacobian</a:t>
            </a:r>
            <a:endParaRPr b="1" lang="en-US" sz="1400" spc="-1" strike="noStrike">
              <a:solidFill>
                <a:srgbClr val="7c3aed"/>
              </a:solidFill>
              <a:latin typeface="Noto Sans CJK JP"/>
              <a:ea typeface="Noto Sans CJK JP"/>
            </a:endParaRPr>
          </a:p>
        </p:txBody>
      </p:sp>
      <p:sp>
        <p:nvSpPr>
          <p:cNvPr id="367" name="TextShape 9"/>
          <p:cNvSpPr txBox="1"/>
          <p:nvPr/>
        </p:nvSpPr>
        <p:spPr>
          <a:xfrm>
            <a:off x="864000" y="1916640"/>
            <a:ext cx="3528000" cy="1463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152238"/>
                </a:solidFill>
                <a:latin typeface="Noto Sans Mono CJK JP"/>
              </a:rPr>
              <a:t>J_x,j = J_π,j</a:t>
            </a:r>
            <a:endParaRPr b="1" lang="en-US" sz="1600" spc="-1" strike="noStrike">
              <a:solidFill>
                <a:srgbClr val="152238"/>
              </a:solidFill>
              <a:latin typeface="Noto Sans Mono CJK JP"/>
              <a:ea typeface="Noto Sans Mono CJK JP"/>
            </a:endParaRPr>
          </a:p>
          <a:p>
            <a:pPr algn="ctr"/>
            <a:endParaRPr b="1" lang="en-US" sz="1600" spc="-1" strike="noStrike">
              <a:solidFill>
                <a:srgbClr val="152238"/>
              </a:solidFill>
              <a:latin typeface="Noto Sans Mono CJK JP"/>
              <a:ea typeface="Noto Sans Mono CJK JP"/>
            </a:endParaRPr>
          </a:p>
          <a:p>
            <a:pPr algn="ctr"/>
            <a:r>
              <a:rPr b="1" lang="en-US" sz="1600" spc="-1" strike="noStrike">
                <a:solidFill>
                  <a:srgbClr val="152238"/>
                </a:solidFill>
                <a:latin typeface="Noto Sans Mono CJK JP"/>
              </a:rPr>
              <a:t>J_u,j = −J_π,j Rℓ [pⱼ]×</a:t>
            </a:r>
            <a:endParaRPr b="1" lang="en-US" sz="1600" spc="-1" strike="noStrike">
              <a:solidFill>
                <a:srgbClr val="152238"/>
              </a:solidFill>
              <a:latin typeface="Noto Sans Mono CJK JP"/>
              <a:ea typeface="Noto Sans Mono CJK JP"/>
            </a:endParaRPr>
          </a:p>
          <a:p>
            <a:pPr algn="ctr"/>
            <a:endParaRPr b="1" lang="en-US" sz="1600" spc="-1" strike="noStrike">
              <a:solidFill>
                <a:srgbClr val="152238"/>
              </a:solidFill>
              <a:latin typeface="Noto Sans Mono CJK JP"/>
              <a:ea typeface="Noto Sans Mono CJK JP"/>
            </a:endParaRPr>
          </a:p>
          <a:p>
            <a:pPr algn="ctr"/>
            <a:r>
              <a:rPr b="1" lang="en-US" sz="1600" spc="-1" strike="noStrike">
                <a:solidFill>
                  <a:srgbClr val="152238"/>
                </a:solidFill>
                <a:latin typeface="Noto Sans Mono CJK JP"/>
              </a:rPr>
              <a:t>J = [ J_x   J_u ] ∈ R⁸ˣ⁶</a:t>
            </a:r>
            <a:endParaRPr b="1" lang="en-US" sz="1600" spc="-1" strike="noStrike">
              <a:solidFill>
                <a:srgbClr val="152238"/>
              </a:solidFill>
              <a:latin typeface="Noto Sans Mono CJK JP"/>
              <a:ea typeface="Noto Sans Mono CJK JP"/>
            </a:endParaRPr>
          </a:p>
        </p:txBody>
      </p:sp>
      <p:sp>
        <p:nvSpPr>
          <p:cNvPr id="368" name="Rectangle 10"/>
          <p:cNvSpPr/>
          <p:nvPr/>
        </p:nvSpPr>
        <p:spPr>
          <a:xfrm>
            <a:off x="936000" y="3348000"/>
            <a:ext cx="3492000" cy="900000"/>
          </a:xfrm>
          <a:prstGeom prst="roundRect">
            <a:avLst/>
          </a:prstGeom>
          <a:solidFill>
            <a:srgbClr val="f1ebff"/>
          </a:solidFill>
          <a:ln>
            <a:noFill/>
          </a:ln>
        </p:spPr>
      </p:sp>
      <p:sp>
        <p:nvSpPr>
          <p:cNvPr id="369" name="TextShape 11"/>
          <p:cNvSpPr txBox="1"/>
          <p:nvPr/>
        </p:nvSpPr>
        <p:spPr>
          <a:xfrm>
            <a:off x="1080000" y="3590640"/>
            <a:ext cx="3204000" cy="475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1300" spc="-1" strike="noStrike">
                <a:solidFill>
                  <a:srgbClr val="7c3aed"/>
                </a:solidFill>
                <a:latin typeface="Noto Sans Mono CJK JP"/>
              </a:rPr>
              <a:t>Σ_img = LLᵀ</a:t>
            </a:r>
            <a:endParaRPr b="1" lang="en-US" sz="1300" spc="-1" strike="noStrike">
              <a:solidFill>
                <a:srgbClr val="7c3aed"/>
              </a:solidFill>
              <a:latin typeface="Noto Sans Mono CJK JP"/>
              <a:ea typeface="Noto Sans Mono CJK JP"/>
            </a:endParaRPr>
          </a:p>
          <a:p>
            <a:pPr algn="ctr"/>
            <a:r>
              <a:rPr b="1" lang="en-US" sz="1300" spc="-1" strike="noStrike">
                <a:solidFill>
                  <a:srgbClr val="7c3aed"/>
                </a:solidFill>
                <a:latin typeface="Noto Sans Mono CJK JP"/>
              </a:rPr>
              <a:t>r_w=L⁻¹r,  J_w=L⁻¹J</a:t>
            </a:r>
            <a:endParaRPr b="1" lang="en-US" sz="1300" spc="-1" strike="noStrike">
              <a:solidFill>
                <a:srgbClr val="7c3aed"/>
              </a:solidFill>
              <a:latin typeface="Noto Sans Mono CJK JP"/>
              <a:ea typeface="Noto Sans Mono CJK JP"/>
            </a:endParaRPr>
          </a:p>
        </p:txBody>
      </p:sp>
      <p:sp>
        <p:nvSpPr>
          <p:cNvPr id="370" name="TextShape 12"/>
          <p:cNvSpPr txBox="1"/>
          <p:nvPr/>
        </p:nvSpPr>
        <p:spPr>
          <a:xfrm>
            <a:off x="936000" y="4590000"/>
            <a:ext cx="3492000" cy="405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0" lang="en-US" sz="1100" spc="-1" strike="noStrike">
                <a:solidFill>
                  <a:srgbClr val="5c6b82"/>
                </a:solidFill>
                <a:latin typeface="Noto Sans CJK JP"/>
              </a:rPr>
              <a:t>whitening → correlation / anisotropy </a:t>
            </a:r>
            <a:r>
              <a:rPr b="0" lang="zh-CN" sz="1100" spc="-1" strike="noStrike">
                <a:solidFill>
                  <a:srgbClr val="5c6b82"/>
                </a:solidFill>
                <a:latin typeface="Noto Sans CJK JP"/>
              </a:rPr>
              <a:t>を</a:t>
            </a:r>
            <a:endParaRPr b="0" lang="en-US" sz="11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zh-CN" sz="1100" spc="-1" strike="noStrike">
                <a:solidFill>
                  <a:srgbClr val="5c6b82"/>
                </a:solidFill>
                <a:latin typeface="Noto Sans CJK JP"/>
              </a:rPr>
              <a:t>全 </a:t>
            </a:r>
            <a:r>
              <a:rPr b="0" lang="en-US" sz="1100" spc="-1" strike="noStrike">
                <a:solidFill>
                  <a:srgbClr val="5c6b82"/>
                </a:solidFill>
                <a:latin typeface="Noto Sans CJK JP"/>
              </a:rPr>
              <a:t>block </a:t>
            </a:r>
            <a:r>
              <a:rPr b="0" lang="zh-CN" sz="1100" spc="-1" strike="noStrike">
                <a:solidFill>
                  <a:srgbClr val="5c6b82"/>
                </a:solidFill>
                <a:latin typeface="Noto Sans CJK JP"/>
              </a:rPr>
              <a:t>に反映</a:t>
            </a:r>
            <a:endParaRPr b="0" lang="en-US" sz="11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371" name="Rectangle 13"/>
          <p:cNvSpPr/>
          <p:nvPr/>
        </p:nvSpPr>
        <p:spPr>
          <a:xfrm>
            <a:off x="5220000" y="1224000"/>
            <a:ext cx="6336000" cy="4248000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</p:sp>
      <p:sp>
        <p:nvSpPr>
          <p:cNvPr id="372" name="TextShape 14"/>
          <p:cNvSpPr txBox="1"/>
          <p:nvPr/>
        </p:nvSpPr>
        <p:spPr>
          <a:xfrm>
            <a:off x="5436000" y="1422000"/>
            <a:ext cx="5868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400" spc="-1" strike="noStrike">
                <a:solidFill>
                  <a:srgbClr val="8de8f5"/>
                </a:solidFill>
                <a:latin typeface="Noto Sans CJK JP"/>
              </a:rPr>
              <a:t>Gauss–Newton precision</a:t>
            </a:r>
            <a:endParaRPr b="1" lang="en-US" sz="1400" spc="-1" strike="noStrike">
              <a:solidFill>
                <a:srgbClr val="8de8f5"/>
              </a:solidFill>
              <a:latin typeface="Noto Sans CJK JP"/>
              <a:ea typeface="Noto Sans CJK JP"/>
            </a:endParaRPr>
          </a:p>
        </p:txBody>
      </p:sp>
      <p:sp>
        <p:nvSpPr>
          <p:cNvPr id="373" name="TextShape 15"/>
          <p:cNvSpPr txBox="1"/>
          <p:nvPr/>
        </p:nvSpPr>
        <p:spPr>
          <a:xfrm>
            <a:off x="5508000" y="1862640"/>
            <a:ext cx="5724000" cy="52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1900" spc="-1" strike="noStrike">
                <a:solidFill>
                  <a:srgbClr val="ffffff"/>
                </a:solidFill>
                <a:latin typeface="Noto Sans Mono CJK JP"/>
              </a:rPr>
              <a:t>Hℓ = Jᵀ Σ_img⁻¹ J + H_prior</a:t>
            </a:r>
            <a:endParaRPr b="1" lang="en-US" sz="1900" spc="-1" strike="noStrike">
              <a:solidFill>
                <a:srgbClr val="ffffff"/>
              </a:solidFill>
              <a:latin typeface="Noto Sans Mono CJK JP"/>
              <a:ea typeface="Noto Sans Mono CJK JP"/>
            </a:endParaRPr>
          </a:p>
        </p:txBody>
      </p:sp>
      <p:sp>
        <p:nvSpPr>
          <p:cNvPr id="374" name="Rectangle 16"/>
          <p:cNvSpPr/>
          <p:nvPr/>
        </p:nvSpPr>
        <p:spPr>
          <a:xfrm>
            <a:off x="5940000" y="2664000"/>
            <a:ext cx="4896000" cy="1440000"/>
          </a:xfrm>
          <a:prstGeom prst="roundRect">
            <a:avLst/>
          </a:prstGeom>
          <a:solidFill>
            <a:srgbClr val="1c3352"/>
          </a:solidFill>
          <a:ln w="7200">
            <a:solidFill>
              <a:srgbClr val="3a5577"/>
            </a:solidFill>
            <a:round/>
          </a:ln>
        </p:spPr>
      </p:sp>
      <p:sp>
        <p:nvSpPr>
          <p:cNvPr id="375" name="TextShape 17"/>
          <p:cNvSpPr txBox="1"/>
          <p:nvPr/>
        </p:nvSpPr>
        <p:spPr>
          <a:xfrm>
            <a:off x="6120000" y="2888640"/>
            <a:ext cx="4536000" cy="12574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1700" spc="-1" strike="noStrike">
                <a:solidFill>
                  <a:srgbClr val="ffffff"/>
                </a:solidFill>
                <a:latin typeface="Noto Sans Mono CJK JP"/>
              </a:rPr>
              <a:t>       ┌ </a:t>
            </a:r>
            <a:r>
              <a:rPr b="1" lang="en-US" sz="1700" spc="-1" strike="noStrike">
                <a:solidFill>
                  <a:srgbClr val="ffffff"/>
                </a:solidFill>
                <a:latin typeface="Noto Sans Mono CJK JP"/>
              </a:rPr>
              <a:t>H_xx   H_xu ┐</a:t>
            </a:r>
            <a:endParaRPr b="1" lang="en-US" sz="1700" spc="-1" strike="noStrike">
              <a:solidFill>
                <a:srgbClr val="ffffff"/>
              </a:solidFill>
              <a:latin typeface="Noto Sans Mono CJK JP"/>
              <a:ea typeface="Noto Sans Mono CJK JP"/>
            </a:endParaRPr>
          </a:p>
          <a:p>
            <a:pPr algn="ctr"/>
            <a:r>
              <a:rPr b="1" lang="en-US" sz="1700" spc="-1" strike="noStrike">
                <a:solidFill>
                  <a:srgbClr val="ffffff"/>
                </a:solidFill>
                <a:latin typeface="Noto Sans Mono CJK JP"/>
              </a:rPr>
              <a:t>Hℓ  =  │               │</a:t>
            </a:r>
            <a:endParaRPr b="1" lang="en-US" sz="1700" spc="-1" strike="noStrike">
              <a:solidFill>
                <a:srgbClr val="ffffff"/>
              </a:solidFill>
              <a:latin typeface="Noto Sans Mono CJK JP"/>
              <a:ea typeface="Noto Sans Mono CJK JP"/>
            </a:endParaRPr>
          </a:p>
          <a:p>
            <a:pPr algn="ctr"/>
            <a:r>
              <a:rPr b="1" lang="en-US" sz="1700" spc="-1" strike="noStrike">
                <a:solidFill>
                  <a:srgbClr val="ffffff"/>
                </a:solidFill>
                <a:latin typeface="Noto Sans Mono CJK JP"/>
              </a:rPr>
              <a:t>       └ </a:t>
            </a:r>
            <a:r>
              <a:rPr b="1" lang="en-US" sz="1700" spc="-1" strike="noStrike">
                <a:solidFill>
                  <a:srgbClr val="ffffff"/>
                </a:solidFill>
                <a:latin typeface="Noto Sans Mono CJK JP"/>
              </a:rPr>
              <a:t>H_ux   H_uu ┘</a:t>
            </a:r>
            <a:endParaRPr b="1" lang="en-US" sz="1700" spc="-1" strike="noStrike">
              <a:solidFill>
                <a:srgbClr val="ffffff"/>
              </a:solidFill>
              <a:latin typeface="Noto Sans Mono CJK JP"/>
              <a:ea typeface="Noto Sans Mono CJK JP"/>
            </a:endParaRPr>
          </a:p>
          <a:p>
            <a:pPr algn="ctr"/>
            <a:r>
              <a:rPr b="1" lang="en-US" sz="1700" spc="-1" strike="noStrike">
                <a:solidFill>
                  <a:srgbClr val="ffffff"/>
                </a:solidFill>
                <a:latin typeface="Noto Sans Mono CJK JP"/>
              </a:rPr>
              <a:t>          </a:t>
            </a:r>
            <a:r>
              <a:rPr b="1" lang="en-US" sz="1700" spc="-1" strike="noStrike">
                <a:solidFill>
                  <a:srgbClr val="ffffff"/>
                </a:solidFill>
                <a:latin typeface="Noto Sans Mono CJK JP"/>
              </a:rPr>
              <a:t>3×3     3×3</a:t>
            </a:r>
            <a:endParaRPr b="1" lang="en-US" sz="1700" spc="-1" strike="noStrike">
              <a:solidFill>
                <a:srgbClr val="ffffff"/>
              </a:solidFill>
              <a:latin typeface="Noto Sans Mono CJK JP"/>
              <a:ea typeface="Noto Sans Mono CJK JP"/>
            </a:endParaRPr>
          </a:p>
        </p:txBody>
      </p:sp>
      <p:sp>
        <p:nvSpPr>
          <p:cNvPr id="376" name="Rectangle 18"/>
          <p:cNvSpPr/>
          <p:nvPr/>
        </p:nvSpPr>
        <p:spPr>
          <a:xfrm>
            <a:off x="5904000" y="4464000"/>
            <a:ext cx="2232000" cy="201600"/>
          </a:xfrm>
          <a:prstGeom prst="roundRect">
            <a:avLst/>
          </a:prstGeom>
          <a:solidFill>
            <a:srgbClr val="1c3352"/>
          </a:solidFill>
          <a:ln>
            <a:noFill/>
          </a:ln>
        </p:spPr>
      </p:sp>
      <p:sp>
        <p:nvSpPr>
          <p:cNvPr id="377" name="TextShape 19"/>
          <p:cNvSpPr txBox="1"/>
          <p:nvPr/>
        </p:nvSpPr>
        <p:spPr>
          <a:xfrm>
            <a:off x="5904000" y="4539240"/>
            <a:ext cx="2232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1000" spc="-1" strike="noStrike">
                <a:solidFill>
                  <a:srgbClr val="0891b2"/>
                </a:solidFill>
                <a:latin typeface="Noto Sans CJK JP"/>
              </a:rPr>
              <a:t>symmetrize</a:t>
            </a:r>
            <a:endParaRPr b="1" lang="en-US" sz="1000" spc="-1" strike="noStrike">
              <a:solidFill>
                <a:srgbClr val="0891b2"/>
              </a:solidFill>
              <a:latin typeface="Noto Sans CJK JP"/>
              <a:ea typeface="Noto Sans CJK JP"/>
            </a:endParaRPr>
          </a:p>
        </p:txBody>
      </p:sp>
      <p:sp>
        <p:nvSpPr>
          <p:cNvPr id="378" name="Rectangle 20"/>
          <p:cNvSpPr/>
          <p:nvPr/>
        </p:nvSpPr>
        <p:spPr>
          <a:xfrm>
            <a:off x="8532000" y="4464000"/>
            <a:ext cx="2232000" cy="201600"/>
          </a:xfrm>
          <a:prstGeom prst="roundRect">
            <a:avLst/>
          </a:prstGeom>
          <a:solidFill>
            <a:srgbClr val="e8f7f1"/>
          </a:solidFill>
          <a:ln>
            <a:noFill/>
          </a:ln>
        </p:spPr>
      </p:sp>
      <p:sp>
        <p:nvSpPr>
          <p:cNvPr id="379" name="TextShape 21"/>
          <p:cNvSpPr txBox="1"/>
          <p:nvPr/>
        </p:nvSpPr>
        <p:spPr>
          <a:xfrm>
            <a:off x="8532000" y="4539240"/>
            <a:ext cx="2232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1000" spc="-1" strike="noStrike">
                <a:solidFill>
                  <a:srgbClr val="059669"/>
                </a:solidFill>
                <a:latin typeface="Noto Sans CJK JP"/>
              </a:rPr>
              <a:t>Cholesky / solve</a:t>
            </a:r>
            <a:endParaRPr b="1" lang="en-US" sz="10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380" name="TextShape 22"/>
          <p:cNvSpPr txBox="1"/>
          <p:nvPr/>
        </p:nvSpPr>
        <p:spPr>
          <a:xfrm>
            <a:off x="5688000" y="5040000"/>
            <a:ext cx="54000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1" lang="en-US" sz="1100" spc="-1" strike="noStrike">
                <a:solidFill>
                  <a:srgbClr val="fdecec"/>
                </a:solidFill>
                <a:latin typeface="Noto Sans CJK JP"/>
              </a:rPr>
              <a:t>H_xx </a:t>
            </a:r>
            <a:r>
              <a:rPr b="1" lang="zh-CN" sz="1100" spc="-1" strike="noStrike">
                <a:solidFill>
                  <a:srgbClr val="fdecec"/>
                </a:solidFill>
                <a:latin typeface="Noto Sans CJK JP"/>
              </a:rPr>
              <a:t>または </a:t>
            </a:r>
            <a:r>
              <a:rPr b="1" lang="en-US" sz="1100" spc="-1" strike="noStrike">
                <a:solidFill>
                  <a:srgbClr val="fdecec"/>
                </a:solidFill>
                <a:latin typeface="Noto Sans CJK JP"/>
              </a:rPr>
              <a:t>Schur precision </a:t>
            </a:r>
            <a:r>
              <a:rPr b="1" lang="zh-CN" sz="1100" spc="-1" strike="noStrike">
                <a:solidFill>
                  <a:srgbClr val="fdecec"/>
                </a:solidFill>
                <a:latin typeface="Noto Sans CJK JP"/>
              </a:rPr>
              <a:t>が非 </a:t>
            </a:r>
            <a:r>
              <a:rPr b="1" lang="en-US" sz="1100" spc="-1" strike="noStrike">
                <a:solidFill>
                  <a:srgbClr val="fdecec"/>
                </a:solidFill>
                <a:latin typeface="Noto Sans CJK JP"/>
              </a:rPr>
              <a:t>SPD → publish </a:t>
            </a:r>
            <a:r>
              <a:rPr b="1" lang="zh-CN" sz="1100" spc="-1" strike="noStrike">
                <a:solidFill>
                  <a:srgbClr val="fdecec"/>
                </a:solidFill>
                <a:latin typeface="Noto Sans CJK JP"/>
              </a:rPr>
              <a:t>しない</a:t>
            </a:r>
            <a:endParaRPr b="1" lang="en-US" sz="1100" spc="-1" strike="noStrike">
              <a:solidFill>
                <a:srgbClr val="fdecec"/>
              </a:solidFill>
              <a:latin typeface="Noto Sans CJK JP"/>
              <a:ea typeface="Noto Sans CJK JP"/>
            </a:endParaRPr>
          </a:p>
        </p:txBody>
      </p:sp>
      <p:sp>
        <p:nvSpPr>
          <p:cNvPr id="381" name="Line 23"/>
          <p:cNvSpPr/>
          <p:nvPr/>
        </p:nvSpPr>
        <p:spPr>
          <a:xfrm>
            <a:off x="540000" y="6496200"/>
            <a:ext cx="11088000" cy="360"/>
          </a:xfrm>
          <a:prstGeom prst="line">
            <a:avLst/>
          </a:prstGeom>
          <a:ln w="432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2" name="TextShape 24"/>
          <p:cNvSpPr txBox="1"/>
          <p:nvPr/>
        </p:nvSpPr>
        <p:spPr>
          <a:xfrm>
            <a:off x="540000" y="6528600"/>
            <a:ext cx="4320000" cy="155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850" spc="-1" strike="noStrike">
                <a:solidFill>
                  <a:srgbClr val="9cb2ce"/>
                </a:solidFill>
                <a:latin typeface="Noto Sans CJK JP"/>
              </a:rPr>
              <a:t>ProbTF-demo  |  AprilTag implementation overview</a:t>
            </a:r>
            <a:endParaRPr b="0" lang="en-US" sz="850" spc="-1" strike="noStrike">
              <a:solidFill>
                <a:srgbClr val="9cb2ce"/>
              </a:solidFill>
              <a:latin typeface="Noto Sans CJK JP"/>
              <a:ea typeface="Noto Sans CJK JP"/>
            </a:endParaRPr>
          </a:p>
        </p:txBody>
      </p:sp>
      <p:sp>
        <p:nvSpPr>
          <p:cNvPr id="383" name="TextShape 25"/>
          <p:cNvSpPr txBox="1"/>
          <p:nvPr/>
        </p:nvSpPr>
        <p:spPr>
          <a:xfrm>
            <a:off x="11124000" y="6528600"/>
            <a:ext cx="504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r"/>
            <a:r>
              <a:rPr b="1" lang="en-US" sz="900" spc="-1" strike="noStrike">
                <a:solidFill>
                  <a:srgbClr val="2563eb"/>
                </a:solidFill>
                <a:latin typeface="Noto Sans CJK JP"/>
              </a:rPr>
              <a:t>10</a:t>
            </a:r>
            <a:endParaRPr b="1" lang="en-US" sz="9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</p:sp>
      <p:sp>
        <p:nvSpPr>
          <p:cNvPr id="385" name="TextShape 2"/>
          <p:cNvSpPr txBox="1"/>
          <p:nvPr/>
        </p:nvSpPr>
        <p:spPr>
          <a:xfrm>
            <a:off x="540000" y="180000"/>
            <a:ext cx="3240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000" spc="-1" strike="noStrike">
                <a:solidFill>
                  <a:srgbClr val="059669"/>
                </a:solidFill>
                <a:latin typeface="Noto Sans CJK JP"/>
              </a:rPr>
              <a:t>HESSIAN → DISTRIBUTION</a:t>
            </a:r>
            <a:endParaRPr b="1" lang="en-US" sz="10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386" name="TextShape 3"/>
          <p:cNvSpPr txBox="1"/>
          <p:nvPr/>
        </p:nvSpPr>
        <p:spPr>
          <a:xfrm>
            <a:off x="540000" y="367200"/>
            <a:ext cx="10908000" cy="4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2500" spc="-1" strike="noStrike">
                <a:solidFill>
                  <a:srgbClr val="152238"/>
                </a:solidFill>
                <a:latin typeface="Noto Sans CJK JP"/>
              </a:rPr>
              <a:t>S</a:t>
            </a:r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・</a:t>
            </a:r>
            <a:r>
              <a:rPr b="1" lang="en-US" sz="2500" spc="-1" strike="noStrike">
                <a:solidFill>
                  <a:srgbClr val="152238"/>
                </a:solidFill>
                <a:latin typeface="Noto Sans CJK JP"/>
              </a:rPr>
              <a:t>B</a:t>
            </a:r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・</a:t>
            </a:r>
            <a:r>
              <a:rPr b="1" lang="en-US" sz="2500" spc="-1" strike="noStrike">
                <a:solidFill>
                  <a:srgbClr val="152238"/>
                </a:solidFill>
                <a:latin typeface="Noto Sans CJK JP"/>
              </a:rPr>
              <a:t>Λ</a:t>
            </a:r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・</a:t>
            </a:r>
            <a:r>
              <a:rPr b="1" lang="en-US" sz="2500" spc="-1" strike="noStrike">
                <a:solidFill>
                  <a:srgbClr val="152238"/>
                </a:solidFill>
                <a:latin typeface="Noto Sans CJK JP"/>
              </a:rPr>
              <a:t>C </a:t>
            </a:r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は同じ局所 </a:t>
            </a:r>
            <a:r>
              <a:rPr b="1" lang="en-US" sz="2500" spc="-1" strike="noStrike">
                <a:solidFill>
                  <a:srgbClr val="152238"/>
                </a:solidFill>
                <a:latin typeface="Noto Sans CJK JP"/>
              </a:rPr>
              <a:t>posterior </a:t>
            </a:r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の分解</a:t>
            </a:r>
            <a:endParaRPr b="1" lang="en-US" sz="25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387" name="TextShape 4"/>
          <p:cNvSpPr txBox="1"/>
          <p:nvPr/>
        </p:nvSpPr>
        <p:spPr>
          <a:xfrm>
            <a:off x="540000" y="709200"/>
            <a:ext cx="10800000" cy="19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translation–rotation coupling 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を捨てずに </a:t>
            </a:r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ProbTF 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の公開表現へ</a:t>
            </a:r>
            <a:endParaRPr b="0" lang="en-US" sz="10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388" name="Line 5"/>
          <p:cNvSpPr/>
          <p:nvPr/>
        </p:nvSpPr>
        <p:spPr>
          <a:xfrm>
            <a:off x="540000" y="910800"/>
            <a:ext cx="11088000" cy="360"/>
          </a:xfrm>
          <a:prstGeom prst="line">
            <a:avLst/>
          </a:prstGeom>
          <a:ln w="54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9" name="Rectangle 6"/>
          <p:cNvSpPr/>
          <p:nvPr/>
        </p:nvSpPr>
        <p:spPr>
          <a:xfrm>
            <a:off x="0" y="0"/>
            <a:ext cx="9360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390" name="Rectangle 7"/>
          <p:cNvSpPr/>
          <p:nvPr/>
        </p:nvSpPr>
        <p:spPr>
          <a:xfrm>
            <a:off x="576000" y="1224000"/>
            <a:ext cx="5004000" cy="900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391" name="Rectangle 8"/>
          <p:cNvSpPr/>
          <p:nvPr/>
        </p:nvSpPr>
        <p:spPr>
          <a:xfrm>
            <a:off x="576000" y="1224000"/>
            <a:ext cx="28800" cy="90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92" name="TextShape 9"/>
          <p:cNvSpPr txBox="1"/>
          <p:nvPr/>
        </p:nvSpPr>
        <p:spPr>
          <a:xfrm>
            <a:off x="774000" y="1342800"/>
            <a:ext cx="2304000" cy="28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500" spc="-1" strike="noStrike">
                <a:solidFill>
                  <a:srgbClr val="2563eb"/>
                </a:solidFill>
                <a:latin typeface="Noto Sans Mono CJK JP"/>
              </a:rPr>
              <a:t>Sℓ = H_xx⁻¹</a:t>
            </a:r>
            <a:endParaRPr b="1" lang="en-US" sz="1500" spc="-1" strike="noStrike">
              <a:solidFill>
                <a:srgbClr val="2563eb"/>
              </a:solidFill>
              <a:latin typeface="Noto Sans Mono CJK JP"/>
              <a:ea typeface="Noto Sans Mono CJK JP"/>
            </a:endParaRPr>
          </a:p>
        </p:txBody>
      </p:sp>
      <p:sp>
        <p:nvSpPr>
          <p:cNvPr id="393" name="TextShape 10"/>
          <p:cNvSpPr txBox="1"/>
          <p:nvPr/>
        </p:nvSpPr>
        <p:spPr>
          <a:xfrm>
            <a:off x="3006000" y="1394640"/>
            <a:ext cx="2304000" cy="3848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姿勢 </a:t>
            </a:r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u 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を固定した後の </a:t>
            </a:r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conditional residual covariance</a:t>
            </a:r>
            <a:endParaRPr b="0" lang="en-US" sz="10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394" name="Rectangle 11"/>
          <p:cNvSpPr/>
          <p:nvPr/>
        </p:nvSpPr>
        <p:spPr>
          <a:xfrm>
            <a:off x="576000" y="2304000"/>
            <a:ext cx="5004000" cy="900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395" name="Rectangle 12"/>
          <p:cNvSpPr/>
          <p:nvPr/>
        </p:nvSpPr>
        <p:spPr>
          <a:xfrm>
            <a:off x="576000" y="2304000"/>
            <a:ext cx="28800" cy="90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396" name="TextShape 13"/>
          <p:cNvSpPr txBox="1"/>
          <p:nvPr/>
        </p:nvSpPr>
        <p:spPr>
          <a:xfrm>
            <a:off x="774000" y="2422800"/>
            <a:ext cx="2304000" cy="28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500" spc="-1" strike="noStrike">
                <a:solidFill>
                  <a:srgbClr val="7c3aed"/>
                </a:solidFill>
                <a:latin typeface="Noto Sans Mono CJK JP"/>
              </a:rPr>
              <a:t>Bℓ = −H_xx⁻¹ H_xu</a:t>
            </a:r>
            <a:endParaRPr b="1" lang="en-US" sz="1500" spc="-1" strike="noStrike">
              <a:solidFill>
                <a:srgbClr val="7c3aed"/>
              </a:solidFill>
              <a:latin typeface="Noto Sans Mono CJK JP"/>
              <a:ea typeface="Noto Sans Mono CJK JP"/>
            </a:endParaRPr>
          </a:p>
        </p:txBody>
      </p:sp>
      <p:sp>
        <p:nvSpPr>
          <p:cNvPr id="397" name="TextShape 14"/>
          <p:cNvSpPr txBox="1"/>
          <p:nvPr/>
        </p:nvSpPr>
        <p:spPr>
          <a:xfrm>
            <a:off x="3006000" y="2474640"/>
            <a:ext cx="2304000" cy="3848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回転が変わると条件付き </a:t>
            </a:r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translation mean 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がどう動くか</a:t>
            </a:r>
            <a:endParaRPr b="0" lang="en-US" sz="10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398" name="Rectangle 15"/>
          <p:cNvSpPr/>
          <p:nvPr/>
        </p:nvSpPr>
        <p:spPr>
          <a:xfrm>
            <a:off x="576000" y="3384000"/>
            <a:ext cx="5004000" cy="900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399" name="Rectangle 16"/>
          <p:cNvSpPr/>
          <p:nvPr/>
        </p:nvSpPr>
        <p:spPr>
          <a:xfrm>
            <a:off x="576000" y="3384000"/>
            <a:ext cx="28800" cy="90000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400" name="TextShape 17"/>
          <p:cNvSpPr txBox="1"/>
          <p:nvPr/>
        </p:nvSpPr>
        <p:spPr>
          <a:xfrm>
            <a:off x="774000" y="3502800"/>
            <a:ext cx="2304000" cy="460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250" spc="-1" strike="noStrike">
                <a:solidFill>
                  <a:srgbClr val="059669"/>
                </a:solidFill>
                <a:latin typeface="Noto Sans Mono CJK JP"/>
              </a:rPr>
              <a:t>Λℓ = H_uu − H_ux ·</a:t>
            </a:r>
            <a:endParaRPr b="1" lang="en-US" sz="1250" spc="-1" strike="noStrike">
              <a:solidFill>
                <a:srgbClr val="059669"/>
              </a:solidFill>
              <a:latin typeface="Noto Sans Mono CJK JP"/>
              <a:ea typeface="Noto Sans Mono CJK JP"/>
            </a:endParaRPr>
          </a:p>
          <a:p>
            <a:r>
              <a:rPr b="1" lang="en-US" sz="1250" spc="-1" strike="noStrike">
                <a:solidFill>
                  <a:srgbClr val="059669"/>
                </a:solidFill>
                <a:latin typeface="Noto Sans Mono CJK JP"/>
              </a:rPr>
              <a:t>       </a:t>
            </a:r>
            <a:r>
              <a:rPr b="1" lang="en-US" sz="1250" spc="-1" strike="noStrike">
                <a:solidFill>
                  <a:srgbClr val="059669"/>
                </a:solidFill>
                <a:latin typeface="Noto Sans Mono CJK JP"/>
              </a:rPr>
              <a:t>H_xx⁻¹ H_xu</a:t>
            </a:r>
            <a:endParaRPr b="1" lang="en-US" sz="1250" spc="-1" strike="noStrike">
              <a:solidFill>
                <a:srgbClr val="059669"/>
              </a:solidFill>
              <a:latin typeface="Noto Sans Mono CJK JP"/>
              <a:ea typeface="Noto Sans Mono CJK JP"/>
            </a:endParaRPr>
          </a:p>
        </p:txBody>
      </p:sp>
      <p:sp>
        <p:nvSpPr>
          <p:cNvPr id="401" name="TextShape 18"/>
          <p:cNvSpPr txBox="1"/>
          <p:nvPr/>
        </p:nvSpPr>
        <p:spPr>
          <a:xfrm>
            <a:off x="3006000" y="3554640"/>
            <a:ext cx="2304000" cy="3848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translation 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を周辺化した </a:t>
            </a:r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rotation precision</a:t>
            </a:r>
            <a:endParaRPr b="0" lang="en-US" sz="10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402" name="Rectangle 19"/>
          <p:cNvSpPr/>
          <p:nvPr/>
        </p:nvSpPr>
        <p:spPr>
          <a:xfrm>
            <a:off x="576000" y="4644000"/>
            <a:ext cx="5004000" cy="828000"/>
          </a:xfrm>
          <a:prstGeom prst="roundRect">
            <a:avLst/>
          </a:prstGeom>
          <a:solidFill>
            <a:srgbClr val="fdecec"/>
          </a:solidFill>
          <a:ln w="7200">
            <a:solidFill>
              <a:srgbClr val="f3a6a6"/>
            </a:solidFill>
            <a:round/>
          </a:ln>
        </p:spPr>
      </p:sp>
      <p:sp>
        <p:nvSpPr>
          <p:cNvPr id="403" name="TextShape 20"/>
          <p:cNvSpPr txBox="1"/>
          <p:nvPr/>
        </p:nvSpPr>
        <p:spPr>
          <a:xfrm>
            <a:off x="756000" y="4842000"/>
            <a:ext cx="4644000" cy="424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1" lang="en-US" sz="1150" spc="-1" strike="noStrike">
                <a:solidFill>
                  <a:srgbClr val="dc2626"/>
                </a:solidFill>
                <a:latin typeface="Noto Sans CJK JP"/>
              </a:rPr>
              <a:t>S </a:t>
            </a:r>
            <a:r>
              <a:rPr b="1" lang="zh-CN" sz="1150" spc="-1" strike="noStrike">
                <a:solidFill>
                  <a:srgbClr val="dc2626"/>
                </a:solidFill>
                <a:latin typeface="Noto Sans CJK JP"/>
              </a:rPr>
              <a:t>は </a:t>
            </a:r>
            <a:r>
              <a:rPr b="1" lang="en-US" sz="1150" spc="-1" strike="noStrike">
                <a:solidFill>
                  <a:srgbClr val="dc2626"/>
                </a:solidFill>
                <a:latin typeface="Noto Sans CJK JP"/>
              </a:rPr>
              <a:t>translation </a:t>
            </a:r>
            <a:r>
              <a:rPr b="1" lang="zh-CN" sz="1150" spc="-1" strike="noStrike">
                <a:solidFill>
                  <a:srgbClr val="dc2626"/>
                </a:solidFill>
                <a:latin typeface="Noto Sans CJK JP"/>
              </a:rPr>
              <a:t>の </a:t>
            </a:r>
            <a:r>
              <a:rPr b="1" lang="en-US" sz="1150" spc="-1" strike="noStrike">
                <a:solidFill>
                  <a:srgbClr val="dc2626"/>
                </a:solidFill>
                <a:latin typeface="Noto Sans CJK JP"/>
              </a:rPr>
              <a:t>marginal covariance </a:t>
            </a:r>
            <a:r>
              <a:rPr b="1" lang="zh-CN" sz="1150" spc="-1" strike="noStrike">
                <a:solidFill>
                  <a:srgbClr val="dc2626"/>
                </a:solidFill>
                <a:latin typeface="Noto Sans CJK JP"/>
              </a:rPr>
              <a:t>ではない</a:t>
            </a:r>
            <a:endParaRPr b="1" lang="en-US" sz="115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  <a:p>
            <a:pPr algn="ctr"/>
            <a:r>
              <a:rPr b="1" lang="en-US" sz="1150" spc="-1" strike="noStrike">
                <a:solidFill>
                  <a:srgbClr val="dc2626"/>
                </a:solidFill>
                <a:latin typeface="Noto Sans CJK JP"/>
              </a:rPr>
              <a:t>Q </a:t>
            </a:r>
            <a:r>
              <a:rPr b="1" lang="zh-CN" sz="1150" spc="-1" strike="noStrike">
                <a:solidFill>
                  <a:srgbClr val="dc2626"/>
                </a:solidFill>
                <a:latin typeface="Noto Sans CJK JP"/>
              </a:rPr>
              <a:t>を周辺化すると </a:t>
            </a:r>
            <a:r>
              <a:rPr b="1" lang="en-US" sz="1150" spc="-1" strike="noStrike">
                <a:solidFill>
                  <a:srgbClr val="dc2626"/>
                </a:solidFill>
                <a:latin typeface="Noto Sans CJK JP"/>
              </a:rPr>
              <a:t>coupling </a:t>
            </a:r>
            <a:r>
              <a:rPr b="1" lang="zh-CN" sz="1150" spc="-1" strike="noStrike">
                <a:solidFill>
                  <a:srgbClr val="dc2626"/>
                </a:solidFill>
                <a:latin typeface="Noto Sans CJK JP"/>
              </a:rPr>
              <a:t>が位置 </a:t>
            </a:r>
            <a:r>
              <a:rPr b="1" lang="en-US" sz="1150" spc="-1" strike="noStrike">
                <a:solidFill>
                  <a:srgbClr val="dc2626"/>
                </a:solidFill>
                <a:latin typeface="Noto Sans CJK JP"/>
              </a:rPr>
              <a:t>law </a:t>
            </a:r>
            <a:r>
              <a:rPr b="1" lang="zh-CN" sz="1150" spc="-1" strike="noStrike">
                <a:solidFill>
                  <a:srgbClr val="dc2626"/>
                </a:solidFill>
                <a:latin typeface="Noto Sans CJK JP"/>
              </a:rPr>
              <a:t>へ寄与</a:t>
            </a:r>
            <a:endParaRPr b="1" lang="en-US" sz="115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</p:txBody>
      </p:sp>
      <p:sp>
        <p:nvSpPr>
          <p:cNvPr id="404" name="Rectangle 21"/>
          <p:cNvSpPr/>
          <p:nvPr/>
        </p:nvSpPr>
        <p:spPr>
          <a:xfrm>
            <a:off x="6084000" y="1224000"/>
            <a:ext cx="5472000" cy="4248000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</p:sp>
      <p:sp>
        <p:nvSpPr>
          <p:cNvPr id="405" name="TextShape 22"/>
          <p:cNvSpPr txBox="1"/>
          <p:nvPr/>
        </p:nvSpPr>
        <p:spPr>
          <a:xfrm>
            <a:off x="6300000" y="1422000"/>
            <a:ext cx="5004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400" spc="-1" strike="noStrike">
                <a:solidFill>
                  <a:srgbClr val="8de8f5"/>
                </a:solidFill>
                <a:latin typeface="Noto Sans CJK JP"/>
              </a:rPr>
              <a:t>local u → public vec(R) coupling</a:t>
            </a:r>
            <a:endParaRPr b="1" lang="en-US" sz="1400" spc="-1" strike="noStrike">
              <a:solidFill>
                <a:srgbClr val="8de8f5"/>
              </a:solidFill>
              <a:latin typeface="Noto Sans CJK JP"/>
              <a:ea typeface="Noto Sans CJK JP"/>
            </a:endParaRPr>
          </a:p>
        </p:txBody>
      </p:sp>
      <p:sp>
        <p:nvSpPr>
          <p:cNvPr id="406" name="TextShape 23"/>
          <p:cNvSpPr txBox="1"/>
          <p:nvPr/>
        </p:nvSpPr>
        <p:spPr>
          <a:xfrm>
            <a:off x="6408000" y="1862640"/>
            <a:ext cx="4788000" cy="12963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1400" spc="-1" strike="noStrike">
                <a:solidFill>
                  <a:srgbClr val="ffffff"/>
                </a:solidFill>
                <a:latin typeface="Noto Sans Mono CJK JP"/>
              </a:rPr>
              <a:t>D_rot = [ vec(R[e₁]×)</a:t>
            </a:r>
            <a:endParaRPr b="1" lang="en-US" sz="1400" spc="-1" strike="noStrike">
              <a:solidFill>
                <a:srgbClr val="ffffff"/>
              </a:solidFill>
              <a:latin typeface="Noto Sans Mono CJK JP"/>
              <a:ea typeface="Noto Sans Mono CJK JP"/>
            </a:endParaRPr>
          </a:p>
          <a:p>
            <a:pPr algn="ctr"/>
            <a:r>
              <a:rPr b="1" lang="en-US" sz="1400" spc="-1" strike="noStrike">
                <a:solidFill>
                  <a:srgbClr val="ffffff"/>
                </a:solidFill>
                <a:latin typeface="Noto Sans Mono CJK JP"/>
              </a:rPr>
              <a:t>          </a:t>
            </a:r>
            <a:r>
              <a:rPr b="1" lang="en-US" sz="1400" spc="-1" strike="noStrike">
                <a:solidFill>
                  <a:srgbClr val="ffffff"/>
                </a:solidFill>
                <a:latin typeface="Noto Sans Mono CJK JP"/>
              </a:rPr>
              <a:t>vec(R[e₂]×)</a:t>
            </a:r>
            <a:endParaRPr b="1" lang="en-US" sz="1400" spc="-1" strike="noStrike">
              <a:solidFill>
                <a:srgbClr val="ffffff"/>
              </a:solidFill>
              <a:latin typeface="Noto Sans Mono CJK JP"/>
              <a:ea typeface="Noto Sans Mono CJK JP"/>
            </a:endParaRPr>
          </a:p>
          <a:p>
            <a:pPr algn="ctr"/>
            <a:r>
              <a:rPr b="1" lang="en-US" sz="1400" spc="-1" strike="noStrike">
                <a:solidFill>
                  <a:srgbClr val="ffffff"/>
                </a:solidFill>
                <a:latin typeface="Noto Sans Mono CJK JP"/>
              </a:rPr>
              <a:t>          </a:t>
            </a:r>
            <a:r>
              <a:rPr b="1" lang="en-US" sz="1400" spc="-1" strike="noStrike">
                <a:solidFill>
                  <a:srgbClr val="ffffff"/>
                </a:solidFill>
                <a:latin typeface="Noto Sans Mono CJK JP"/>
              </a:rPr>
              <a:t>vec(R[e₃]×) ]</a:t>
            </a:r>
            <a:endParaRPr b="1" lang="en-US" sz="1400" spc="-1" strike="noStrike">
              <a:solidFill>
                <a:srgbClr val="ffffff"/>
              </a:solidFill>
              <a:latin typeface="Noto Sans Mono CJK JP"/>
              <a:ea typeface="Noto Sans Mono CJK JP"/>
            </a:endParaRPr>
          </a:p>
          <a:p>
            <a:pPr algn="ctr"/>
            <a:endParaRPr b="1" lang="en-US" sz="1400" spc="-1" strike="noStrike">
              <a:solidFill>
                <a:srgbClr val="ffffff"/>
              </a:solidFill>
              <a:latin typeface="Noto Sans Mono CJK JP"/>
              <a:ea typeface="Noto Sans Mono CJK JP"/>
            </a:endParaRPr>
          </a:p>
          <a:p>
            <a:pPr algn="ctr"/>
            <a:r>
              <a:rPr b="1" lang="en-US" sz="1400" spc="-1" strike="noStrike">
                <a:solidFill>
                  <a:srgbClr val="ffffff"/>
                </a:solidFill>
                <a:latin typeface="Noto Sans Mono CJK JP"/>
              </a:rPr>
              <a:t>D_rotᵀD_rot = 2I</a:t>
            </a:r>
            <a:endParaRPr b="1" lang="en-US" sz="1400" spc="-1" strike="noStrike">
              <a:solidFill>
                <a:srgbClr val="ffffff"/>
              </a:solidFill>
              <a:latin typeface="Noto Sans Mono CJK JP"/>
              <a:ea typeface="Noto Sans Mono CJK JP"/>
            </a:endParaRPr>
          </a:p>
        </p:txBody>
      </p:sp>
      <p:sp>
        <p:nvSpPr>
          <p:cNvPr id="407" name="Rectangle 24"/>
          <p:cNvSpPr/>
          <p:nvPr/>
        </p:nvSpPr>
        <p:spPr>
          <a:xfrm>
            <a:off x="6696000" y="3240000"/>
            <a:ext cx="4248000" cy="612000"/>
          </a:xfrm>
          <a:prstGeom prst="roundRect">
            <a:avLst/>
          </a:prstGeom>
          <a:solidFill>
            <a:srgbClr val="1c3352"/>
          </a:solidFill>
          <a:ln w="7200">
            <a:solidFill>
              <a:srgbClr val="3a5577"/>
            </a:solidFill>
            <a:round/>
          </a:ln>
        </p:spPr>
      </p:sp>
      <p:sp>
        <p:nvSpPr>
          <p:cNvPr id="408" name="TextShape 25"/>
          <p:cNvSpPr txBox="1"/>
          <p:nvPr/>
        </p:nvSpPr>
        <p:spPr>
          <a:xfrm>
            <a:off x="6840000" y="3435840"/>
            <a:ext cx="3960000" cy="29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8de8f5"/>
                </a:solidFill>
                <a:latin typeface="Noto Sans Mono CJK JP"/>
              </a:rPr>
              <a:t>Cℓ = Bℓ D_rot⁺ = ½ Bℓ D_rotᵀ</a:t>
            </a:r>
            <a:endParaRPr b="1" lang="en-US" sz="1600" spc="-1" strike="noStrike">
              <a:solidFill>
                <a:srgbClr val="8de8f5"/>
              </a:solidFill>
              <a:latin typeface="Noto Sans Mono CJK JP"/>
              <a:ea typeface="Noto Sans Mono CJK JP"/>
            </a:endParaRPr>
          </a:p>
        </p:txBody>
      </p:sp>
      <p:sp>
        <p:nvSpPr>
          <p:cNvPr id="409" name="TextShape 26"/>
          <p:cNvSpPr txBox="1"/>
          <p:nvPr/>
        </p:nvSpPr>
        <p:spPr>
          <a:xfrm>
            <a:off x="6444000" y="4256640"/>
            <a:ext cx="4752000" cy="59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1400" spc="-1" strike="noStrike">
                <a:solidFill>
                  <a:srgbClr val="ffffff"/>
                </a:solidFill>
                <a:latin typeface="Noto Sans Mono CJK JP"/>
              </a:rPr>
              <a:t>X | Q=q,L=ℓ  ~  N(</a:t>
            </a:r>
            <a:endParaRPr b="1" lang="en-US" sz="1400" spc="-1" strike="noStrike">
              <a:solidFill>
                <a:srgbClr val="ffffff"/>
              </a:solidFill>
              <a:latin typeface="Noto Sans Mono CJK JP"/>
              <a:ea typeface="Noto Sans Mono CJK JP"/>
            </a:endParaRPr>
          </a:p>
          <a:p>
            <a:pPr algn="ctr"/>
            <a:r>
              <a:rPr b="1" lang="en-US" sz="1400" spc="-1" strike="noStrike">
                <a:solidFill>
                  <a:srgbClr val="ffffff"/>
                </a:solidFill>
                <a:latin typeface="Noto Sans Mono CJK JP"/>
              </a:rPr>
              <a:t>  </a:t>
            </a:r>
            <a:r>
              <a:rPr b="1" lang="en-US" sz="1400" spc="-1" strike="noStrike">
                <a:solidFill>
                  <a:srgbClr val="ffffff"/>
                </a:solidFill>
                <a:latin typeface="Noto Sans Mono CJK JP"/>
              </a:rPr>
              <a:t>mℓ + Cℓ(vec R(q) − ρℓ), Sℓ )</a:t>
            </a:r>
            <a:endParaRPr b="1" lang="en-US" sz="1400" spc="-1" strike="noStrike">
              <a:solidFill>
                <a:srgbClr val="ffffff"/>
              </a:solidFill>
              <a:latin typeface="Noto Sans Mono CJK JP"/>
              <a:ea typeface="Noto Sans Mono CJK JP"/>
            </a:endParaRPr>
          </a:p>
        </p:txBody>
      </p:sp>
      <p:sp>
        <p:nvSpPr>
          <p:cNvPr id="410" name="Rectangle 27"/>
          <p:cNvSpPr/>
          <p:nvPr/>
        </p:nvSpPr>
        <p:spPr>
          <a:xfrm>
            <a:off x="7236000" y="5112000"/>
            <a:ext cx="3096000" cy="201600"/>
          </a:xfrm>
          <a:prstGeom prst="roundRect">
            <a:avLst/>
          </a:prstGeom>
          <a:solidFill>
            <a:srgbClr val="e8f7f1"/>
          </a:solidFill>
          <a:ln>
            <a:noFill/>
          </a:ln>
        </p:spPr>
      </p:sp>
      <p:sp>
        <p:nvSpPr>
          <p:cNvPr id="411" name="TextShape 28"/>
          <p:cNvSpPr txBox="1"/>
          <p:nvPr/>
        </p:nvSpPr>
        <p:spPr>
          <a:xfrm>
            <a:off x="7236000" y="5187240"/>
            <a:ext cx="3096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1000" spc="-1" strike="noStrike">
                <a:solidFill>
                  <a:srgbClr val="059669"/>
                </a:solidFill>
                <a:latin typeface="Noto Sans CJK JP"/>
              </a:rPr>
              <a:t>ρℓ = vec R(qℓ) </a:t>
            </a:r>
            <a:r>
              <a:rPr b="1" lang="zh-CN" sz="1000" spc="-1" strike="noStrike">
                <a:solidFill>
                  <a:srgbClr val="059669"/>
                </a:solidFill>
                <a:latin typeface="Noto Sans CJK JP"/>
              </a:rPr>
              <a:t>は導出値</a:t>
            </a:r>
            <a:endParaRPr b="1" lang="en-US" sz="10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412" name="Line 29"/>
          <p:cNvSpPr/>
          <p:nvPr/>
        </p:nvSpPr>
        <p:spPr>
          <a:xfrm>
            <a:off x="540000" y="6496200"/>
            <a:ext cx="11088000" cy="360"/>
          </a:xfrm>
          <a:prstGeom prst="line">
            <a:avLst/>
          </a:prstGeom>
          <a:ln w="432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3" name="TextShape 30"/>
          <p:cNvSpPr txBox="1"/>
          <p:nvPr/>
        </p:nvSpPr>
        <p:spPr>
          <a:xfrm>
            <a:off x="540000" y="6528600"/>
            <a:ext cx="4320000" cy="155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850" spc="-1" strike="noStrike">
                <a:solidFill>
                  <a:srgbClr val="9cb2ce"/>
                </a:solidFill>
                <a:latin typeface="Noto Sans CJK JP"/>
              </a:rPr>
              <a:t>ProbTF-demo  |  AprilTag implementation overview</a:t>
            </a:r>
            <a:endParaRPr b="0" lang="en-US" sz="850" spc="-1" strike="noStrike">
              <a:solidFill>
                <a:srgbClr val="9cb2ce"/>
              </a:solidFill>
              <a:latin typeface="Noto Sans CJK JP"/>
              <a:ea typeface="Noto Sans CJK JP"/>
            </a:endParaRPr>
          </a:p>
        </p:txBody>
      </p:sp>
      <p:sp>
        <p:nvSpPr>
          <p:cNvPr id="414" name="TextShape 31"/>
          <p:cNvSpPr txBox="1"/>
          <p:nvPr/>
        </p:nvSpPr>
        <p:spPr>
          <a:xfrm>
            <a:off x="11124000" y="6528600"/>
            <a:ext cx="504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r"/>
            <a:r>
              <a:rPr b="1" lang="en-US" sz="900" spc="-1" strike="noStrike">
                <a:solidFill>
                  <a:srgbClr val="2563eb"/>
                </a:solidFill>
                <a:latin typeface="Noto Sans CJK JP"/>
              </a:rPr>
              <a:t>11</a:t>
            </a:r>
            <a:endParaRPr b="1" lang="en-US" sz="9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</p:sp>
      <p:sp>
        <p:nvSpPr>
          <p:cNvPr id="416" name="TextShape 2"/>
          <p:cNvSpPr txBox="1"/>
          <p:nvPr/>
        </p:nvSpPr>
        <p:spPr>
          <a:xfrm>
            <a:off x="540000" y="180000"/>
            <a:ext cx="3240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000" spc="-1" strike="noStrike">
                <a:solidFill>
                  <a:srgbClr val="059669"/>
                </a:solidFill>
                <a:latin typeface="Noto Sans CJK JP"/>
              </a:rPr>
              <a:t>ORIENTATION &amp; MIXTURE MASS</a:t>
            </a:r>
            <a:endParaRPr b="1" lang="en-US" sz="10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417" name="TextShape 3"/>
          <p:cNvSpPr txBox="1"/>
          <p:nvPr/>
        </p:nvSpPr>
        <p:spPr>
          <a:xfrm>
            <a:off x="540000" y="367200"/>
            <a:ext cx="10908000" cy="4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2500" spc="-1" strike="noStrike">
                <a:solidFill>
                  <a:srgbClr val="152238"/>
                </a:solidFill>
                <a:latin typeface="Noto Sans CJK JP"/>
              </a:rPr>
              <a:t>Schur precision </a:t>
            </a:r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を </a:t>
            </a:r>
            <a:r>
              <a:rPr b="1" lang="en-US" sz="2500" spc="-1" strike="noStrike">
                <a:solidFill>
                  <a:srgbClr val="152238"/>
                </a:solidFill>
                <a:latin typeface="Noto Sans CJK JP"/>
              </a:rPr>
              <a:t>Bingham</a:t>
            </a:r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、局所 </a:t>
            </a:r>
            <a:r>
              <a:rPr b="1" lang="en-US" sz="2500" spc="-1" strike="noStrike">
                <a:solidFill>
                  <a:srgbClr val="152238"/>
                </a:solidFill>
                <a:latin typeface="Noto Sans CJK JP"/>
              </a:rPr>
              <a:t>mass </a:t>
            </a:r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を </a:t>
            </a:r>
            <a:r>
              <a:rPr b="1" lang="en-US" sz="2500" spc="-1" strike="noStrike">
                <a:solidFill>
                  <a:srgbClr val="152238"/>
                </a:solidFill>
                <a:latin typeface="Noto Sans CJK JP"/>
              </a:rPr>
              <a:t>weight </a:t>
            </a:r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へ</a:t>
            </a:r>
            <a:endParaRPr b="1" lang="en-US" sz="25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418" name="TextShape 4"/>
          <p:cNvSpPr txBox="1"/>
          <p:nvPr/>
        </p:nvSpPr>
        <p:spPr>
          <a:xfrm>
            <a:off x="540000" y="709200"/>
            <a:ext cx="10800000" cy="19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mode 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の高さだけでなく </a:t>
            </a:r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Hessian volume 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も考慮</a:t>
            </a:r>
            <a:endParaRPr b="0" lang="en-US" sz="10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419" name="Line 5"/>
          <p:cNvSpPr/>
          <p:nvPr/>
        </p:nvSpPr>
        <p:spPr>
          <a:xfrm>
            <a:off x="540000" y="910800"/>
            <a:ext cx="11088000" cy="360"/>
          </a:xfrm>
          <a:prstGeom prst="line">
            <a:avLst/>
          </a:prstGeom>
          <a:ln w="54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0" name="Rectangle 6"/>
          <p:cNvSpPr/>
          <p:nvPr/>
        </p:nvSpPr>
        <p:spPr>
          <a:xfrm>
            <a:off x="0" y="0"/>
            <a:ext cx="9360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421" name="Rectangle 7"/>
          <p:cNvSpPr/>
          <p:nvPr/>
        </p:nvSpPr>
        <p:spPr>
          <a:xfrm>
            <a:off x="576000" y="1224000"/>
            <a:ext cx="5256000" cy="4248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422" name="TextShape 8"/>
          <p:cNvSpPr txBox="1"/>
          <p:nvPr/>
        </p:nvSpPr>
        <p:spPr>
          <a:xfrm>
            <a:off x="792000" y="1422000"/>
            <a:ext cx="4788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400" spc="-1" strike="noStrike">
                <a:solidFill>
                  <a:srgbClr val="059669"/>
                </a:solidFill>
                <a:latin typeface="Noto Sans CJK JP"/>
              </a:rPr>
              <a:t>Bingham orientation</a:t>
            </a:r>
            <a:endParaRPr b="1" lang="en-US" sz="14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423" name="TextShape 9"/>
          <p:cNvSpPr txBox="1"/>
          <p:nvPr/>
        </p:nvSpPr>
        <p:spPr>
          <a:xfrm>
            <a:off x="864000" y="1862640"/>
            <a:ext cx="4644000" cy="149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1500" spc="-1" strike="noStrike">
                <a:solidFill>
                  <a:srgbClr val="152238"/>
                </a:solidFill>
                <a:latin typeface="Noto Sans Mono CJK JP"/>
              </a:rPr>
              <a:t>qℓ(u) = qℓ ⊗ δq(u)</a:t>
            </a:r>
            <a:endParaRPr b="1" lang="en-US" sz="1500" spc="-1" strike="noStrike">
              <a:solidFill>
                <a:srgbClr val="152238"/>
              </a:solidFill>
              <a:latin typeface="Noto Sans Mono CJK JP"/>
              <a:ea typeface="Noto Sans Mono CJK JP"/>
            </a:endParaRPr>
          </a:p>
          <a:p>
            <a:pPr algn="ctr"/>
            <a:r>
              <a:rPr b="1" lang="en-US" sz="1500" spc="-1" strike="noStrike">
                <a:solidFill>
                  <a:srgbClr val="152238"/>
                </a:solidFill>
                <a:latin typeface="Noto Sans Mono CJK JP"/>
              </a:rPr>
              <a:t>Eℓ = 2 ∂qℓ(u)/∂u |₀</a:t>
            </a:r>
            <a:endParaRPr b="1" lang="en-US" sz="1500" spc="-1" strike="noStrike">
              <a:solidFill>
                <a:srgbClr val="152238"/>
              </a:solidFill>
              <a:latin typeface="Noto Sans Mono CJK JP"/>
              <a:ea typeface="Noto Sans Mono CJK JP"/>
            </a:endParaRPr>
          </a:p>
          <a:p>
            <a:pPr algn="ctr"/>
            <a:r>
              <a:rPr b="1" lang="en-US" sz="1500" spc="-1" strike="noStrike">
                <a:solidFill>
                  <a:srgbClr val="152238"/>
                </a:solidFill>
                <a:latin typeface="Noto Sans Mono CJK JP"/>
              </a:rPr>
              <a:t>EℓᵀEℓ = I,   Eℓᵀqℓ = 0</a:t>
            </a:r>
            <a:endParaRPr b="1" lang="en-US" sz="1500" spc="-1" strike="noStrike">
              <a:solidFill>
                <a:srgbClr val="152238"/>
              </a:solidFill>
              <a:latin typeface="Noto Sans Mono CJK JP"/>
              <a:ea typeface="Noto Sans Mono CJK JP"/>
            </a:endParaRPr>
          </a:p>
          <a:p>
            <a:pPr algn="ctr"/>
            <a:endParaRPr b="1" lang="en-US" sz="1500" spc="-1" strike="noStrike">
              <a:solidFill>
                <a:srgbClr val="152238"/>
              </a:solidFill>
              <a:latin typeface="Noto Sans Mono CJK JP"/>
              <a:ea typeface="Noto Sans Mono CJK JP"/>
            </a:endParaRPr>
          </a:p>
          <a:p>
            <a:pPr algn="ctr"/>
            <a:r>
              <a:rPr b="1" lang="en-US" sz="1500" spc="-1" strike="noStrike">
                <a:solidFill>
                  <a:srgbClr val="152238"/>
                </a:solidFill>
                <a:latin typeface="Noto Sans Mono CJK JP"/>
              </a:rPr>
              <a:t>Aℓ⁰ = −2 Eℓ Λℓ Eℓᵀ</a:t>
            </a:r>
            <a:endParaRPr b="1" lang="en-US" sz="1500" spc="-1" strike="noStrike">
              <a:solidFill>
                <a:srgbClr val="152238"/>
              </a:solidFill>
              <a:latin typeface="Noto Sans Mono CJK JP"/>
              <a:ea typeface="Noto Sans Mono CJK JP"/>
            </a:endParaRPr>
          </a:p>
        </p:txBody>
      </p:sp>
      <p:sp>
        <p:nvSpPr>
          <p:cNvPr id="424" name="Rectangle 10"/>
          <p:cNvSpPr/>
          <p:nvPr/>
        </p:nvSpPr>
        <p:spPr>
          <a:xfrm>
            <a:off x="972000" y="3708000"/>
            <a:ext cx="4284000" cy="612000"/>
          </a:xfrm>
          <a:prstGeom prst="roundRect">
            <a:avLst/>
          </a:prstGeom>
          <a:solidFill>
            <a:srgbClr val="e8f7f1"/>
          </a:solidFill>
          <a:ln>
            <a:noFill/>
          </a:ln>
        </p:spPr>
      </p:sp>
      <p:sp>
        <p:nvSpPr>
          <p:cNvPr id="425" name="TextShape 11"/>
          <p:cNvSpPr txBox="1"/>
          <p:nvPr/>
        </p:nvSpPr>
        <p:spPr>
          <a:xfrm>
            <a:off x="1116000" y="3896640"/>
            <a:ext cx="3996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1400" spc="-1" strike="noStrike">
                <a:solidFill>
                  <a:srgbClr val="059669"/>
                </a:solidFill>
                <a:latin typeface="Noto Sans Mono CJK JP"/>
              </a:rPr>
              <a:t>Aℓ = Aℓ⁰ − tr(Aℓ⁰)/4 · I₄</a:t>
            </a:r>
            <a:endParaRPr b="1" lang="en-US" sz="1400" spc="-1" strike="noStrike">
              <a:solidFill>
                <a:srgbClr val="059669"/>
              </a:solidFill>
              <a:latin typeface="Noto Sans Mono CJK JP"/>
              <a:ea typeface="Noto Sans Mono CJK JP"/>
            </a:endParaRPr>
          </a:p>
        </p:txBody>
      </p:sp>
      <p:sp>
        <p:nvSpPr>
          <p:cNvPr id="426" name="TextShape 12"/>
          <p:cNvSpPr txBox="1"/>
          <p:nvPr/>
        </p:nvSpPr>
        <p:spPr>
          <a:xfrm>
            <a:off x="936000" y="4680000"/>
            <a:ext cx="4392000" cy="405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0" lang="en-US" sz="1100" spc="-1" strike="noStrike">
                <a:solidFill>
                  <a:srgbClr val="5c6b82"/>
                </a:solidFill>
                <a:latin typeface="Noto Sans CJK JP"/>
              </a:rPr>
              <a:t>trace-zero gauge / antipodal q≡−q</a:t>
            </a:r>
            <a:endParaRPr b="0" lang="en-US" sz="11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en-US" sz="1100" spc="-1" strike="noStrike">
                <a:solidFill>
                  <a:srgbClr val="5c6b82"/>
                </a:solidFill>
                <a:latin typeface="Noto Sans CJK JP"/>
              </a:rPr>
              <a:t>local curvature = ½ uᵀΛu</a:t>
            </a:r>
            <a:endParaRPr b="0" lang="en-US" sz="11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427" name="Rectangle 13"/>
          <p:cNvSpPr/>
          <p:nvPr/>
        </p:nvSpPr>
        <p:spPr>
          <a:xfrm>
            <a:off x="6300000" y="1224000"/>
            <a:ext cx="5256000" cy="4248000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</p:sp>
      <p:sp>
        <p:nvSpPr>
          <p:cNvPr id="428" name="TextShape 14"/>
          <p:cNvSpPr txBox="1"/>
          <p:nvPr/>
        </p:nvSpPr>
        <p:spPr>
          <a:xfrm>
            <a:off x="6516000" y="1422000"/>
            <a:ext cx="4788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400" spc="-1" strike="noStrike">
                <a:solidFill>
                  <a:srgbClr val="8de8f5"/>
                </a:solidFill>
                <a:latin typeface="Noto Sans CJK JP"/>
              </a:rPr>
              <a:t>Laplace component weight</a:t>
            </a:r>
            <a:endParaRPr b="1" lang="en-US" sz="1400" spc="-1" strike="noStrike">
              <a:solidFill>
                <a:srgbClr val="8de8f5"/>
              </a:solidFill>
              <a:latin typeface="Noto Sans CJK JP"/>
              <a:ea typeface="Noto Sans CJK JP"/>
            </a:endParaRPr>
          </a:p>
        </p:txBody>
      </p:sp>
      <p:sp>
        <p:nvSpPr>
          <p:cNvPr id="429" name="TextShape 15"/>
          <p:cNvSpPr txBox="1"/>
          <p:nvPr/>
        </p:nvSpPr>
        <p:spPr>
          <a:xfrm>
            <a:off x="6588000" y="1916640"/>
            <a:ext cx="4644000" cy="94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1700" spc="-1" strike="noStrike">
                <a:solidFill>
                  <a:srgbClr val="ffffff"/>
                </a:solidFill>
                <a:latin typeface="Noto Sans Mono CJK JP"/>
              </a:rPr>
              <a:t>log aℓ = −Φℓ</a:t>
            </a:r>
            <a:endParaRPr b="1" lang="en-US" sz="1700" spc="-1" strike="noStrike">
              <a:solidFill>
                <a:srgbClr val="ffffff"/>
              </a:solidFill>
              <a:latin typeface="Noto Sans Mono CJK JP"/>
              <a:ea typeface="Noto Sans Mono CJK JP"/>
            </a:endParaRPr>
          </a:p>
          <a:p>
            <a:pPr algn="ctr"/>
            <a:r>
              <a:rPr b="1" lang="en-US" sz="1700" spc="-1" strike="noStrike">
                <a:solidFill>
                  <a:srgbClr val="ffffff"/>
                </a:solidFill>
                <a:latin typeface="Noto Sans Mono CJK JP"/>
              </a:rPr>
              <a:t>          − </a:t>
            </a:r>
            <a:r>
              <a:rPr b="1" lang="en-US" sz="1700" spc="-1" strike="noStrike">
                <a:solidFill>
                  <a:srgbClr val="ffffff"/>
                </a:solidFill>
                <a:latin typeface="Noto Sans Mono CJK JP"/>
              </a:rPr>
              <a:t>½ log det H_xx,ℓ</a:t>
            </a:r>
            <a:endParaRPr b="1" lang="en-US" sz="1700" spc="-1" strike="noStrike">
              <a:solidFill>
                <a:srgbClr val="ffffff"/>
              </a:solidFill>
              <a:latin typeface="Noto Sans Mono CJK JP"/>
              <a:ea typeface="Noto Sans Mono CJK JP"/>
            </a:endParaRPr>
          </a:p>
          <a:p>
            <a:pPr algn="ctr"/>
            <a:r>
              <a:rPr b="1" lang="en-US" sz="1700" spc="-1" strike="noStrike">
                <a:solidFill>
                  <a:srgbClr val="ffffff"/>
                </a:solidFill>
                <a:latin typeface="Noto Sans Mono CJK JP"/>
              </a:rPr>
              <a:t>          − </a:t>
            </a:r>
            <a:r>
              <a:rPr b="1" lang="en-US" sz="1700" spc="-1" strike="noStrike">
                <a:solidFill>
                  <a:srgbClr val="ffffff"/>
                </a:solidFill>
                <a:latin typeface="Noto Sans Mono CJK JP"/>
              </a:rPr>
              <a:t>½ log det Λℓ</a:t>
            </a:r>
            <a:endParaRPr b="1" lang="en-US" sz="1700" spc="-1" strike="noStrike">
              <a:solidFill>
                <a:srgbClr val="ffffff"/>
              </a:solidFill>
              <a:latin typeface="Noto Sans Mono CJK JP"/>
              <a:ea typeface="Noto Sans Mono CJK JP"/>
            </a:endParaRPr>
          </a:p>
        </p:txBody>
      </p:sp>
      <p:sp>
        <p:nvSpPr>
          <p:cNvPr id="430" name="TextShape 16"/>
          <p:cNvSpPr txBox="1"/>
          <p:nvPr/>
        </p:nvSpPr>
        <p:spPr>
          <a:xfrm>
            <a:off x="8568000" y="2996640"/>
            <a:ext cx="324000" cy="47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2600" spc="-1" strike="noStrike">
                <a:solidFill>
                  <a:srgbClr val="0891b2"/>
                </a:solidFill>
                <a:latin typeface="Noto Sans CJK JP"/>
              </a:rPr>
              <a:t>→</a:t>
            </a:r>
            <a:endParaRPr b="1" lang="en-US" sz="2600" spc="-1" strike="noStrike">
              <a:solidFill>
                <a:srgbClr val="0891b2"/>
              </a:solidFill>
              <a:latin typeface="Noto Sans CJK JP"/>
              <a:ea typeface="Noto Sans CJK JP"/>
            </a:endParaRPr>
          </a:p>
        </p:txBody>
      </p:sp>
      <p:sp>
        <p:nvSpPr>
          <p:cNvPr id="431" name="Rectangle 17"/>
          <p:cNvSpPr/>
          <p:nvPr/>
        </p:nvSpPr>
        <p:spPr>
          <a:xfrm>
            <a:off x="6876000" y="3348000"/>
            <a:ext cx="4104000" cy="648000"/>
          </a:xfrm>
          <a:prstGeom prst="roundRect">
            <a:avLst/>
          </a:prstGeom>
          <a:solidFill>
            <a:srgbClr val="1c3352"/>
          </a:solidFill>
          <a:ln w="7200">
            <a:solidFill>
              <a:srgbClr val="3a5577"/>
            </a:solidFill>
            <a:round/>
          </a:ln>
        </p:spPr>
      </p:sp>
      <p:sp>
        <p:nvSpPr>
          <p:cNvPr id="432" name="TextShape 18"/>
          <p:cNvSpPr txBox="1"/>
          <p:nvPr/>
        </p:nvSpPr>
        <p:spPr>
          <a:xfrm>
            <a:off x="7020000" y="3554640"/>
            <a:ext cx="3816000" cy="33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1800" spc="-1" strike="noStrike">
                <a:solidFill>
                  <a:srgbClr val="8de8f5"/>
                </a:solidFill>
                <a:latin typeface="Noto Sans Mono CJK JP"/>
              </a:rPr>
              <a:t>wℓ = softmax(log aℓ)</a:t>
            </a:r>
            <a:endParaRPr b="1" lang="en-US" sz="1800" spc="-1" strike="noStrike">
              <a:solidFill>
                <a:srgbClr val="8de8f5"/>
              </a:solidFill>
              <a:latin typeface="Noto Sans Mono CJK JP"/>
              <a:ea typeface="Noto Sans Mono CJK JP"/>
            </a:endParaRPr>
          </a:p>
        </p:txBody>
      </p:sp>
      <p:sp>
        <p:nvSpPr>
          <p:cNvPr id="433" name="TextShape 19"/>
          <p:cNvSpPr txBox="1"/>
          <p:nvPr/>
        </p:nvSpPr>
        <p:spPr>
          <a:xfrm>
            <a:off x="6660000" y="4356000"/>
            <a:ext cx="4536000" cy="44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200" spc="-1" strike="noStrike">
                <a:solidFill>
                  <a:srgbClr val="ffffff"/>
                </a:solidFill>
                <a:latin typeface="Noto Sans CJK JP"/>
              </a:rPr>
              <a:t>✓ </a:t>
            </a:r>
            <a:r>
              <a:rPr b="0" lang="en-US" sz="1200" spc="-1" strike="noStrike">
                <a:solidFill>
                  <a:srgbClr val="ffffff"/>
                </a:solidFill>
                <a:latin typeface="Noto Sans CJK JP"/>
              </a:rPr>
              <a:t>peak height  −Φℓ</a:t>
            </a:r>
            <a:endParaRPr b="0" lang="en-US" sz="12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  <a:p>
            <a:r>
              <a:rPr b="0" lang="en-US" sz="1200" spc="-1" strike="noStrike">
                <a:solidFill>
                  <a:srgbClr val="ffffff"/>
                </a:solidFill>
                <a:latin typeface="Noto Sans CJK JP"/>
              </a:rPr>
              <a:t>✓ </a:t>
            </a:r>
            <a:r>
              <a:rPr b="0" lang="en-US" sz="1200" spc="-1" strike="noStrike">
                <a:solidFill>
                  <a:srgbClr val="ffffff"/>
                </a:solidFill>
                <a:latin typeface="Noto Sans CJK JP"/>
              </a:rPr>
              <a:t>local spread  det(H_xx) det(Λ)</a:t>
            </a:r>
            <a:endParaRPr b="0" lang="en-US" sz="12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434" name="Rectangle 20"/>
          <p:cNvSpPr/>
          <p:nvPr/>
        </p:nvSpPr>
        <p:spPr>
          <a:xfrm>
            <a:off x="6948000" y="5040000"/>
            <a:ext cx="3924000" cy="20160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</p:sp>
      <p:sp>
        <p:nvSpPr>
          <p:cNvPr id="435" name="TextShape 21"/>
          <p:cNvSpPr txBox="1"/>
          <p:nvPr/>
        </p:nvSpPr>
        <p:spPr>
          <a:xfrm>
            <a:off x="6948000" y="5115240"/>
            <a:ext cx="3924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1000" spc="-1" strike="noStrike">
                <a:solidFill>
                  <a:srgbClr val="d97706"/>
                </a:solidFill>
                <a:latin typeface="Noto Sans CJK JP"/>
              </a:rPr>
              <a:t>reprojection error </a:t>
            </a:r>
            <a:r>
              <a:rPr b="1" lang="zh-CN" sz="1000" spc="-1" strike="noStrike">
                <a:solidFill>
                  <a:srgbClr val="d97706"/>
                </a:solidFill>
                <a:latin typeface="Noto Sans CJK JP"/>
              </a:rPr>
              <a:t>だけでは決めない</a:t>
            </a:r>
            <a:endParaRPr b="1" lang="en-US" sz="1000" spc="-1" strike="noStrike">
              <a:solidFill>
                <a:srgbClr val="d97706"/>
              </a:solidFill>
              <a:latin typeface="Noto Sans CJK JP"/>
              <a:ea typeface="Noto Sans CJK JP"/>
            </a:endParaRPr>
          </a:p>
        </p:txBody>
      </p:sp>
      <p:sp>
        <p:nvSpPr>
          <p:cNvPr id="436" name="Line 22"/>
          <p:cNvSpPr/>
          <p:nvPr/>
        </p:nvSpPr>
        <p:spPr>
          <a:xfrm>
            <a:off x="540000" y="6496200"/>
            <a:ext cx="11088000" cy="360"/>
          </a:xfrm>
          <a:prstGeom prst="line">
            <a:avLst/>
          </a:prstGeom>
          <a:ln w="432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7" name="TextShape 23"/>
          <p:cNvSpPr txBox="1"/>
          <p:nvPr/>
        </p:nvSpPr>
        <p:spPr>
          <a:xfrm>
            <a:off x="540000" y="6528600"/>
            <a:ext cx="4320000" cy="155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850" spc="-1" strike="noStrike">
                <a:solidFill>
                  <a:srgbClr val="9cb2ce"/>
                </a:solidFill>
                <a:latin typeface="Noto Sans CJK JP"/>
              </a:rPr>
              <a:t>ProbTF-demo  |  AprilTag implementation overview</a:t>
            </a:r>
            <a:endParaRPr b="0" lang="en-US" sz="850" spc="-1" strike="noStrike">
              <a:solidFill>
                <a:srgbClr val="9cb2ce"/>
              </a:solidFill>
              <a:latin typeface="Noto Sans CJK JP"/>
              <a:ea typeface="Noto Sans CJK JP"/>
            </a:endParaRPr>
          </a:p>
        </p:txBody>
      </p:sp>
      <p:sp>
        <p:nvSpPr>
          <p:cNvPr id="438" name="TextShape 24"/>
          <p:cNvSpPr txBox="1"/>
          <p:nvPr/>
        </p:nvSpPr>
        <p:spPr>
          <a:xfrm>
            <a:off x="11124000" y="6528600"/>
            <a:ext cx="504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r"/>
            <a:r>
              <a:rPr b="1" lang="en-US" sz="900" spc="-1" strike="noStrike">
                <a:solidFill>
                  <a:srgbClr val="2563eb"/>
                </a:solidFill>
                <a:latin typeface="Noto Sans CJK JP"/>
              </a:rPr>
              <a:t>12</a:t>
            </a:r>
            <a:endParaRPr b="1" lang="en-US" sz="9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</p:sp>
      <p:sp>
        <p:nvSpPr>
          <p:cNvPr id="440" name="TextShape 2"/>
          <p:cNvSpPr txBox="1"/>
          <p:nvPr/>
        </p:nvSpPr>
        <p:spPr>
          <a:xfrm>
            <a:off x="540000" y="180000"/>
            <a:ext cx="3240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000" spc="-1" strike="noStrike">
                <a:solidFill>
                  <a:srgbClr val="059669"/>
                </a:solidFill>
                <a:latin typeface="Noto Sans CJK JP"/>
              </a:rPr>
              <a:t>PROBTF v2 MAPPING</a:t>
            </a:r>
            <a:endParaRPr b="1" lang="en-US" sz="10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441" name="TextShape 3"/>
          <p:cNvSpPr txBox="1"/>
          <p:nvPr/>
        </p:nvSpPr>
        <p:spPr>
          <a:xfrm>
            <a:off x="540000" y="367200"/>
            <a:ext cx="10908000" cy="4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局所 </a:t>
            </a:r>
            <a:r>
              <a:rPr b="1" lang="en-US" sz="2500" spc="-1" strike="noStrike">
                <a:solidFill>
                  <a:srgbClr val="152238"/>
                </a:solidFill>
                <a:latin typeface="Noto Sans CJK JP"/>
              </a:rPr>
              <a:t>Laplace mixture </a:t>
            </a:r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を </a:t>
            </a:r>
            <a:r>
              <a:rPr b="1" lang="en-US" sz="2500" spc="-1" strike="noStrike">
                <a:solidFill>
                  <a:srgbClr val="152238"/>
                </a:solidFill>
                <a:latin typeface="Noto Sans CJK JP"/>
              </a:rPr>
              <a:t>native edge record </a:t>
            </a:r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へ</a:t>
            </a:r>
            <a:endParaRPr b="1" lang="en-US" sz="25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442" name="TextShape 4"/>
          <p:cNvSpPr txBox="1"/>
          <p:nvPr/>
        </p:nvSpPr>
        <p:spPr>
          <a:xfrm>
            <a:off x="540000" y="709200"/>
            <a:ext cx="10800000" cy="19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full stamped distribution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・</a:t>
            </a:r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provenance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・</a:t>
            </a:r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lossy approximation 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を外部化</a:t>
            </a:r>
            <a:endParaRPr b="0" lang="en-US" sz="10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443" name="Line 5"/>
          <p:cNvSpPr/>
          <p:nvPr/>
        </p:nvSpPr>
        <p:spPr>
          <a:xfrm>
            <a:off x="540000" y="910800"/>
            <a:ext cx="11088000" cy="360"/>
          </a:xfrm>
          <a:prstGeom prst="line">
            <a:avLst/>
          </a:prstGeom>
          <a:ln w="54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4" name="Rectangle 6"/>
          <p:cNvSpPr/>
          <p:nvPr/>
        </p:nvSpPr>
        <p:spPr>
          <a:xfrm>
            <a:off x="0" y="0"/>
            <a:ext cx="9360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445" name="Rectangle 7"/>
          <p:cNvSpPr/>
          <p:nvPr/>
        </p:nvSpPr>
        <p:spPr>
          <a:xfrm>
            <a:off x="540000" y="1224000"/>
            <a:ext cx="4032000" cy="4284000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</p:sp>
      <p:sp>
        <p:nvSpPr>
          <p:cNvPr id="446" name="TextShape 8"/>
          <p:cNvSpPr txBox="1"/>
          <p:nvPr/>
        </p:nvSpPr>
        <p:spPr>
          <a:xfrm>
            <a:off x="774000" y="1422000"/>
            <a:ext cx="3564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300" spc="-1" strike="noStrike">
                <a:solidFill>
                  <a:srgbClr val="8de8f5"/>
                </a:solidFill>
                <a:latin typeface="Noto Sans CJK JP"/>
              </a:rPr>
              <a:t>joint physical action</a:t>
            </a:r>
            <a:endParaRPr b="1" lang="en-US" sz="1300" spc="-1" strike="noStrike">
              <a:solidFill>
                <a:srgbClr val="8de8f5"/>
              </a:solidFill>
              <a:latin typeface="Noto Sans CJK JP"/>
              <a:ea typeface="Noto Sans CJK JP"/>
            </a:endParaRPr>
          </a:p>
        </p:txBody>
      </p:sp>
      <p:sp>
        <p:nvSpPr>
          <p:cNvPr id="447" name="TextShape 9"/>
          <p:cNvSpPr txBox="1"/>
          <p:nvPr/>
        </p:nvSpPr>
        <p:spPr>
          <a:xfrm>
            <a:off x="828000" y="1844640"/>
            <a:ext cx="3456000" cy="46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2000" spc="-1" strike="noStrike">
                <a:solidFill>
                  <a:srgbClr val="ffffff"/>
                </a:solidFill>
                <a:latin typeface="Noto Sans Mono CJK JP"/>
              </a:rPr>
              <a:t>z_C = R(Q) z_M + X</a:t>
            </a:r>
            <a:endParaRPr b="1" lang="en-US" sz="2000" spc="-1" strike="noStrike">
              <a:solidFill>
                <a:srgbClr val="ffffff"/>
              </a:solidFill>
              <a:latin typeface="Noto Sans Mono CJK JP"/>
              <a:ea typeface="Noto Sans Mono CJK JP"/>
            </a:endParaRPr>
          </a:p>
        </p:txBody>
      </p:sp>
      <p:sp>
        <p:nvSpPr>
          <p:cNvPr id="448" name="TextShape 10"/>
          <p:cNvSpPr txBox="1"/>
          <p:nvPr/>
        </p:nvSpPr>
        <p:spPr>
          <a:xfrm>
            <a:off x="828000" y="2672640"/>
            <a:ext cx="3456000" cy="11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1350" spc="-1" strike="noStrike">
                <a:solidFill>
                  <a:srgbClr val="dce8f8"/>
                </a:solidFill>
                <a:latin typeface="Noto Sans Mono CJK JP"/>
              </a:rPr>
              <a:t>L ~ Categorical(w₁,…,w_K)</a:t>
            </a:r>
            <a:endParaRPr b="0" lang="en-US" sz="1350" spc="-1" strike="noStrike">
              <a:solidFill>
                <a:srgbClr val="dce8f8"/>
              </a:solidFill>
              <a:latin typeface="Noto Sans Mono CJK JP"/>
              <a:ea typeface="Noto Sans Mono CJK JP"/>
            </a:endParaRPr>
          </a:p>
          <a:p>
            <a:pPr algn="ctr"/>
            <a:r>
              <a:rPr b="0" lang="en-US" sz="1350" spc="-1" strike="noStrike">
                <a:solidFill>
                  <a:srgbClr val="dce8f8"/>
                </a:solidFill>
                <a:latin typeface="Noto Sans Mono CJK JP"/>
              </a:rPr>
              <a:t>Q | L=ℓ ~ Bingham(Aℓ)</a:t>
            </a:r>
            <a:endParaRPr b="0" lang="en-US" sz="1350" spc="-1" strike="noStrike">
              <a:solidFill>
                <a:srgbClr val="dce8f8"/>
              </a:solidFill>
              <a:latin typeface="Noto Sans Mono CJK JP"/>
              <a:ea typeface="Noto Sans Mono CJK JP"/>
            </a:endParaRPr>
          </a:p>
          <a:p>
            <a:pPr algn="ctr"/>
            <a:r>
              <a:rPr b="0" lang="en-US" sz="1350" spc="-1" strike="noStrike">
                <a:solidFill>
                  <a:srgbClr val="dce8f8"/>
                </a:solidFill>
                <a:latin typeface="Noto Sans Mono CJK JP"/>
              </a:rPr>
              <a:t>X | Q,L=ℓ ~ conditional Gaussian</a:t>
            </a:r>
            <a:endParaRPr b="0" lang="en-US" sz="1350" spc="-1" strike="noStrike">
              <a:solidFill>
                <a:srgbClr val="dce8f8"/>
              </a:solidFill>
              <a:latin typeface="Noto Sans Mono CJK JP"/>
              <a:ea typeface="Noto Sans Mono CJK JP"/>
            </a:endParaRPr>
          </a:p>
        </p:txBody>
      </p:sp>
      <p:sp>
        <p:nvSpPr>
          <p:cNvPr id="449" name="Line 11"/>
          <p:cNvSpPr/>
          <p:nvPr/>
        </p:nvSpPr>
        <p:spPr>
          <a:xfrm>
            <a:off x="900000" y="4176000"/>
            <a:ext cx="3312000" cy="360"/>
          </a:xfrm>
          <a:prstGeom prst="line">
            <a:avLst/>
          </a:prstGeom>
          <a:ln w="7200">
            <a:solidFill>
              <a:srgbClr val="1c335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0" name="TextShape 12"/>
          <p:cNvSpPr txBox="1"/>
          <p:nvPr/>
        </p:nvSpPr>
        <p:spPr>
          <a:xfrm>
            <a:off x="828000" y="4500000"/>
            <a:ext cx="3456000" cy="60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0" lang="en-US" sz="1100" spc="-1" strike="noStrike">
                <a:solidFill>
                  <a:srgbClr val="afc3dd"/>
                </a:solidFill>
                <a:latin typeface="Noto Sans CJK JP"/>
              </a:rPr>
              <a:t>parent=camera optical</a:t>
            </a:r>
            <a:endParaRPr b="0" lang="en-US" sz="1100" spc="-1" strike="noStrike">
              <a:solidFill>
                <a:srgbClr val="afc3dd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en-US" sz="1100" spc="-1" strike="noStrike">
                <a:solidFill>
                  <a:srgbClr val="afc3dd"/>
                </a:solidFill>
                <a:latin typeface="Noto Sans CJK JP"/>
              </a:rPr>
              <a:t>child=apriltag_&lt;id&gt;</a:t>
            </a:r>
            <a:endParaRPr b="0" lang="en-US" sz="1100" spc="-1" strike="noStrike">
              <a:solidFill>
                <a:srgbClr val="afc3dd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en-US" sz="1100" spc="-1" strike="noStrike">
                <a:solidFill>
                  <a:srgbClr val="afc3dd"/>
                </a:solidFill>
                <a:latin typeface="Noto Sans CJK JP"/>
              </a:rPr>
              <a:t>T_C_M / dynamic edge</a:t>
            </a:r>
            <a:endParaRPr b="0" lang="en-US" sz="1100" spc="-1" strike="noStrike">
              <a:solidFill>
                <a:srgbClr val="afc3dd"/>
              </a:solidFill>
              <a:latin typeface="Noto Sans CJK JP"/>
              <a:ea typeface="Noto Sans CJK JP"/>
            </a:endParaRPr>
          </a:p>
        </p:txBody>
      </p:sp>
      <p:sp>
        <p:nvSpPr>
          <p:cNvPr id="451" name="Rectangle 13"/>
          <p:cNvSpPr/>
          <p:nvPr/>
        </p:nvSpPr>
        <p:spPr>
          <a:xfrm>
            <a:off x="5076000" y="1224000"/>
            <a:ext cx="6480000" cy="846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452" name="Rectangle 14"/>
          <p:cNvSpPr/>
          <p:nvPr/>
        </p:nvSpPr>
        <p:spPr>
          <a:xfrm>
            <a:off x="5076000" y="1224000"/>
            <a:ext cx="28800" cy="84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53" name="Ellipse 15"/>
          <p:cNvSpPr/>
          <p:nvPr/>
        </p:nvSpPr>
        <p:spPr>
          <a:xfrm>
            <a:off x="5256000" y="1411200"/>
            <a:ext cx="259200" cy="259200"/>
          </a:xfrm>
          <a:prstGeom prst="ellipse">
            <a:avLst/>
          </a:prstGeom>
          <a:solidFill>
            <a:srgbClr val="eaf1ff"/>
          </a:solidFill>
          <a:ln>
            <a:noFill/>
          </a:ln>
        </p:spPr>
      </p:sp>
      <p:sp>
        <p:nvSpPr>
          <p:cNvPr id="454" name="TextShape 16"/>
          <p:cNvSpPr txBox="1"/>
          <p:nvPr/>
        </p:nvSpPr>
        <p:spPr>
          <a:xfrm>
            <a:off x="5256000" y="1488240"/>
            <a:ext cx="2592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1200" spc="-1" strike="noStrike">
                <a:solidFill>
                  <a:srgbClr val="2563eb"/>
                </a:solidFill>
                <a:latin typeface="Noto Sans CJK JP"/>
              </a:rPr>
              <a:t>1</a:t>
            </a:r>
            <a:endParaRPr b="1" lang="en-US" sz="12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455" name="TextShape 17"/>
          <p:cNvSpPr txBox="1"/>
          <p:nvPr/>
        </p:nvSpPr>
        <p:spPr>
          <a:xfrm>
            <a:off x="5652000" y="1353600"/>
            <a:ext cx="5544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300" spc="-1" strike="noStrike">
                <a:solidFill>
                  <a:srgbClr val="152238"/>
                </a:solidFill>
                <a:latin typeface="Noto Sans CJK JP"/>
              </a:rPr>
              <a:t>BinghamOrientation</a:t>
            </a:r>
            <a:endParaRPr b="1" lang="en-US" sz="13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456" name="TextShape 18"/>
          <p:cNvSpPr txBox="1"/>
          <p:nvPr/>
        </p:nvSpPr>
        <p:spPr>
          <a:xfrm>
            <a:off x="5652000" y="1630800"/>
            <a:ext cx="5544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000" spc="-1" strike="noStrike">
                <a:solidFill>
                  <a:srgbClr val="5c6b82"/>
                </a:solidFill>
                <a:latin typeface="Noto Sans CJK JP"/>
              </a:rPr>
              <a:t>Aℓ + reference quaternion qℓ</a:t>
            </a:r>
            <a:endParaRPr b="0" lang="en-US" sz="10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457" name="Rectangle 19"/>
          <p:cNvSpPr/>
          <p:nvPr/>
        </p:nvSpPr>
        <p:spPr>
          <a:xfrm>
            <a:off x="5076000" y="2250000"/>
            <a:ext cx="6480000" cy="846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458" name="Rectangle 20"/>
          <p:cNvSpPr/>
          <p:nvPr/>
        </p:nvSpPr>
        <p:spPr>
          <a:xfrm>
            <a:off x="5076000" y="2250000"/>
            <a:ext cx="28800" cy="846000"/>
          </a:xfrm>
          <a:prstGeom prst="rect">
            <a:avLst/>
          </a:prstGeom>
          <a:solidFill>
            <a:srgbClr val="0891b2"/>
          </a:solidFill>
          <a:ln>
            <a:noFill/>
          </a:ln>
        </p:spPr>
      </p:sp>
      <p:sp>
        <p:nvSpPr>
          <p:cNvPr id="459" name="Ellipse 21"/>
          <p:cNvSpPr/>
          <p:nvPr/>
        </p:nvSpPr>
        <p:spPr>
          <a:xfrm>
            <a:off x="5256000" y="2437200"/>
            <a:ext cx="259200" cy="259200"/>
          </a:xfrm>
          <a:prstGeom prst="ellipse">
            <a:avLst/>
          </a:prstGeom>
          <a:solidFill>
            <a:srgbClr val="eaf1ff"/>
          </a:solidFill>
          <a:ln>
            <a:noFill/>
          </a:ln>
        </p:spPr>
      </p:sp>
      <p:sp>
        <p:nvSpPr>
          <p:cNvPr id="460" name="TextShape 22"/>
          <p:cNvSpPr txBox="1"/>
          <p:nvPr/>
        </p:nvSpPr>
        <p:spPr>
          <a:xfrm>
            <a:off x="5256000" y="2514240"/>
            <a:ext cx="2592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1200" spc="-1" strike="noStrike">
                <a:solidFill>
                  <a:srgbClr val="0891b2"/>
                </a:solidFill>
                <a:latin typeface="Noto Sans CJK JP"/>
              </a:rPr>
              <a:t>2</a:t>
            </a:r>
            <a:endParaRPr b="1" lang="en-US" sz="1200" spc="-1" strike="noStrike">
              <a:solidFill>
                <a:srgbClr val="0891b2"/>
              </a:solidFill>
              <a:latin typeface="Noto Sans CJK JP"/>
              <a:ea typeface="Noto Sans CJK JP"/>
            </a:endParaRPr>
          </a:p>
        </p:txBody>
      </p:sp>
      <p:sp>
        <p:nvSpPr>
          <p:cNvPr id="461" name="TextShape 23"/>
          <p:cNvSpPr txBox="1"/>
          <p:nvPr/>
        </p:nvSpPr>
        <p:spPr>
          <a:xfrm>
            <a:off x="5652000" y="2379600"/>
            <a:ext cx="5544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300" spc="-1" strike="noStrike">
                <a:solidFill>
                  <a:srgbClr val="152238"/>
                </a:solidFill>
                <a:latin typeface="Noto Sans CJK JP"/>
              </a:rPr>
              <a:t>ConditionalGaussianTranslation</a:t>
            </a:r>
            <a:endParaRPr b="1" lang="en-US" sz="13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462" name="TextShape 24"/>
          <p:cNvSpPr txBox="1"/>
          <p:nvPr/>
        </p:nvSpPr>
        <p:spPr>
          <a:xfrm>
            <a:off x="5652000" y="2656800"/>
            <a:ext cx="5544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000" spc="-1" strike="noStrike">
                <a:solidFill>
                  <a:srgbClr val="5c6b82"/>
                </a:solidFill>
                <a:latin typeface="Noto Sans CJK JP"/>
              </a:rPr>
              <a:t>mean_at_reference=mℓ / residual Sℓ / coupling Cℓ</a:t>
            </a:r>
            <a:endParaRPr b="0" lang="en-US" sz="10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463" name="Rectangle 25"/>
          <p:cNvSpPr/>
          <p:nvPr/>
        </p:nvSpPr>
        <p:spPr>
          <a:xfrm>
            <a:off x="5076000" y="3276000"/>
            <a:ext cx="6480000" cy="846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464" name="Rectangle 26"/>
          <p:cNvSpPr/>
          <p:nvPr/>
        </p:nvSpPr>
        <p:spPr>
          <a:xfrm>
            <a:off x="5076000" y="3276000"/>
            <a:ext cx="28800" cy="8460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465" name="Ellipse 27"/>
          <p:cNvSpPr/>
          <p:nvPr/>
        </p:nvSpPr>
        <p:spPr>
          <a:xfrm>
            <a:off x="5256000" y="3463200"/>
            <a:ext cx="259200" cy="259200"/>
          </a:xfrm>
          <a:prstGeom prst="ellipse">
            <a:avLst/>
          </a:prstGeom>
          <a:solidFill>
            <a:srgbClr val="f1ebff"/>
          </a:solidFill>
          <a:ln>
            <a:noFill/>
          </a:ln>
        </p:spPr>
      </p:sp>
      <p:sp>
        <p:nvSpPr>
          <p:cNvPr id="466" name="TextShape 28"/>
          <p:cNvSpPr txBox="1"/>
          <p:nvPr/>
        </p:nvSpPr>
        <p:spPr>
          <a:xfrm>
            <a:off x="5256000" y="3540240"/>
            <a:ext cx="2592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1200" spc="-1" strike="noStrike">
                <a:solidFill>
                  <a:srgbClr val="7c3aed"/>
                </a:solidFill>
                <a:latin typeface="Noto Sans CJK JP"/>
              </a:rPr>
              <a:t>3</a:t>
            </a:r>
            <a:endParaRPr b="1" lang="en-US" sz="1200" spc="-1" strike="noStrike">
              <a:solidFill>
                <a:srgbClr val="7c3aed"/>
              </a:solidFill>
              <a:latin typeface="Noto Sans CJK JP"/>
              <a:ea typeface="Noto Sans CJK JP"/>
            </a:endParaRPr>
          </a:p>
        </p:txBody>
      </p:sp>
      <p:sp>
        <p:nvSpPr>
          <p:cNvPr id="467" name="TextShape 29"/>
          <p:cNvSpPr txBox="1"/>
          <p:nvPr/>
        </p:nvSpPr>
        <p:spPr>
          <a:xfrm>
            <a:off x="5652000" y="3405600"/>
            <a:ext cx="5544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300" spc="-1" strike="noStrike">
                <a:solidFill>
                  <a:srgbClr val="152238"/>
                </a:solidFill>
                <a:latin typeface="Noto Sans CJK JP"/>
              </a:rPr>
              <a:t>TransformComponent</a:t>
            </a:r>
            <a:endParaRPr b="1" lang="en-US" sz="13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468" name="TextShape 30"/>
          <p:cNvSpPr txBox="1"/>
          <p:nvPr/>
        </p:nvSpPr>
        <p:spPr>
          <a:xfrm>
            <a:off x="5652000" y="3682800"/>
            <a:ext cx="5544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000" spc="-1" strike="noStrike">
                <a:solidFill>
                  <a:srgbClr val="5c6b82"/>
                </a:solidFill>
                <a:latin typeface="Noto Sans CJK JP"/>
              </a:rPr>
              <a:t>raw_weight=wℓ / component provenance / approximation</a:t>
            </a:r>
            <a:endParaRPr b="0" lang="en-US" sz="10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469" name="Rectangle 31"/>
          <p:cNvSpPr/>
          <p:nvPr/>
        </p:nvSpPr>
        <p:spPr>
          <a:xfrm>
            <a:off x="5076000" y="4302000"/>
            <a:ext cx="6480000" cy="846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470" name="Rectangle 32"/>
          <p:cNvSpPr/>
          <p:nvPr/>
        </p:nvSpPr>
        <p:spPr>
          <a:xfrm>
            <a:off x="5076000" y="4302000"/>
            <a:ext cx="28800" cy="84600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471" name="Ellipse 33"/>
          <p:cNvSpPr/>
          <p:nvPr/>
        </p:nvSpPr>
        <p:spPr>
          <a:xfrm>
            <a:off x="5256000" y="4489200"/>
            <a:ext cx="259200" cy="259200"/>
          </a:xfrm>
          <a:prstGeom prst="ellipse">
            <a:avLst/>
          </a:prstGeom>
          <a:solidFill>
            <a:srgbClr val="e8f7f1"/>
          </a:solidFill>
          <a:ln>
            <a:noFill/>
          </a:ln>
        </p:spPr>
      </p:sp>
      <p:sp>
        <p:nvSpPr>
          <p:cNvPr id="472" name="TextShape 34"/>
          <p:cNvSpPr txBox="1"/>
          <p:nvPr/>
        </p:nvSpPr>
        <p:spPr>
          <a:xfrm>
            <a:off x="5256000" y="4566240"/>
            <a:ext cx="2592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1200" spc="-1" strike="noStrike">
                <a:solidFill>
                  <a:srgbClr val="059669"/>
                </a:solidFill>
                <a:latin typeface="Noto Sans CJK JP"/>
              </a:rPr>
              <a:t>4</a:t>
            </a:r>
            <a:endParaRPr b="1" lang="en-US" sz="12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473" name="TextShape 35"/>
          <p:cNvSpPr txBox="1"/>
          <p:nvPr/>
        </p:nvSpPr>
        <p:spPr>
          <a:xfrm>
            <a:off x="5652000" y="4431600"/>
            <a:ext cx="5544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300" spc="-1" strike="noStrike">
                <a:solidFill>
                  <a:srgbClr val="152238"/>
                </a:solidFill>
                <a:latin typeface="Noto Sans CJK JP"/>
              </a:rPr>
              <a:t>TransformDistributionStamped</a:t>
            </a:r>
            <a:endParaRPr b="1" lang="en-US" sz="13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474" name="TextShape 36"/>
          <p:cNvSpPr txBox="1"/>
          <p:nvPr/>
        </p:nvSpPr>
        <p:spPr>
          <a:xfrm>
            <a:off x="5652000" y="4708800"/>
            <a:ext cx="5544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000" spc="-1" strike="noStrike">
                <a:solidFill>
                  <a:srgbClr val="5c6b82"/>
                </a:solidFill>
                <a:latin typeface="Noto Sans CJK JP"/>
              </a:rPr>
              <a:t>frames / stamp / edge_id / authority / is_static=false</a:t>
            </a:r>
            <a:endParaRPr b="0" lang="en-US" sz="10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475" name="Rectangle 37"/>
          <p:cNvSpPr/>
          <p:nvPr/>
        </p:nvSpPr>
        <p:spPr>
          <a:xfrm>
            <a:off x="5652000" y="5436000"/>
            <a:ext cx="5328000" cy="20160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</p:sp>
      <p:sp>
        <p:nvSpPr>
          <p:cNvPr id="476" name="TextShape 38"/>
          <p:cNvSpPr txBox="1"/>
          <p:nvPr/>
        </p:nvSpPr>
        <p:spPr>
          <a:xfrm>
            <a:off x="5652000" y="5511240"/>
            <a:ext cx="5328000" cy="1756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950" spc="-1" strike="noStrike">
                <a:solidFill>
                  <a:srgbClr val="d97706"/>
                </a:solidFill>
                <a:latin typeface="Noto Sans CJK JP"/>
              </a:rPr>
              <a:t>ApproximationKind.TANGENT_SURROGATE / lossy=true</a:t>
            </a:r>
            <a:endParaRPr b="1" lang="en-US" sz="950" spc="-1" strike="noStrike">
              <a:solidFill>
                <a:srgbClr val="d97706"/>
              </a:solidFill>
              <a:latin typeface="Noto Sans CJK JP"/>
              <a:ea typeface="Noto Sans CJK JP"/>
            </a:endParaRPr>
          </a:p>
        </p:txBody>
      </p:sp>
      <p:sp>
        <p:nvSpPr>
          <p:cNvPr id="477" name="Line 39"/>
          <p:cNvSpPr/>
          <p:nvPr/>
        </p:nvSpPr>
        <p:spPr>
          <a:xfrm>
            <a:off x="540000" y="6496200"/>
            <a:ext cx="11088000" cy="360"/>
          </a:xfrm>
          <a:prstGeom prst="line">
            <a:avLst/>
          </a:prstGeom>
          <a:ln w="432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8" name="TextShape 40"/>
          <p:cNvSpPr txBox="1"/>
          <p:nvPr/>
        </p:nvSpPr>
        <p:spPr>
          <a:xfrm>
            <a:off x="540000" y="6528600"/>
            <a:ext cx="4320000" cy="155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850" spc="-1" strike="noStrike">
                <a:solidFill>
                  <a:srgbClr val="9cb2ce"/>
                </a:solidFill>
                <a:latin typeface="Noto Sans CJK JP"/>
              </a:rPr>
              <a:t>ProbTF-demo  |  AprilTag implementation overview</a:t>
            </a:r>
            <a:endParaRPr b="0" lang="en-US" sz="850" spc="-1" strike="noStrike">
              <a:solidFill>
                <a:srgbClr val="9cb2ce"/>
              </a:solidFill>
              <a:latin typeface="Noto Sans CJK JP"/>
              <a:ea typeface="Noto Sans CJK JP"/>
            </a:endParaRPr>
          </a:p>
        </p:txBody>
      </p:sp>
      <p:sp>
        <p:nvSpPr>
          <p:cNvPr id="479" name="TextShape 41"/>
          <p:cNvSpPr txBox="1"/>
          <p:nvPr/>
        </p:nvSpPr>
        <p:spPr>
          <a:xfrm>
            <a:off x="11124000" y="6528600"/>
            <a:ext cx="504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r"/>
            <a:r>
              <a:rPr b="1" lang="en-US" sz="900" spc="-1" strike="noStrike">
                <a:solidFill>
                  <a:srgbClr val="2563eb"/>
                </a:solidFill>
                <a:latin typeface="Noto Sans CJK JP"/>
              </a:rPr>
              <a:t>13</a:t>
            </a:r>
            <a:endParaRPr b="1" lang="en-US" sz="9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</p:sp>
      <p:sp>
        <p:nvSpPr>
          <p:cNvPr id="481" name="TextShape 2"/>
          <p:cNvSpPr txBox="1"/>
          <p:nvPr/>
        </p:nvSpPr>
        <p:spPr>
          <a:xfrm>
            <a:off x="540000" y="180000"/>
            <a:ext cx="3240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000" spc="-1" strike="noStrike">
                <a:solidFill>
                  <a:srgbClr val="059669"/>
                </a:solidFill>
                <a:latin typeface="Noto Sans CJK JP"/>
              </a:rPr>
              <a:t>ROS 1 INTEGRATION</a:t>
            </a:r>
            <a:endParaRPr b="1" lang="en-US" sz="10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482" name="TextShape 3"/>
          <p:cNvSpPr txBox="1"/>
          <p:nvPr/>
        </p:nvSpPr>
        <p:spPr>
          <a:xfrm>
            <a:off x="540000" y="367200"/>
            <a:ext cx="10908000" cy="4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2500" spc="-1" strike="noStrike">
                <a:solidFill>
                  <a:srgbClr val="152238"/>
                </a:solidFill>
                <a:latin typeface="Noto Sans CJK JP"/>
              </a:rPr>
              <a:t>thin wrapper</a:t>
            </a:r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：</a:t>
            </a:r>
            <a:r>
              <a:rPr b="1" lang="en-US" sz="2500" spc="-1" strike="noStrike">
                <a:solidFill>
                  <a:srgbClr val="152238"/>
                </a:solidFill>
                <a:latin typeface="Noto Sans CJK JP"/>
              </a:rPr>
              <a:t>CameraInfo + Image → /probtf</a:t>
            </a:r>
            <a:endParaRPr b="1" lang="en-US" sz="25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483" name="TextShape 4"/>
          <p:cNvSpPr txBox="1"/>
          <p:nvPr/>
        </p:nvSpPr>
        <p:spPr>
          <a:xfrm>
            <a:off x="540000" y="709200"/>
            <a:ext cx="10800000" cy="19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debug overlay 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は </a:t>
            </a:r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inspection 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専用で </a:t>
            </a:r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estimator 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へ </a:t>
            </a:r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feedback 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しない</a:t>
            </a:r>
            <a:endParaRPr b="0" lang="en-US" sz="10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484" name="Line 5"/>
          <p:cNvSpPr/>
          <p:nvPr/>
        </p:nvSpPr>
        <p:spPr>
          <a:xfrm>
            <a:off x="540000" y="910800"/>
            <a:ext cx="11088000" cy="360"/>
          </a:xfrm>
          <a:prstGeom prst="line">
            <a:avLst/>
          </a:prstGeom>
          <a:ln w="54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5" name="Rectangle 6"/>
          <p:cNvSpPr/>
          <p:nvPr/>
        </p:nvSpPr>
        <p:spPr>
          <a:xfrm>
            <a:off x="0" y="0"/>
            <a:ext cx="9360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486" name="Rectangle 7"/>
          <p:cNvSpPr/>
          <p:nvPr/>
        </p:nvSpPr>
        <p:spPr>
          <a:xfrm>
            <a:off x="7894800" y="1342800"/>
            <a:ext cx="3506400" cy="26424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pic>
        <p:nvPicPr>
          <p:cNvPr id="487" name="" descr=""/>
          <p:cNvPicPr/>
          <p:nvPr/>
        </p:nvPicPr>
        <p:blipFill>
          <a:blip r:embed="rId1"/>
          <a:stretch/>
        </p:blipFill>
        <p:spPr>
          <a:xfrm>
            <a:off x="7920000" y="1368000"/>
            <a:ext cx="3456000" cy="2592000"/>
          </a:xfrm>
          <a:prstGeom prst="rect">
            <a:avLst/>
          </a:prstGeom>
          <a:ln>
            <a:noFill/>
          </a:ln>
        </p:spPr>
      </p:pic>
      <p:sp>
        <p:nvSpPr>
          <p:cNvPr id="488" name="TextShape 8"/>
          <p:cNvSpPr txBox="1"/>
          <p:nvPr/>
        </p:nvSpPr>
        <p:spPr>
          <a:xfrm>
            <a:off x="7992000" y="4032000"/>
            <a:ext cx="3312000" cy="155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0" lang="en-US" sz="850" spc="-1" strike="noStrike">
                <a:solidFill>
                  <a:srgbClr val="5c6b82"/>
                </a:solidFill>
                <a:latin typeface="Noto Sans CJK JP"/>
              </a:rPr>
              <a:t>multi_tag: all refined mode axes + ordered corners</a:t>
            </a:r>
            <a:endParaRPr b="0" lang="en-US" sz="8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489" name="Rectangle 9"/>
          <p:cNvSpPr/>
          <p:nvPr/>
        </p:nvSpPr>
        <p:spPr>
          <a:xfrm>
            <a:off x="612000" y="1440000"/>
            <a:ext cx="1548000" cy="756000"/>
          </a:xfrm>
          <a:prstGeom prst="roundRect">
            <a:avLst/>
          </a:prstGeom>
          <a:solidFill>
            <a:srgbClr val="ffffff"/>
          </a:solidFill>
          <a:ln w="10800">
            <a:solidFill>
              <a:srgbClr val="2563eb"/>
            </a:solidFill>
            <a:round/>
          </a:ln>
        </p:spPr>
      </p:sp>
      <p:sp>
        <p:nvSpPr>
          <p:cNvPr id="490" name="TextShape 10"/>
          <p:cNvSpPr txBox="1"/>
          <p:nvPr/>
        </p:nvSpPr>
        <p:spPr>
          <a:xfrm>
            <a:off x="702000" y="1566000"/>
            <a:ext cx="1368000" cy="405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1" lang="en-US" sz="1100" spc="-1" strike="noStrike">
                <a:solidFill>
                  <a:srgbClr val="152238"/>
                </a:solidFill>
                <a:latin typeface="Noto Sans CJK JP"/>
              </a:rPr>
              <a:t>sensor_msgs/Image</a:t>
            </a:r>
            <a:endParaRPr b="1" lang="en-US" sz="11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491" name="TextShape 11"/>
          <p:cNvSpPr txBox="1"/>
          <p:nvPr/>
        </p:nvSpPr>
        <p:spPr>
          <a:xfrm>
            <a:off x="702000" y="1854000"/>
            <a:ext cx="1368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0" lang="en-US" sz="900" spc="-1" strike="noStrike">
                <a:solidFill>
                  <a:srgbClr val="5c6b82"/>
                </a:solidFill>
                <a:latin typeface="Noto Sans CJK JP"/>
              </a:rPr>
              <a:t>~image</a:t>
            </a:r>
            <a:endParaRPr b="0" lang="en-US" sz="9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492" name="Rectangle 12"/>
          <p:cNvSpPr/>
          <p:nvPr/>
        </p:nvSpPr>
        <p:spPr>
          <a:xfrm>
            <a:off x="612000" y="2556000"/>
            <a:ext cx="1548000" cy="756000"/>
          </a:xfrm>
          <a:prstGeom prst="roundRect">
            <a:avLst/>
          </a:prstGeom>
          <a:solidFill>
            <a:srgbClr val="ffffff"/>
          </a:solidFill>
          <a:ln w="10800">
            <a:solidFill>
              <a:srgbClr val="2563eb"/>
            </a:solidFill>
            <a:round/>
          </a:ln>
        </p:spPr>
      </p:sp>
      <p:sp>
        <p:nvSpPr>
          <p:cNvPr id="493" name="TextShape 13"/>
          <p:cNvSpPr txBox="1"/>
          <p:nvPr/>
        </p:nvSpPr>
        <p:spPr>
          <a:xfrm>
            <a:off x="702000" y="2682000"/>
            <a:ext cx="13680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1" lang="en-US" sz="1100" spc="-1" strike="noStrike">
                <a:solidFill>
                  <a:srgbClr val="152238"/>
                </a:solidFill>
                <a:latin typeface="Noto Sans CJK JP"/>
              </a:rPr>
              <a:t>CameraInfo</a:t>
            </a:r>
            <a:endParaRPr b="1" lang="en-US" sz="11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494" name="TextShape 14"/>
          <p:cNvSpPr txBox="1"/>
          <p:nvPr/>
        </p:nvSpPr>
        <p:spPr>
          <a:xfrm>
            <a:off x="702000" y="2970000"/>
            <a:ext cx="1368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0" lang="en-US" sz="900" spc="-1" strike="noStrike">
                <a:solidFill>
                  <a:srgbClr val="5c6b82"/>
                </a:solidFill>
                <a:latin typeface="Noto Sans CJK JP"/>
              </a:rPr>
              <a:t>~camera_info</a:t>
            </a:r>
            <a:endParaRPr b="0" lang="en-US" sz="9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495" name="Rectangle 15"/>
          <p:cNvSpPr/>
          <p:nvPr/>
        </p:nvSpPr>
        <p:spPr>
          <a:xfrm>
            <a:off x="2880000" y="1800000"/>
            <a:ext cx="2340000" cy="756000"/>
          </a:xfrm>
          <a:prstGeom prst="roundRect">
            <a:avLst/>
          </a:prstGeom>
          <a:solidFill>
            <a:srgbClr val="ffffff"/>
          </a:solidFill>
          <a:ln w="10800">
            <a:solidFill>
              <a:srgbClr val="7c3aed"/>
            </a:solidFill>
            <a:round/>
          </a:ln>
        </p:spPr>
      </p:sp>
      <p:sp>
        <p:nvSpPr>
          <p:cNvPr id="496" name="TextShape 16"/>
          <p:cNvSpPr txBox="1"/>
          <p:nvPr/>
        </p:nvSpPr>
        <p:spPr>
          <a:xfrm>
            <a:off x="2970000" y="1926000"/>
            <a:ext cx="21600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1" lang="en-US" sz="1100" spc="-1" strike="noStrike">
                <a:solidFill>
                  <a:srgbClr val="152238"/>
                </a:solidFill>
                <a:latin typeface="Noto Sans CJK JP"/>
              </a:rPr>
              <a:t>prob_artag_detector</a:t>
            </a:r>
            <a:endParaRPr b="1" lang="en-US" sz="11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497" name="TextShape 17"/>
          <p:cNvSpPr txBox="1"/>
          <p:nvPr/>
        </p:nvSpPr>
        <p:spPr>
          <a:xfrm>
            <a:off x="2970000" y="2214000"/>
            <a:ext cx="2160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0" lang="en-US" sz="900" spc="-1" strike="noStrike">
                <a:solidFill>
                  <a:srgbClr val="5c6b82"/>
                </a:solidFill>
                <a:latin typeface="Noto Sans CJK JP"/>
              </a:rPr>
              <a:t>detect → estimate → convert</a:t>
            </a:r>
            <a:endParaRPr b="0" lang="en-US" sz="9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498" name="Rectangle 18"/>
          <p:cNvSpPr/>
          <p:nvPr/>
        </p:nvSpPr>
        <p:spPr>
          <a:xfrm>
            <a:off x="5904000" y="1404000"/>
            <a:ext cx="1512000" cy="756000"/>
          </a:xfrm>
          <a:prstGeom prst="roundRect">
            <a:avLst/>
          </a:prstGeom>
          <a:solidFill>
            <a:srgbClr val="ffffff"/>
          </a:solidFill>
          <a:ln w="10800">
            <a:solidFill>
              <a:srgbClr val="059669"/>
            </a:solidFill>
            <a:round/>
          </a:ln>
        </p:spPr>
      </p:sp>
      <p:sp>
        <p:nvSpPr>
          <p:cNvPr id="499" name="TextShape 19"/>
          <p:cNvSpPr txBox="1"/>
          <p:nvPr/>
        </p:nvSpPr>
        <p:spPr>
          <a:xfrm>
            <a:off x="5994000" y="1530000"/>
            <a:ext cx="13320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1" lang="en-US" sz="1100" spc="-1" strike="noStrike">
                <a:solidFill>
                  <a:srgbClr val="152238"/>
                </a:solidFill>
                <a:latin typeface="Noto Sans CJK JP"/>
              </a:rPr>
              <a:t>ProbTF v2</a:t>
            </a:r>
            <a:endParaRPr b="1" lang="en-US" sz="11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500" name="TextShape 20"/>
          <p:cNvSpPr txBox="1"/>
          <p:nvPr/>
        </p:nvSpPr>
        <p:spPr>
          <a:xfrm>
            <a:off x="5994000" y="1818000"/>
            <a:ext cx="1332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0" lang="en-US" sz="900" spc="-1" strike="noStrike">
                <a:solidFill>
                  <a:srgbClr val="5c6b82"/>
                </a:solidFill>
                <a:latin typeface="Noto Sans CJK JP"/>
              </a:rPr>
              <a:t>/probtf</a:t>
            </a:r>
            <a:endParaRPr b="0" lang="en-US" sz="9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501" name="Rectangle 21"/>
          <p:cNvSpPr/>
          <p:nvPr/>
        </p:nvSpPr>
        <p:spPr>
          <a:xfrm>
            <a:off x="5904000" y="2736000"/>
            <a:ext cx="1512000" cy="756000"/>
          </a:xfrm>
          <a:prstGeom prst="roundRect">
            <a:avLst/>
          </a:prstGeom>
          <a:solidFill>
            <a:srgbClr val="ffffff"/>
          </a:solidFill>
          <a:ln w="10800">
            <a:solidFill>
              <a:srgbClr val="d97706"/>
            </a:solidFill>
            <a:round/>
          </a:ln>
        </p:spPr>
      </p:sp>
      <p:sp>
        <p:nvSpPr>
          <p:cNvPr id="502" name="TextShape 22"/>
          <p:cNvSpPr txBox="1"/>
          <p:nvPr/>
        </p:nvSpPr>
        <p:spPr>
          <a:xfrm>
            <a:off x="5994000" y="2862000"/>
            <a:ext cx="1332000" cy="203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1" lang="en-US" sz="1100" spc="-1" strike="noStrike">
                <a:solidFill>
                  <a:srgbClr val="152238"/>
                </a:solidFill>
                <a:latin typeface="Noto Sans CJK JP"/>
              </a:rPr>
              <a:t>debug Image</a:t>
            </a:r>
            <a:endParaRPr b="1" lang="en-US" sz="11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503" name="TextShape 23"/>
          <p:cNvSpPr txBox="1"/>
          <p:nvPr/>
        </p:nvSpPr>
        <p:spPr>
          <a:xfrm>
            <a:off x="5994000" y="3150000"/>
            <a:ext cx="1332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0" lang="en-US" sz="900" spc="-1" strike="noStrike">
                <a:solidFill>
                  <a:srgbClr val="5c6b82"/>
                </a:solidFill>
                <a:latin typeface="Noto Sans CJK JP"/>
              </a:rPr>
              <a:t>~debug_image</a:t>
            </a:r>
            <a:endParaRPr b="0" lang="en-US" sz="9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504" name="TextShape 24"/>
          <p:cNvSpPr txBox="1"/>
          <p:nvPr/>
        </p:nvSpPr>
        <p:spPr>
          <a:xfrm>
            <a:off x="2340000" y="1916640"/>
            <a:ext cx="324000" cy="47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2600" spc="-1" strike="noStrike">
                <a:solidFill>
                  <a:srgbClr val="0891b2"/>
                </a:solidFill>
                <a:latin typeface="Noto Sans CJK JP"/>
              </a:rPr>
              <a:t>→</a:t>
            </a:r>
            <a:endParaRPr b="1" lang="en-US" sz="2600" spc="-1" strike="noStrike">
              <a:solidFill>
                <a:srgbClr val="0891b2"/>
              </a:solidFill>
              <a:latin typeface="Noto Sans CJK JP"/>
              <a:ea typeface="Noto Sans CJK JP"/>
            </a:endParaRPr>
          </a:p>
        </p:txBody>
      </p:sp>
      <p:sp>
        <p:nvSpPr>
          <p:cNvPr id="505" name="TextShape 25"/>
          <p:cNvSpPr txBox="1"/>
          <p:nvPr/>
        </p:nvSpPr>
        <p:spPr>
          <a:xfrm>
            <a:off x="2340000" y="2762640"/>
            <a:ext cx="324000" cy="47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2600" spc="-1" strike="noStrike">
                <a:solidFill>
                  <a:srgbClr val="0891b2"/>
                </a:solidFill>
                <a:latin typeface="Noto Sans CJK JP"/>
              </a:rPr>
              <a:t>→</a:t>
            </a:r>
            <a:endParaRPr b="1" lang="en-US" sz="2600" spc="-1" strike="noStrike">
              <a:solidFill>
                <a:srgbClr val="0891b2"/>
              </a:solidFill>
              <a:latin typeface="Noto Sans CJK JP"/>
              <a:ea typeface="Noto Sans CJK JP"/>
            </a:endParaRPr>
          </a:p>
        </p:txBody>
      </p:sp>
      <p:sp>
        <p:nvSpPr>
          <p:cNvPr id="506" name="TextShape 26"/>
          <p:cNvSpPr txBox="1"/>
          <p:nvPr/>
        </p:nvSpPr>
        <p:spPr>
          <a:xfrm>
            <a:off x="5364000" y="1916640"/>
            <a:ext cx="324000" cy="47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2600" spc="-1" strike="noStrike">
                <a:solidFill>
                  <a:srgbClr val="059669"/>
                </a:solidFill>
                <a:latin typeface="Noto Sans CJK JP"/>
              </a:rPr>
              <a:t>→</a:t>
            </a:r>
            <a:endParaRPr b="1" lang="en-US" sz="26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507" name="TextShape 27"/>
          <p:cNvSpPr txBox="1"/>
          <p:nvPr/>
        </p:nvSpPr>
        <p:spPr>
          <a:xfrm>
            <a:off x="5364000" y="2888640"/>
            <a:ext cx="324000" cy="47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2600" spc="-1" strike="noStrike">
                <a:solidFill>
                  <a:srgbClr val="d97706"/>
                </a:solidFill>
                <a:latin typeface="Noto Sans CJK JP"/>
              </a:rPr>
              <a:t>→</a:t>
            </a:r>
            <a:endParaRPr b="1" lang="en-US" sz="2600" spc="-1" strike="noStrike">
              <a:solidFill>
                <a:srgbClr val="d97706"/>
              </a:solidFill>
              <a:latin typeface="Noto Sans CJK JP"/>
              <a:ea typeface="Noto Sans CJK JP"/>
            </a:endParaRPr>
          </a:p>
        </p:txBody>
      </p:sp>
      <p:sp>
        <p:nvSpPr>
          <p:cNvPr id="508" name="Rectangle 28"/>
          <p:cNvSpPr/>
          <p:nvPr/>
        </p:nvSpPr>
        <p:spPr>
          <a:xfrm>
            <a:off x="576000" y="4428000"/>
            <a:ext cx="3456000" cy="1224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509" name="TextShape 29"/>
          <p:cNvSpPr txBox="1"/>
          <p:nvPr/>
        </p:nvSpPr>
        <p:spPr>
          <a:xfrm>
            <a:off x="774000" y="4590000"/>
            <a:ext cx="30600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1200" spc="-1" strike="noStrike">
                <a:solidFill>
                  <a:srgbClr val="059669"/>
                </a:solidFill>
                <a:latin typeface="Noto Sans CJK JP"/>
              </a:rPr>
              <a:t>主要 </a:t>
            </a:r>
            <a:r>
              <a:rPr b="1" lang="en-US" sz="1200" spc="-1" strike="noStrike">
                <a:solidFill>
                  <a:srgbClr val="059669"/>
                </a:solidFill>
                <a:latin typeface="Noto Sans CJK JP"/>
              </a:rPr>
              <a:t>parameter</a:t>
            </a:r>
            <a:endParaRPr b="1" lang="en-US" sz="12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510" name="TextShape 30"/>
          <p:cNvSpPr txBox="1"/>
          <p:nvPr/>
        </p:nvSpPr>
        <p:spPr>
          <a:xfrm>
            <a:off x="774000" y="4860000"/>
            <a:ext cx="3060000" cy="52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950" spc="-1" strike="noStrike">
                <a:solidFill>
                  <a:srgbClr val="152238"/>
                </a:solidFill>
                <a:latin typeface="Noto Sans Mono CJK JP"/>
              </a:rPr>
              <a:t>family / tag_size_m / corner_sigma_px</a:t>
            </a:r>
            <a:endParaRPr b="0" lang="en-US" sz="950" spc="-1" strike="noStrike">
              <a:solidFill>
                <a:srgbClr val="152238"/>
              </a:solidFill>
              <a:latin typeface="Noto Sans Mono CJK JP"/>
              <a:ea typeface="Noto Sans Mono CJK JP"/>
            </a:endParaRPr>
          </a:p>
          <a:p>
            <a:r>
              <a:rPr b="0" lang="en-US" sz="950" spc="-1" strike="noStrike">
                <a:solidFill>
                  <a:srgbClr val="152238"/>
                </a:solidFill>
                <a:latin typeface="Noto Sans Mono CJK JP"/>
              </a:rPr>
              <a:t>max_iterations / finite_difference_step</a:t>
            </a:r>
            <a:endParaRPr b="0" lang="en-US" sz="950" spc="-1" strike="noStrike">
              <a:solidFill>
                <a:srgbClr val="152238"/>
              </a:solidFill>
              <a:latin typeface="Noto Sans Mono CJK JP"/>
              <a:ea typeface="Noto Sans Mono CJK JP"/>
            </a:endParaRPr>
          </a:p>
          <a:p>
            <a:r>
              <a:rPr b="0" lang="en-US" sz="950" spc="-1" strike="noStrike">
                <a:solidFill>
                  <a:srgbClr val="152238"/>
                </a:solidFill>
                <a:latin typeface="Noto Sans Mono CJK JP"/>
              </a:rPr>
              <a:t>translation_prior_variance / spd_tolerance</a:t>
            </a:r>
            <a:endParaRPr b="0" lang="en-US" sz="950" spc="-1" strike="noStrike">
              <a:solidFill>
                <a:srgbClr val="152238"/>
              </a:solidFill>
              <a:latin typeface="Noto Sans Mono CJK JP"/>
              <a:ea typeface="Noto Sans Mono CJK JP"/>
            </a:endParaRPr>
          </a:p>
        </p:txBody>
      </p:sp>
      <p:sp>
        <p:nvSpPr>
          <p:cNvPr id="511" name="Rectangle 31"/>
          <p:cNvSpPr/>
          <p:nvPr/>
        </p:nvSpPr>
        <p:spPr>
          <a:xfrm>
            <a:off x="4356000" y="4428000"/>
            <a:ext cx="3348000" cy="1224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512" name="TextShape 32"/>
          <p:cNvSpPr txBox="1"/>
          <p:nvPr/>
        </p:nvSpPr>
        <p:spPr>
          <a:xfrm>
            <a:off x="4554000" y="4590000"/>
            <a:ext cx="29520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200" spc="-1" strike="noStrike">
                <a:solidFill>
                  <a:srgbClr val="059669"/>
                </a:solidFill>
                <a:latin typeface="Noto Sans CJK JP"/>
              </a:rPr>
              <a:t>runtime guard</a:t>
            </a:r>
            <a:endParaRPr b="1" lang="en-US" sz="12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513" name="TextShape 33"/>
          <p:cNvSpPr txBox="1"/>
          <p:nvPr/>
        </p:nvSpPr>
        <p:spPr>
          <a:xfrm>
            <a:off x="4554000" y="4860000"/>
            <a:ext cx="2952000" cy="5446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980" spc="-1" strike="noStrike">
                <a:solidFill>
                  <a:srgbClr val="152238"/>
                </a:solidFill>
                <a:latin typeface="Noto Sans CJK JP"/>
              </a:rPr>
              <a:t>CameraInfo </a:t>
            </a:r>
            <a:r>
              <a:rPr b="0" lang="zh-CN" sz="980" spc="-1" strike="noStrike">
                <a:solidFill>
                  <a:srgbClr val="152238"/>
                </a:solidFill>
                <a:latin typeface="Noto Sans CJK JP"/>
              </a:rPr>
              <a:t>待ち </a:t>
            </a:r>
            <a:r>
              <a:rPr b="0" lang="en-US" sz="980" spc="-1" strike="noStrike">
                <a:solidFill>
                  <a:srgbClr val="152238"/>
                </a:solidFill>
                <a:latin typeface="Noto Sans CJK JP"/>
              </a:rPr>
              <a:t>/ processing lock</a:t>
            </a:r>
            <a:endParaRPr b="0" lang="en-US" sz="98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  <a:p>
            <a:r>
              <a:rPr b="0" lang="zh-CN" sz="980" spc="-1" strike="noStrike">
                <a:solidFill>
                  <a:srgbClr val="152238"/>
                </a:solidFill>
                <a:latin typeface="Noto Sans CJK JP"/>
              </a:rPr>
              <a:t>重複 </a:t>
            </a:r>
            <a:r>
              <a:rPr b="0" lang="en-US" sz="980" spc="-1" strike="noStrike">
                <a:solidFill>
                  <a:srgbClr val="152238"/>
                </a:solidFill>
                <a:latin typeface="Noto Sans CJK JP"/>
              </a:rPr>
              <a:t>frame </a:t>
            </a:r>
            <a:r>
              <a:rPr b="0" lang="zh-CN" sz="980" spc="-1" strike="noStrike">
                <a:solidFill>
                  <a:srgbClr val="152238"/>
                </a:solidFill>
                <a:latin typeface="Noto Sans CJK JP"/>
              </a:rPr>
              <a:t>は </a:t>
            </a:r>
            <a:r>
              <a:rPr b="0" lang="en-US" sz="980" spc="-1" strike="noStrike">
                <a:solidFill>
                  <a:srgbClr val="152238"/>
                </a:solidFill>
                <a:latin typeface="Noto Sans CJK JP"/>
              </a:rPr>
              <a:t>drop / invalid edge </a:t>
            </a:r>
            <a:r>
              <a:rPr b="0" lang="zh-CN" sz="980" spc="-1" strike="noStrike">
                <a:solidFill>
                  <a:srgbClr val="152238"/>
                </a:solidFill>
                <a:latin typeface="Noto Sans CJK JP"/>
              </a:rPr>
              <a:t>は </a:t>
            </a:r>
            <a:r>
              <a:rPr b="0" lang="en-US" sz="980" spc="-1" strike="noStrike">
                <a:solidFill>
                  <a:srgbClr val="152238"/>
                </a:solidFill>
                <a:latin typeface="Noto Sans CJK JP"/>
              </a:rPr>
              <a:t>reject</a:t>
            </a:r>
            <a:endParaRPr b="0" lang="en-US" sz="98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  <a:p>
            <a:r>
              <a:rPr b="0" lang="en-US" sz="980" spc="-1" strike="noStrike">
                <a:solidFill>
                  <a:srgbClr val="152238"/>
                </a:solidFill>
                <a:latin typeface="Noto Sans CJK JP"/>
              </a:rPr>
              <a:t>warn throttle </a:t>
            </a:r>
            <a:r>
              <a:rPr b="0" lang="zh-CN" sz="980" spc="-1" strike="noStrike">
                <a:solidFill>
                  <a:srgbClr val="152238"/>
                </a:solidFill>
                <a:latin typeface="Noto Sans CJK JP"/>
              </a:rPr>
              <a:t>で運用状態を可視化</a:t>
            </a:r>
            <a:endParaRPr b="0" lang="en-US" sz="98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514" name="Rectangle 34"/>
          <p:cNvSpPr/>
          <p:nvPr/>
        </p:nvSpPr>
        <p:spPr>
          <a:xfrm>
            <a:off x="7992000" y="4428000"/>
            <a:ext cx="3384000" cy="1224000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</p:sp>
      <p:sp>
        <p:nvSpPr>
          <p:cNvPr id="515" name="TextShape 35"/>
          <p:cNvSpPr txBox="1"/>
          <p:nvPr/>
        </p:nvSpPr>
        <p:spPr>
          <a:xfrm>
            <a:off x="8190000" y="4590000"/>
            <a:ext cx="29880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200" spc="-1" strike="noStrike">
                <a:solidFill>
                  <a:srgbClr val="8de8f5"/>
                </a:solidFill>
                <a:latin typeface="Noto Sans CJK JP"/>
              </a:rPr>
              <a:t>debug axes</a:t>
            </a:r>
            <a:endParaRPr b="1" lang="en-US" sz="1200" spc="-1" strike="noStrike">
              <a:solidFill>
                <a:srgbClr val="8de8f5"/>
              </a:solidFill>
              <a:latin typeface="Noto Sans CJK JP"/>
              <a:ea typeface="Noto Sans CJK JP"/>
            </a:endParaRPr>
          </a:p>
        </p:txBody>
      </p:sp>
      <p:sp>
        <p:nvSpPr>
          <p:cNvPr id="516" name="TextShape 36"/>
          <p:cNvSpPr txBox="1"/>
          <p:nvPr/>
        </p:nvSpPr>
        <p:spPr>
          <a:xfrm>
            <a:off x="8190000" y="4860000"/>
            <a:ext cx="2988000" cy="54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000" spc="-1" strike="noStrike">
                <a:solidFill>
                  <a:srgbClr val="ffffff"/>
                </a:solidFill>
                <a:latin typeface="Noto Sans CJK JP"/>
              </a:rPr>
              <a:t>green: detected quad</a:t>
            </a:r>
            <a:endParaRPr b="0" lang="en-US" sz="10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  <a:p>
            <a:r>
              <a:rPr b="0" lang="en-US" sz="1000" spc="-1" strike="noStrike">
                <a:solidFill>
                  <a:srgbClr val="ffffff"/>
                </a:solidFill>
                <a:latin typeface="Noto Sans CJK JP"/>
              </a:rPr>
              <a:t>axes: </a:t>
            </a:r>
            <a:r>
              <a:rPr b="0" lang="zh-CN" sz="1000" spc="-1" strike="noStrike">
                <a:solidFill>
                  <a:srgbClr val="ffffff"/>
                </a:solidFill>
                <a:latin typeface="Noto Sans CJK JP"/>
              </a:rPr>
              <a:t>全 </a:t>
            </a:r>
            <a:r>
              <a:rPr b="0" lang="en-US" sz="1000" spc="-1" strike="noStrike">
                <a:solidFill>
                  <a:srgbClr val="ffffff"/>
                </a:solidFill>
                <a:latin typeface="Noto Sans CJK JP"/>
              </a:rPr>
              <a:t>accepted mode</a:t>
            </a:r>
            <a:endParaRPr b="0" lang="en-US" sz="10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  <a:p>
            <a:r>
              <a:rPr b="0" lang="en-US" sz="1000" spc="-1" strike="noStrike">
                <a:solidFill>
                  <a:srgbClr val="ffffff"/>
                </a:solidFill>
                <a:latin typeface="Noto Sans CJK JP"/>
              </a:rPr>
              <a:t>label: ID / mode count / weights</a:t>
            </a:r>
            <a:endParaRPr b="0" lang="en-US" sz="10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517" name="Line 37"/>
          <p:cNvSpPr/>
          <p:nvPr/>
        </p:nvSpPr>
        <p:spPr>
          <a:xfrm>
            <a:off x="540000" y="6496200"/>
            <a:ext cx="11088000" cy="360"/>
          </a:xfrm>
          <a:prstGeom prst="line">
            <a:avLst/>
          </a:prstGeom>
          <a:ln w="432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8" name="TextShape 38"/>
          <p:cNvSpPr txBox="1"/>
          <p:nvPr/>
        </p:nvSpPr>
        <p:spPr>
          <a:xfrm>
            <a:off x="540000" y="6528600"/>
            <a:ext cx="4320000" cy="155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850" spc="-1" strike="noStrike">
                <a:solidFill>
                  <a:srgbClr val="9cb2ce"/>
                </a:solidFill>
                <a:latin typeface="Noto Sans CJK JP"/>
              </a:rPr>
              <a:t>ProbTF-demo  |  AprilTag implementation overview</a:t>
            </a:r>
            <a:endParaRPr b="0" lang="en-US" sz="850" spc="-1" strike="noStrike">
              <a:solidFill>
                <a:srgbClr val="9cb2ce"/>
              </a:solidFill>
              <a:latin typeface="Noto Sans CJK JP"/>
              <a:ea typeface="Noto Sans CJK JP"/>
            </a:endParaRPr>
          </a:p>
        </p:txBody>
      </p:sp>
      <p:sp>
        <p:nvSpPr>
          <p:cNvPr id="519" name="TextShape 39"/>
          <p:cNvSpPr txBox="1"/>
          <p:nvPr/>
        </p:nvSpPr>
        <p:spPr>
          <a:xfrm>
            <a:off x="11124000" y="6528600"/>
            <a:ext cx="504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r"/>
            <a:r>
              <a:rPr b="1" lang="en-US" sz="900" spc="-1" strike="noStrike">
                <a:solidFill>
                  <a:srgbClr val="2563eb"/>
                </a:solidFill>
                <a:latin typeface="Noto Sans CJK JP"/>
              </a:rPr>
              <a:t>14</a:t>
            </a:r>
            <a:endParaRPr b="1" lang="en-US" sz="9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</p:sp>
      <p:sp>
        <p:nvSpPr>
          <p:cNvPr id="521" name="TextShape 2"/>
          <p:cNvSpPr txBox="1"/>
          <p:nvPr/>
        </p:nvSpPr>
        <p:spPr>
          <a:xfrm>
            <a:off x="540000" y="180000"/>
            <a:ext cx="3240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000" spc="-1" strike="noStrike">
                <a:solidFill>
                  <a:srgbClr val="d97706"/>
                </a:solidFill>
                <a:latin typeface="Noto Sans CJK JP"/>
              </a:rPr>
              <a:t>PHASE 3  |  BENCHMARK</a:t>
            </a:r>
            <a:endParaRPr b="1" lang="en-US" sz="1000" spc="-1" strike="noStrike">
              <a:solidFill>
                <a:srgbClr val="d97706"/>
              </a:solidFill>
              <a:latin typeface="Noto Sans CJK JP"/>
              <a:ea typeface="Noto Sans CJK JP"/>
            </a:endParaRPr>
          </a:p>
        </p:txBody>
      </p:sp>
      <p:sp>
        <p:nvSpPr>
          <p:cNvPr id="522" name="TextShape 3"/>
          <p:cNvSpPr txBox="1"/>
          <p:nvPr/>
        </p:nvSpPr>
        <p:spPr>
          <a:xfrm>
            <a:off x="540000" y="367200"/>
            <a:ext cx="10908000" cy="4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2500" spc="-1" strike="noStrike">
                <a:solidFill>
                  <a:srgbClr val="152238"/>
                </a:solidFill>
                <a:latin typeface="Noto Sans CJK JP"/>
              </a:rPr>
              <a:t>render → detect → estimate → compare </a:t>
            </a:r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を閉ループ化</a:t>
            </a:r>
            <a:endParaRPr b="1" lang="en-US" sz="25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523" name="TextShape 4"/>
          <p:cNvSpPr txBox="1"/>
          <p:nvPr/>
        </p:nvSpPr>
        <p:spPr>
          <a:xfrm>
            <a:off x="540000" y="709200"/>
            <a:ext cx="10800000" cy="19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renderer package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を</a:t>
            </a:r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import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せず、</a:t>
            </a:r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dataset files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を</a:t>
            </a:r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wire boundary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として読む</a:t>
            </a:r>
            <a:endParaRPr b="0" lang="en-US" sz="10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524" name="Line 5"/>
          <p:cNvSpPr/>
          <p:nvPr/>
        </p:nvSpPr>
        <p:spPr>
          <a:xfrm>
            <a:off x="540000" y="910800"/>
            <a:ext cx="11088000" cy="360"/>
          </a:xfrm>
          <a:prstGeom prst="line">
            <a:avLst/>
          </a:prstGeom>
          <a:ln w="54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5" name="Rectangle 6"/>
          <p:cNvSpPr/>
          <p:nvPr/>
        </p:nvSpPr>
        <p:spPr>
          <a:xfrm>
            <a:off x="0" y="0"/>
            <a:ext cx="9360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526" name="Rectangle 7"/>
          <p:cNvSpPr/>
          <p:nvPr/>
        </p:nvSpPr>
        <p:spPr>
          <a:xfrm>
            <a:off x="7894800" y="1252800"/>
            <a:ext cx="3506400" cy="26424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pic>
        <p:nvPicPr>
          <p:cNvPr id="527" name="" descr=""/>
          <p:cNvPicPr/>
          <p:nvPr/>
        </p:nvPicPr>
        <p:blipFill>
          <a:blip r:embed="rId1"/>
          <a:stretch/>
        </p:blipFill>
        <p:spPr>
          <a:xfrm>
            <a:off x="7920000" y="1278000"/>
            <a:ext cx="3456000" cy="2592000"/>
          </a:xfrm>
          <a:prstGeom prst="rect">
            <a:avLst/>
          </a:prstGeom>
          <a:ln>
            <a:noFill/>
          </a:ln>
        </p:spPr>
      </p:pic>
      <p:sp>
        <p:nvSpPr>
          <p:cNvPr id="528" name="TextShape 8"/>
          <p:cNvSpPr txBox="1"/>
          <p:nvPr/>
        </p:nvSpPr>
        <p:spPr>
          <a:xfrm>
            <a:off x="7992000" y="3942000"/>
            <a:ext cx="3312000" cy="155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0" lang="en-US" sz="850" spc="-1" strike="noStrike">
                <a:solidFill>
                  <a:srgbClr val="5c6b82"/>
                </a:solidFill>
                <a:latin typeface="Noto Sans CJK JP"/>
              </a:rPr>
              <a:t>oblique fixture: GT cyan / detection magenta / all seed axes</a:t>
            </a:r>
            <a:endParaRPr b="0" lang="en-US" sz="8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529" name="Rectangle 9"/>
          <p:cNvSpPr/>
          <p:nvPr/>
        </p:nvSpPr>
        <p:spPr>
          <a:xfrm>
            <a:off x="576000" y="1404000"/>
            <a:ext cx="1944000" cy="1188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530" name="Rectangle 10"/>
          <p:cNvSpPr/>
          <p:nvPr/>
        </p:nvSpPr>
        <p:spPr>
          <a:xfrm>
            <a:off x="576000" y="1404000"/>
            <a:ext cx="28800" cy="118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531" name="TextShape 11"/>
          <p:cNvSpPr txBox="1"/>
          <p:nvPr/>
        </p:nvSpPr>
        <p:spPr>
          <a:xfrm>
            <a:off x="684000" y="1584000"/>
            <a:ext cx="17280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1" lang="en-US" sz="1200" spc="-1" strike="noStrike">
                <a:solidFill>
                  <a:srgbClr val="152238"/>
                </a:solidFill>
                <a:latin typeface="Noto Sans CJK JP"/>
              </a:rPr>
              <a:t>Phase 1 dataset</a:t>
            </a:r>
            <a:endParaRPr b="1" lang="en-US" sz="12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532" name="TextShape 12"/>
          <p:cNvSpPr txBox="1"/>
          <p:nvPr/>
        </p:nvSpPr>
        <p:spPr>
          <a:xfrm>
            <a:off x="684000" y="1926000"/>
            <a:ext cx="1728000" cy="36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0" lang="en-US" sz="1000" spc="-1" strike="noStrike">
                <a:solidFill>
                  <a:srgbClr val="5c6b82"/>
                </a:solidFill>
                <a:latin typeface="Noto Sans CJK JP"/>
              </a:rPr>
              <a:t>rgb.png</a:t>
            </a:r>
            <a:endParaRPr b="0" lang="en-US" sz="10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en-US" sz="1000" spc="-1" strike="noStrike">
                <a:solidFill>
                  <a:srgbClr val="5c6b82"/>
                </a:solidFill>
                <a:latin typeface="Noto Sans CJK JP"/>
              </a:rPr>
              <a:t>metadata.json</a:t>
            </a:r>
            <a:endParaRPr b="0" lang="en-US" sz="10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533" name="Rectangle 13"/>
          <p:cNvSpPr/>
          <p:nvPr/>
        </p:nvSpPr>
        <p:spPr>
          <a:xfrm>
            <a:off x="2952000" y="1404000"/>
            <a:ext cx="1944000" cy="1188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534" name="Rectangle 14"/>
          <p:cNvSpPr/>
          <p:nvPr/>
        </p:nvSpPr>
        <p:spPr>
          <a:xfrm>
            <a:off x="2952000" y="1404000"/>
            <a:ext cx="28800" cy="118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535" name="TextShape 15"/>
          <p:cNvSpPr txBox="1"/>
          <p:nvPr/>
        </p:nvSpPr>
        <p:spPr>
          <a:xfrm>
            <a:off x="3060000" y="1584000"/>
            <a:ext cx="17280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1" lang="en-US" sz="1200" spc="-1" strike="noStrike">
                <a:solidFill>
                  <a:srgbClr val="152238"/>
                </a:solidFill>
                <a:latin typeface="Noto Sans CJK JP"/>
              </a:rPr>
              <a:t>benchmark</a:t>
            </a:r>
            <a:endParaRPr b="1" lang="en-US" sz="12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536" name="TextShape 16"/>
          <p:cNvSpPr txBox="1"/>
          <p:nvPr/>
        </p:nvSpPr>
        <p:spPr>
          <a:xfrm>
            <a:off x="3060000" y="1926000"/>
            <a:ext cx="1728000" cy="36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0" lang="en-US" sz="1000" spc="-1" strike="noStrike">
                <a:solidFill>
                  <a:srgbClr val="5c6b82"/>
                </a:solidFill>
                <a:latin typeface="Noto Sans CJK JP"/>
              </a:rPr>
              <a:t>associate ID</a:t>
            </a:r>
            <a:endParaRPr b="0" lang="en-US" sz="10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en-US" sz="1000" spc="-1" strike="noStrike">
                <a:solidFill>
                  <a:srgbClr val="5c6b82"/>
                </a:solidFill>
                <a:latin typeface="Noto Sans CJK JP"/>
              </a:rPr>
              <a:t>compare corners / poses</a:t>
            </a:r>
            <a:endParaRPr b="0" lang="en-US" sz="10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537" name="Rectangle 17"/>
          <p:cNvSpPr/>
          <p:nvPr/>
        </p:nvSpPr>
        <p:spPr>
          <a:xfrm>
            <a:off x="5328000" y="1404000"/>
            <a:ext cx="1944000" cy="1188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538" name="Rectangle 18"/>
          <p:cNvSpPr/>
          <p:nvPr/>
        </p:nvSpPr>
        <p:spPr>
          <a:xfrm>
            <a:off x="5328000" y="1404000"/>
            <a:ext cx="28800" cy="118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539" name="TextShape 19"/>
          <p:cNvSpPr txBox="1"/>
          <p:nvPr/>
        </p:nvSpPr>
        <p:spPr>
          <a:xfrm>
            <a:off x="5436000" y="1584000"/>
            <a:ext cx="17280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1" lang="en-US" sz="1200" spc="-1" strike="noStrike">
                <a:solidFill>
                  <a:srgbClr val="152238"/>
                </a:solidFill>
                <a:latin typeface="Noto Sans CJK JP"/>
              </a:rPr>
              <a:t>artifacts</a:t>
            </a:r>
            <a:endParaRPr b="1" lang="en-US" sz="12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540" name="TextShape 20"/>
          <p:cNvSpPr txBox="1"/>
          <p:nvPr/>
        </p:nvSpPr>
        <p:spPr>
          <a:xfrm>
            <a:off x="5436000" y="1926000"/>
            <a:ext cx="1728000" cy="3661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0" lang="en-US" sz="1000" spc="-1" strike="noStrike">
                <a:solidFill>
                  <a:srgbClr val="5c6b82"/>
                </a:solidFill>
                <a:latin typeface="Noto Sans CJK JP"/>
              </a:rPr>
              <a:t>JSON / CSV</a:t>
            </a:r>
            <a:endParaRPr b="0" lang="en-US" sz="10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en-US" sz="1000" spc="-1" strike="noStrike">
                <a:solidFill>
                  <a:srgbClr val="5c6b82"/>
                </a:solidFill>
                <a:latin typeface="Noto Sans CJK JP"/>
              </a:rPr>
              <a:t>overlays</a:t>
            </a:r>
            <a:endParaRPr b="0" lang="en-US" sz="10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541" name="TextShape 21"/>
          <p:cNvSpPr txBox="1"/>
          <p:nvPr/>
        </p:nvSpPr>
        <p:spPr>
          <a:xfrm>
            <a:off x="2520000" y="1916640"/>
            <a:ext cx="324000" cy="47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2600" spc="-1" strike="noStrike">
                <a:solidFill>
                  <a:srgbClr val="0891b2"/>
                </a:solidFill>
                <a:latin typeface="Noto Sans CJK JP"/>
              </a:rPr>
              <a:t>→</a:t>
            </a:r>
            <a:endParaRPr b="1" lang="en-US" sz="2600" spc="-1" strike="noStrike">
              <a:solidFill>
                <a:srgbClr val="0891b2"/>
              </a:solidFill>
              <a:latin typeface="Noto Sans CJK JP"/>
              <a:ea typeface="Noto Sans CJK JP"/>
            </a:endParaRPr>
          </a:p>
        </p:txBody>
      </p:sp>
      <p:sp>
        <p:nvSpPr>
          <p:cNvPr id="542" name="TextShape 22"/>
          <p:cNvSpPr txBox="1"/>
          <p:nvPr/>
        </p:nvSpPr>
        <p:spPr>
          <a:xfrm>
            <a:off x="4896000" y="1916640"/>
            <a:ext cx="324000" cy="47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2600" spc="-1" strike="noStrike">
                <a:solidFill>
                  <a:srgbClr val="0891b2"/>
                </a:solidFill>
                <a:latin typeface="Noto Sans CJK JP"/>
              </a:rPr>
              <a:t>→</a:t>
            </a:r>
            <a:endParaRPr b="1" lang="en-US" sz="2600" spc="-1" strike="noStrike">
              <a:solidFill>
                <a:srgbClr val="0891b2"/>
              </a:solidFill>
              <a:latin typeface="Noto Sans CJK JP"/>
              <a:ea typeface="Noto Sans CJK JP"/>
            </a:endParaRPr>
          </a:p>
        </p:txBody>
      </p:sp>
      <p:sp>
        <p:nvSpPr>
          <p:cNvPr id="543" name="Rectangle 23"/>
          <p:cNvSpPr/>
          <p:nvPr/>
        </p:nvSpPr>
        <p:spPr>
          <a:xfrm>
            <a:off x="576000" y="2952000"/>
            <a:ext cx="6912000" cy="1224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544" name="TextShape 24"/>
          <p:cNvSpPr txBox="1"/>
          <p:nvPr/>
        </p:nvSpPr>
        <p:spPr>
          <a:xfrm>
            <a:off x="774000" y="3114000"/>
            <a:ext cx="6480000" cy="23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1250" spc="-1" strike="noStrike">
                <a:solidFill>
                  <a:srgbClr val="d97706"/>
                </a:solidFill>
                <a:latin typeface="Noto Sans CJK JP"/>
              </a:rPr>
              <a:t>評価 </a:t>
            </a:r>
            <a:r>
              <a:rPr b="1" lang="en-US" sz="1250" spc="-1" strike="noStrike">
                <a:solidFill>
                  <a:srgbClr val="d97706"/>
                </a:solidFill>
                <a:latin typeface="Noto Sans CJK JP"/>
              </a:rPr>
              <a:t>fixture</a:t>
            </a:r>
            <a:endParaRPr b="1" lang="en-US" sz="1250" spc="-1" strike="noStrike">
              <a:solidFill>
                <a:srgbClr val="d97706"/>
              </a:solidFill>
              <a:latin typeface="Noto Sans CJK JP"/>
              <a:ea typeface="Noto Sans CJK JP"/>
            </a:endParaRPr>
          </a:p>
        </p:txBody>
      </p:sp>
      <p:sp>
        <p:nvSpPr>
          <p:cNvPr id="545" name="TextShape 25"/>
          <p:cNvSpPr txBox="1"/>
          <p:nvPr/>
        </p:nvSpPr>
        <p:spPr>
          <a:xfrm>
            <a:off x="774000" y="3402000"/>
            <a:ext cx="6408000" cy="4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000" spc="-1" strike="noStrike">
                <a:solidFill>
                  <a:srgbClr val="152238"/>
                </a:solidFill>
                <a:latin typeface="Noto Sans Mono CJK JP"/>
              </a:rPr>
              <a:t>family=DICT_APRILTAG_36h11  /  L=0.12 m  /  seed=2  /  σpix=0.5 px</a:t>
            </a:r>
            <a:endParaRPr b="0" lang="en-US" sz="1000" spc="-1" strike="noStrike">
              <a:solidFill>
                <a:srgbClr val="152238"/>
              </a:solidFill>
              <a:latin typeface="Noto Sans Mono CJK JP"/>
              <a:ea typeface="Noto Sans Mono CJK JP"/>
            </a:endParaRPr>
          </a:p>
          <a:p>
            <a:r>
              <a:rPr b="0" lang="en-US" sz="1000" spc="-1" strike="noStrike">
                <a:solidFill>
                  <a:srgbClr val="152238"/>
                </a:solidFill>
                <a:latin typeface="Noto Sans Mono CJK JP"/>
              </a:rPr>
              <a:t>640×480  /  fx=fy=600 px  /  clean  /  near: t≤0.02 m &amp; R≤5°</a:t>
            </a:r>
            <a:endParaRPr b="0" lang="en-US" sz="1000" spc="-1" strike="noStrike">
              <a:solidFill>
                <a:srgbClr val="152238"/>
              </a:solidFill>
              <a:latin typeface="Noto Sans Mono CJK JP"/>
              <a:ea typeface="Noto Sans Mono CJK JP"/>
            </a:endParaRPr>
          </a:p>
        </p:txBody>
      </p:sp>
      <p:sp>
        <p:nvSpPr>
          <p:cNvPr id="546" name="Rectangle 26"/>
          <p:cNvSpPr/>
          <p:nvPr/>
        </p:nvSpPr>
        <p:spPr>
          <a:xfrm>
            <a:off x="576000" y="4536000"/>
            <a:ext cx="10980000" cy="1080000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</p:sp>
      <p:sp>
        <p:nvSpPr>
          <p:cNvPr id="547" name="TextShape 27"/>
          <p:cNvSpPr txBox="1"/>
          <p:nvPr/>
        </p:nvSpPr>
        <p:spPr>
          <a:xfrm>
            <a:off x="756000" y="4716000"/>
            <a:ext cx="1872000" cy="19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1" lang="en-US" sz="1050" spc="-1" strike="noStrike">
                <a:solidFill>
                  <a:srgbClr val="8de8f5"/>
                </a:solidFill>
                <a:latin typeface="Noto Sans CJK JP"/>
              </a:rPr>
              <a:t>recall</a:t>
            </a:r>
            <a:endParaRPr b="1" lang="en-US" sz="1050" spc="-1" strike="noStrike">
              <a:solidFill>
                <a:srgbClr val="8de8f5"/>
              </a:solidFill>
              <a:latin typeface="Noto Sans CJK JP"/>
              <a:ea typeface="Noto Sans CJK JP"/>
            </a:endParaRPr>
          </a:p>
        </p:txBody>
      </p:sp>
      <p:sp>
        <p:nvSpPr>
          <p:cNvPr id="548" name="TextShape 28"/>
          <p:cNvSpPr txBox="1"/>
          <p:nvPr/>
        </p:nvSpPr>
        <p:spPr>
          <a:xfrm>
            <a:off x="756000" y="4968000"/>
            <a:ext cx="1872000" cy="2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0" lang="en-US" sz="850" spc="-1" strike="noStrike">
                <a:solidFill>
                  <a:srgbClr val="ffffff"/>
                </a:solidFill>
                <a:latin typeface="Noto Sans CJK JP"/>
              </a:rPr>
              <a:t>associated detection / GT</a:t>
            </a:r>
            <a:endParaRPr b="0" lang="en-US" sz="85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549" name="TextShape 29"/>
          <p:cNvSpPr txBox="1"/>
          <p:nvPr/>
        </p:nvSpPr>
        <p:spPr>
          <a:xfrm>
            <a:off x="2880000" y="4716000"/>
            <a:ext cx="1872000" cy="19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1" lang="en-US" sz="1050" spc="-1" strike="noStrike">
                <a:solidFill>
                  <a:srgbClr val="8de8f5"/>
                </a:solidFill>
                <a:latin typeface="Noto Sans CJK JP"/>
              </a:rPr>
              <a:t>corner RMSE</a:t>
            </a:r>
            <a:endParaRPr b="1" lang="en-US" sz="1050" spc="-1" strike="noStrike">
              <a:solidFill>
                <a:srgbClr val="8de8f5"/>
              </a:solidFill>
              <a:latin typeface="Noto Sans CJK JP"/>
              <a:ea typeface="Noto Sans CJK JP"/>
            </a:endParaRPr>
          </a:p>
        </p:txBody>
      </p:sp>
      <p:sp>
        <p:nvSpPr>
          <p:cNvPr id="550" name="TextShape 30"/>
          <p:cNvSpPr txBox="1"/>
          <p:nvPr/>
        </p:nvSpPr>
        <p:spPr>
          <a:xfrm>
            <a:off x="2880000" y="4968000"/>
            <a:ext cx="1872000" cy="2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0" lang="en-US" sz="850" spc="-1" strike="noStrike">
                <a:solidFill>
                  <a:srgbClr val="ffffff"/>
                </a:solidFill>
                <a:latin typeface="Noto Sans CJK JP"/>
              </a:rPr>
              <a:t>ordered 4-corner pixel error</a:t>
            </a:r>
            <a:endParaRPr b="0" lang="en-US" sz="85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551" name="TextShape 31"/>
          <p:cNvSpPr txBox="1"/>
          <p:nvPr/>
        </p:nvSpPr>
        <p:spPr>
          <a:xfrm>
            <a:off x="5004000" y="4716000"/>
            <a:ext cx="1872000" cy="19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1" lang="en-US" sz="1050" spc="-1" strike="noStrike">
                <a:solidFill>
                  <a:srgbClr val="8de8f5"/>
                </a:solidFill>
                <a:latin typeface="Noto Sans CJK JP"/>
              </a:rPr>
              <a:t>near IPPE</a:t>
            </a:r>
            <a:endParaRPr b="1" lang="en-US" sz="1050" spc="-1" strike="noStrike">
              <a:solidFill>
                <a:srgbClr val="8de8f5"/>
              </a:solidFill>
              <a:latin typeface="Noto Sans CJK JP"/>
              <a:ea typeface="Noto Sans CJK JP"/>
            </a:endParaRPr>
          </a:p>
        </p:txBody>
      </p:sp>
      <p:sp>
        <p:nvSpPr>
          <p:cNvPr id="552" name="TextShape 32"/>
          <p:cNvSpPr txBox="1"/>
          <p:nvPr/>
        </p:nvSpPr>
        <p:spPr>
          <a:xfrm>
            <a:off x="5004000" y="4968000"/>
            <a:ext cx="1872000" cy="2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0" lang="zh-CN" sz="850" spc="-1" strike="noStrike">
                <a:solidFill>
                  <a:srgbClr val="ffffff"/>
                </a:solidFill>
                <a:latin typeface="Noto Sans CJK JP"/>
              </a:rPr>
              <a:t>二 </a:t>
            </a:r>
            <a:r>
              <a:rPr b="0" lang="en-US" sz="850" spc="-1" strike="noStrike">
                <a:solidFill>
                  <a:srgbClr val="ffffff"/>
                </a:solidFill>
                <a:latin typeface="Noto Sans CJK JP"/>
              </a:rPr>
              <a:t>seed </a:t>
            </a:r>
            <a:r>
              <a:rPr b="0" lang="zh-CN" sz="850" spc="-1" strike="noStrike">
                <a:solidFill>
                  <a:srgbClr val="ffffff"/>
                </a:solidFill>
                <a:latin typeface="Noto Sans CJK JP"/>
              </a:rPr>
              <a:t>内に </a:t>
            </a:r>
            <a:r>
              <a:rPr b="0" lang="en-US" sz="850" spc="-1" strike="noStrike">
                <a:solidFill>
                  <a:srgbClr val="ffffff"/>
                </a:solidFill>
                <a:latin typeface="Noto Sans CJK JP"/>
              </a:rPr>
              <a:t>GT </a:t>
            </a:r>
            <a:r>
              <a:rPr b="0" lang="zh-CN" sz="850" spc="-1" strike="noStrike">
                <a:solidFill>
                  <a:srgbClr val="ffffff"/>
                </a:solidFill>
                <a:latin typeface="Noto Sans CJK JP"/>
              </a:rPr>
              <a:t>近傍があるか</a:t>
            </a:r>
            <a:endParaRPr b="0" lang="en-US" sz="85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553" name="TextShape 33"/>
          <p:cNvSpPr txBox="1"/>
          <p:nvPr/>
        </p:nvSpPr>
        <p:spPr>
          <a:xfrm>
            <a:off x="7128000" y="4716000"/>
            <a:ext cx="1872000" cy="19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1" lang="en-US" sz="1050" spc="-1" strike="noStrike">
                <a:solidFill>
                  <a:srgbClr val="8de8f5"/>
                </a:solidFill>
                <a:latin typeface="Noto Sans CJK JP"/>
              </a:rPr>
              <a:t>nearest mode</a:t>
            </a:r>
            <a:endParaRPr b="1" lang="en-US" sz="1050" spc="-1" strike="noStrike">
              <a:solidFill>
                <a:srgbClr val="8de8f5"/>
              </a:solidFill>
              <a:latin typeface="Noto Sans CJK JP"/>
              <a:ea typeface="Noto Sans CJK JP"/>
            </a:endParaRPr>
          </a:p>
        </p:txBody>
      </p:sp>
      <p:sp>
        <p:nvSpPr>
          <p:cNvPr id="554" name="TextShape 34"/>
          <p:cNvSpPr txBox="1"/>
          <p:nvPr/>
        </p:nvSpPr>
        <p:spPr>
          <a:xfrm>
            <a:off x="7128000" y="4968000"/>
            <a:ext cx="1872000" cy="2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0" lang="zh-CN" sz="850" spc="-1" strike="noStrike">
                <a:solidFill>
                  <a:srgbClr val="ffffff"/>
                </a:solidFill>
                <a:latin typeface="Noto Sans CJK JP"/>
              </a:rPr>
              <a:t>閾値正規化距離の </a:t>
            </a:r>
            <a:r>
              <a:rPr b="0" lang="en-US" sz="850" spc="-1" strike="noStrike">
                <a:solidFill>
                  <a:srgbClr val="ffffff"/>
                </a:solidFill>
                <a:latin typeface="Noto Sans CJK JP"/>
              </a:rPr>
              <a:t>oracle</a:t>
            </a:r>
            <a:endParaRPr b="0" lang="en-US" sz="85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555" name="TextShape 35"/>
          <p:cNvSpPr txBox="1"/>
          <p:nvPr/>
        </p:nvSpPr>
        <p:spPr>
          <a:xfrm>
            <a:off x="9252000" y="4716000"/>
            <a:ext cx="1872000" cy="19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1" lang="en-US" sz="1050" spc="-1" strike="noStrike">
                <a:solidFill>
                  <a:srgbClr val="8de8f5"/>
                </a:solidFill>
                <a:latin typeface="Noto Sans CJK JP"/>
              </a:rPr>
              <a:t>gap</a:t>
            </a:r>
            <a:endParaRPr b="1" lang="en-US" sz="1050" spc="-1" strike="noStrike">
              <a:solidFill>
                <a:srgbClr val="8de8f5"/>
              </a:solidFill>
              <a:latin typeface="Noto Sans CJK JP"/>
              <a:ea typeface="Noto Sans CJK JP"/>
            </a:endParaRPr>
          </a:p>
        </p:txBody>
      </p:sp>
      <p:sp>
        <p:nvSpPr>
          <p:cNvPr id="556" name="TextShape 36"/>
          <p:cNvSpPr txBox="1"/>
          <p:nvPr/>
        </p:nvSpPr>
        <p:spPr>
          <a:xfrm>
            <a:off x="9252000" y="4968000"/>
            <a:ext cx="1872000" cy="2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0" lang="en-US" sz="850" spc="-1" strike="noStrike">
                <a:solidFill>
                  <a:srgbClr val="ffffff"/>
                </a:solidFill>
                <a:latin typeface="Noto Sans CJK JP"/>
              </a:rPr>
              <a:t>IPPE </a:t>
            </a:r>
            <a:r>
              <a:rPr b="0" lang="zh-CN" sz="850" spc="-1" strike="noStrike">
                <a:solidFill>
                  <a:srgbClr val="ffffff"/>
                </a:solidFill>
                <a:latin typeface="Noto Sans CJK JP"/>
              </a:rPr>
              <a:t>二解の </a:t>
            </a:r>
            <a:r>
              <a:rPr b="0" lang="en-US" sz="850" spc="-1" strike="noStrike">
                <a:solidFill>
                  <a:srgbClr val="ffffff"/>
                </a:solidFill>
                <a:latin typeface="Noto Sans CJK JP"/>
              </a:rPr>
              <a:t>reprojection RMSE </a:t>
            </a:r>
            <a:r>
              <a:rPr b="0" lang="zh-CN" sz="850" spc="-1" strike="noStrike">
                <a:solidFill>
                  <a:srgbClr val="ffffff"/>
                </a:solidFill>
                <a:latin typeface="Noto Sans CJK JP"/>
              </a:rPr>
              <a:t>差</a:t>
            </a:r>
            <a:endParaRPr b="0" lang="en-US" sz="85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557" name="Rectangle 37"/>
          <p:cNvSpPr/>
          <p:nvPr/>
        </p:nvSpPr>
        <p:spPr>
          <a:xfrm>
            <a:off x="7884000" y="4230000"/>
            <a:ext cx="3420000" cy="201600"/>
          </a:xfrm>
          <a:prstGeom prst="roundRect">
            <a:avLst/>
          </a:prstGeom>
          <a:solidFill>
            <a:srgbClr val="e8f7f1"/>
          </a:solidFill>
          <a:ln>
            <a:noFill/>
          </a:ln>
        </p:spPr>
      </p:sp>
      <p:sp>
        <p:nvSpPr>
          <p:cNvPr id="558" name="TextShape 38"/>
          <p:cNvSpPr txBox="1"/>
          <p:nvPr/>
        </p:nvSpPr>
        <p:spPr>
          <a:xfrm>
            <a:off x="7884000" y="4305240"/>
            <a:ext cx="34200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870" spc="-1" strike="noStrike">
                <a:solidFill>
                  <a:srgbClr val="059669"/>
                </a:solidFill>
                <a:latin typeface="Noto Sans CJK JP"/>
              </a:rPr>
              <a:t>54 files byte-identical  |  SHA 084e0be01d…</a:t>
            </a:r>
            <a:endParaRPr b="1" lang="en-US" sz="87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559" name="Line 39"/>
          <p:cNvSpPr/>
          <p:nvPr/>
        </p:nvSpPr>
        <p:spPr>
          <a:xfrm>
            <a:off x="540000" y="6496200"/>
            <a:ext cx="11088000" cy="360"/>
          </a:xfrm>
          <a:prstGeom prst="line">
            <a:avLst/>
          </a:prstGeom>
          <a:ln w="432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0" name="TextShape 40"/>
          <p:cNvSpPr txBox="1"/>
          <p:nvPr/>
        </p:nvSpPr>
        <p:spPr>
          <a:xfrm>
            <a:off x="540000" y="6528600"/>
            <a:ext cx="4320000" cy="155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850" spc="-1" strike="noStrike">
                <a:solidFill>
                  <a:srgbClr val="9cb2ce"/>
                </a:solidFill>
                <a:latin typeface="Noto Sans CJK JP"/>
              </a:rPr>
              <a:t>ProbTF-demo  |  AprilTag implementation overview</a:t>
            </a:r>
            <a:endParaRPr b="0" lang="en-US" sz="850" spc="-1" strike="noStrike">
              <a:solidFill>
                <a:srgbClr val="9cb2ce"/>
              </a:solidFill>
              <a:latin typeface="Noto Sans CJK JP"/>
              <a:ea typeface="Noto Sans CJK JP"/>
            </a:endParaRPr>
          </a:p>
        </p:txBody>
      </p:sp>
      <p:sp>
        <p:nvSpPr>
          <p:cNvPr id="561" name="TextShape 41"/>
          <p:cNvSpPr txBox="1"/>
          <p:nvPr/>
        </p:nvSpPr>
        <p:spPr>
          <a:xfrm>
            <a:off x="11124000" y="6528600"/>
            <a:ext cx="504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r"/>
            <a:r>
              <a:rPr b="1" lang="en-US" sz="900" spc="-1" strike="noStrike">
                <a:solidFill>
                  <a:srgbClr val="2563eb"/>
                </a:solidFill>
                <a:latin typeface="Noto Sans CJK JP"/>
              </a:rPr>
              <a:t>15</a:t>
            </a:r>
            <a:endParaRPr b="1" lang="en-US" sz="9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</p:sp>
      <p:sp>
        <p:nvSpPr>
          <p:cNvPr id="563" name="TextShape 2"/>
          <p:cNvSpPr txBox="1"/>
          <p:nvPr/>
        </p:nvSpPr>
        <p:spPr>
          <a:xfrm>
            <a:off x="540000" y="180000"/>
            <a:ext cx="3240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000" spc="-1" strike="noStrike">
                <a:solidFill>
                  <a:srgbClr val="059669"/>
                </a:solidFill>
                <a:latin typeface="Noto Sans CJK JP"/>
              </a:rPr>
              <a:t>QUANTITATIVE RESULTS</a:t>
            </a:r>
            <a:endParaRPr b="1" lang="en-US" sz="10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564" name="TextShape 3"/>
          <p:cNvSpPr txBox="1"/>
          <p:nvPr/>
        </p:nvSpPr>
        <p:spPr>
          <a:xfrm>
            <a:off x="540000" y="367200"/>
            <a:ext cx="10908000" cy="4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2500" spc="-1" strike="noStrike">
                <a:solidFill>
                  <a:srgbClr val="152238"/>
                </a:solidFill>
                <a:latin typeface="Noto Sans CJK JP"/>
              </a:rPr>
              <a:t>clean synthetic</a:t>
            </a:r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：遮蔽なし </a:t>
            </a:r>
            <a:r>
              <a:rPr b="1" lang="en-US" sz="2500" spc="-1" strike="noStrike">
                <a:solidFill>
                  <a:srgbClr val="152238"/>
                </a:solidFill>
                <a:latin typeface="Noto Sans CJK JP"/>
              </a:rPr>
              <a:t>42 / 42 </a:t>
            </a:r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を正しい </a:t>
            </a:r>
            <a:r>
              <a:rPr b="1" lang="en-US" sz="2500" spc="-1" strike="noStrike">
                <a:solidFill>
                  <a:srgbClr val="152238"/>
                </a:solidFill>
                <a:latin typeface="Noto Sans CJK JP"/>
              </a:rPr>
              <a:t>ID </a:t>
            </a:r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で検出</a:t>
            </a:r>
            <a:endParaRPr b="1" lang="en-US" sz="25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565" name="TextShape 4"/>
          <p:cNvSpPr txBox="1"/>
          <p:nvPr/>
        </p:nvSpPr>
        <p:spPr>
          <a:xfrm>
            <a:off x="540000" y="709200"/>
            <a:ext cx="10800000" cy="19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accepted mode 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と </a:t>
            </a:r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rejected seed 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を混ぜず、</a:t>
            </a:r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scenario 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別に集計</a:t>
            </a:r>
            <a:endParaRPr b="0" lang="en-US" sz="10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566" name="Line 5"/>
          <p:cNvSpPr/>
          <p:nvPr/>
        </p:nvSpPr>
        <p:spPr>
          <a:xfrm>
            <a:off x="540000" y="910800"/>
            <a:ext cx="11088000" cy="360"/>
          </a:xfrm>
          <a:prstGeom prst="line">
            <a:avLst/>
          </a:prstGeom>
          <a:ln w="54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7" name="Rectangle 6"/>
          <p:cNvSpPr/>
          <p:nvPr/>
        </p:nvSpPr>
        <p:spPr>
          <a:xfrm>
            <a:off x="0" y="0"/>
            <a:ext cx="9360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568" name="Rectangle 7"/>
          <p:cNvSpPr/>
          <p:nvPr/>
        </p:nvSpPr>
        <p:spPr>
          <a:xfrm>
            <a:off x="576000" y="1080000"/>
            <a:ext cx="2448000" cy="756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569" name="Rectangle 8"/>
          <p:cNvSpPr/>
          <p:nvPr/>
        </p:nvSpPr>
        <p:spPr>
          <a:xfrm>
            <a:off x="576000" y="1080000"/>
            <a:ext cx="28800" cy="75600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570" name="TextShape 9"/>
          <p:cNvSpPr txBox="1"/>
          <p:nvPr/>
        </p:nvSpPr>
        <p:spPr>
          <a:xfrm>
            <a:off x="727200" y="1180800"/>
            <a:ext cx="2196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1000" spc="-1" strike="noStrike">
                <a:solidFill>
                  <a:srgbClr val="5c6b82"/>
                </a:solidFill>
                <a:latin typeface="Noto Sans CJK JP"/>
              </a:rPr>
              <a:t>遮蔽なし </a:t>
            </a:r>
            <a:r>
              <a:rPr b="1" lang="en-US" sz="1000" spc="-1" strike="noStrike">
                <a:solidFill>
                  <a:srgbClr val="5c6b82"/>
                </a:solidFill>
                <a:latin typeface="Noto Sans CJK JP"/>
              </a:rPr>
              <a:t>correct ID</a:t>
            </a:r>
            <a:endParaRPr b="1" lang="en-US" sz="10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571" name="TextShape 10"/>
          <p:cNvSpPr txBox="1"/>
          <p:nvPr/>
        </p:nvSpPr>
        <p:spPr>
          <a:xfrm>
            <a:off x="727200" y="1353600"/>
            <a:ext cx="2196000" cy="44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2400" spc="-1" strike="noStrike">
                <a:solidFill>
                  <a:srgbClr val="059669"/>
                </a:solidFill>
                <a:latin typeface="Noto Sans CJK JP"/>
              </a:rPr>
              <a:t>42 / 42</a:t>
            </a:r>
            <a:endParaRPr b="1" lang="en-US" sz="24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572" name="TextShape 11"/>
          <p:cNvSpPr txBox="1"/>
          <p:nvPr/>
        </p:nvSpPr>
        <p:spPr>
          <a:xfrm>
            <a:off x="727200" y="1648800"/>
            <a:ext cx="2196000" cy="155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850" spc="-1" strike="noStrike">
                <a:solidFill>
                  <a:srgbClr val="94a3b8"/>
                </a:solidFill>
                <a:latin typeface="Noto Sans CJK JP"/>
              </a:rPr>
              <a:t>recall = 100%</a:t>
            </a:r>
            <a:endParaRPr b="0" lang="en-US" sz="850" spc="-1" strike="noStrike">
              <a:solidFill>
                <a:srgbClr val="94a3b8"/>
              </a:solidFill>
              <a:latin typeface="Noto Sans CJK JP"/>
              <a:ea typeface="Noto Sans CJK JP"/>
            </a:endParaRPr>
          </a:p>
        </p:txBody>
      </p:sp>
      <p:sp>
        <p:nvSpPr>
          <p:cNvPr id="573" name="Rectangle 12"/>
          <p:cNvSpPr/>
          <p:nvPr/>
        </p:nvSpPr>
        <p:spPr>
          <a:xfrm>
            <a:off x="3240000" y="1080000"/>
            <a:ext cx="2448000" cy="756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574" name="Rectangle 13"/>
          <p:cNvSpPr/>
          <p:nvPr/>
        </p:nvSpPr>
        <p:spPr>
          <a:xfrm>
            <a:off x="3240000" y="1080000"/>
            <a:ext cx="28800" cy="75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575" name="TextShape 14"/>
          <p:cNvSpPr txBox="1"/>
          <p:nvPr/>
        </p:nvSpPr>
        <p:spPr>
          <a:xfrm>
            <a:off x="3391200" y="1180800"/>
            <a:ext cx="2196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000" spc="-1" strike="noStrike">
                <a:solidFill>
                  <a:srgbClr val="5c6b82"/>
                </a:solidFill>
                <a:latin typeface="Noto Sans CJK JP"/>
              </a:rPr>
              <a:t>false positive</a:t>
            </a:r>
            <a:endParaRPr b="1" lang="en-US" sz="10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576" name="TextShape 15"/>
          <p:cNvSpPr txBox="1"/>
          <p:nvPr/>
        </p:nvSpPr>
        <p:spPr>
          <a:xfrm>
            <a:off x="3391200" y="1353600"/>
            <a:ext cx="2196000" cy="44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2400" spc="-1" strike="noStrike">
                <a:solidFill>
                  <a:srgbClr val="2563eb"/>
                </a:solidFill>
                <a:latin typeface="Noto Sans CJK JP"/>
              </a:rPr>
              <a:t>0</a:t>
            </a:r>
            <a:endParaRPr b="1" lang="en-US" sz="24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577" name="TextShape 16"/>
          <p:cNvSpPr txBox="1"/>
          <p:nvPr/>
        </p:nvSpPr>
        <p:spPr>
          <a:xfrm>
            <a:off x="3391200" y="1648800"/>
            <a:ext cx="2196000" cy="155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zh-CN" sz="850" spc="-1" strike="noStrike">
                <a:solidFill>
                  <a:srgbClr val="94a3b8"/>
                </a:solidFill>
                <a:latin typeface="Noto Sans CJK JP"/>
              </a:rPr>
              <a:t>全</a:t>
            </a:r>
            <a:r>
              <a:rPr b="0" lang="en-US" sz="850" spc="-1" strike="noStrike">
                <a:solidFill>
                  <a:srgbClr val="94a3b8"/>
                </a:solidFill>
                <a:latin typeface="Noto Sans CJK JP"/>
              </a:rPr>
              <a:t>6</a:t>
            </a:r>
            <a:r>
              <a:rPr b="0" lang="zh-CN" sz="850" spc="-1" strike="noStrike">
                <a:solidFill>
                  <a:srgbClr val="94a3b8"/>
                </a:solidFill>
                <a:latin typeface="Noto Sans CJK JP"/>
              </a:rPr>
              <a:t>条件</a:t>
            </a:r>
            <a:endParaRPr b="0" lang="en-US" sz="850" spc="-1" strike="noStrike">
              <a:solidFill>
                <a:srgbClr val="94a3b8"/>
              </a:solidFill>
              <a:latin typeface="Noto Sans CJK JP"/>
              <a:ea typeface="Noto Sans CJK JP"/>
            </a:endParaRPr>
          </a:p>
        </p:txBody>
      </p:sp>
      <p:sp>
        <p:nvSpPr>
          <p:cNvPr id="578" name="Rectangle 17"/>
          <p:cNvSpPr/>
          <p:nvPr/>
        </p:nvSpPr>
        <p:spPr>
          <a:xfrm>
            <a:off x="5904000" y="1080000"/>
            <a:ext cx="2448000" cy="756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579" name="Rectangle 18"/>
          <p:cNvSpPr/>
          <p:nvPr/>
        </p:nvSpPr>
        <p:spPr>
          <a:xfrm>
            <a:off x="5904000" y="1080000"/>
            <a:ext cx="28800" cy="7560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580" name="TextShape 19"/>
          <p:cNvSpPr txBox="1"/>
          <p:nvPr/>
        </p:nvSpPr>
        <p:spPr>
          <a:xfrm>
            <a:off x="6055200" y="1180800"/>
            <a:ext cx="2196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000" spc="-1" strike="noStrike">
                <a:solidFill>
                  <a:srgbClr val="5c6b82"/>
                </a:solidFill>
                <a:latin typeface="Noto Sans CJK JP"/>
              </a:rPr>
              <a:t>multi_tag</a:t>
            </a:r>
            <a:endParaRPr b="1" lang="en-US" sz="10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581" name="TextShape 20"/>
          <p:cNvSpPr txBox="1"/>
          <p:nvPr/>
        </p:nvSpPr>
        <p:spPr>
          <a:xfrm>
            <a:off x="6055200" y="1353600"/>
            <a:ext cx="2196000" cy="44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2400" spc="-1" strike="noStrike">
                <a:solidFill>
                  <a:srgbClr val="7c3aed"/>
                </a:solidFill>
                <a:latin typeface="Noto Sans CJK JP"/>
              </a:rPr>
              <a:t>30 / 30</a:t>
            </a:r>
            <a:endParaRPr b="1" lang="en-US" sz="2400" spc="-1" strike="noStrike">
              <a:solidFill>
                <a:srgbClr val="7c3aed"/>
              </a:solidFill>
              <a:latin typeface="Noto Sans CJK JP"/>
              <a:ea typeface="Noto Sans CJK JP"/>
            </a:endParaRPr>
          </a:p>
        </p:txBody>
      </p:sp>
      <p:sp>
        <p:nvSpPr>
          <p:cNvPr id="582" name="TextShape 21"/>
          <p:cNvSpPr txBox="1"/>
          <p:nvPr/>
        </p:nvSpPr>
        <p:spPr>
          <a:xfrm>
            <a:off x="6055200" y="1648800"/>
            <a:ext cx="2196000" cy="155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850" spc="-1" strike="noStrike">
                <a:solidFill>
                  <a:srgbClr val="94a3b8"/>
                </a:solidFill>
                <a:latin typeface="Noto Sans CJK JP"/>
              </a:rPr>
              <a:t>10 frames × 3 tags</a:t>
            </a:r>
            <a:endParaRPr b="0" lang="en-US" sz="850" spc="-1" strike="noStrike">
              <a:solidFill>
                <a:srgbClr val="94a3b8"/>
              </a:solidFill>
              <a:latin typeface="Noto Sans CJK JP"/>
              <a:ea typeface="Noto Sans CJK JP"/>
            </a:endParaRPr>
          </a:p>
        </p:txBody>
      </p:sp>
      <p:sp>
        <p:nvSpPr>
          <p:cNvPr id="583" name="Rectangle 22"/>
          <p:cNvSpPr/>
          <p:nvPr/>
        </p:nvSpPr>
        <p:spPr>
          <a:xfrm>
            <a:off x="8568000" y="1080000"/>
            <a:ext cx="2988000" cy="756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584" name="Rectangle 23"/>
          <p:cNvSpPr/>
          <p:nvPr/>
        </p:nvSpPr>
        <p:spPr>
          <a:xfrm>
            <a:off x="8568000" y="1080000"/>
            <a:ext cx="28800" cy="756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585" name="TextShape 24"/>
          <p:cNvSpPr txBox="1"/>
          <p:nvPr/>
        </p:nvSpPr>
        <p:spPr>
          <a:xfrm>
            <a:off x="8719200" y="1180800"/>
            <a:ext cx="2736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000" spc="-1" strike="noStrike">
                <a:solidFill>
                  <a:srgbClr val="5c6b82"/>
                </a:solidFill>
                <a:latin typeface="Noto Sans CJK JP"/>
              </a:rPr>
              <a:t>determinism</a:t>
            </a:r>
            <a:endParaRPr b="1" lang="en-US" sz="10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586" name="TextShape 25"/>
          <p:cNvSpPr txBox="1"/>
          <p:nvPr/>
        </p:nvSpPr>
        <p:spPr>
          <a:xfrm>
            <a:off x="8719200" y="1353600"/>
            <a:ext cx="2736000" cy="44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2400" spc="-1" strike="noStrike">
                <a:solidFill>
                  <a:srgbClr val="d97706"/>
                </a:solidFill>
                <a:latin typeface="Noto Sans CJK JP"/>
              </a:rPr>
              <a:t>byte-identical</a:t>
            </a:r>
            <a:endParaRPr b="1" lang="en-US" sz="2400" spc="-1" strike="noStrike">
              <a:solidFill>
                <a:srgbClr val="d97706"/>
              </a:solidFill>
              <a:latin typeface="Noto Sans CJK JP"/>
              <a:ea typeface="Noto Sans CJK JP"/>
            </a:endParaRPr>
          </a:p>
        </p:txBody>
      </p:sp>
      <p:sp>
        <p:nvSpPr>
          <p:cNvPr id="587" name="TextShape 26"/>
          <p:cNvSpPr txBox="1"/>
          <p:nvPr/>
        </p:nvSpPr>
        <p:spPr>
          <a:xfrm>
            <a:off x="8719200" y="1648800"/>
            <a:ext cx="2736000" cy="155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850" spc="-1" strike="noStrike">
                <a:solidFill>
                  <a:srgbClr val="94a3b8"/>
                </a:solidFill>
                <a:latin typeface="Noto Sans CJK JP"/>
              </a:rPr>
              <a:t>54 files  |  SHA 084e0be01d…</a:t>
            </a:r>
            <a:endParaRPr b="0" lang="en-US" sz="850" spc="-1" strike="noStrike">
              <a:solidFill>
                <a:srgbClr val="94a3b8"/>
              </a:solidFill>
              <a:latin typeface="Noto Sans CJK JP"/>
              <a:ea typeface="Noto Sans CJK JP"/>
            </a:endParaRPr>
          </a:p>
        </p:txBody>
      </p:sp>
      <p:sp>
        <p:nvSpPr>
          <p:cNvPr id="588" name="Rectangle 27"/>
          <p:cNvSpPr/>
          <p:nvPr/>
        </p:nvSpPr>
        <p:spPr>
          <a:xfrm>
            <a:off x="612000" y="2160000"/>
            <a:ext cx="1476000" cy="486000"/>
          </a:xfrm>
          <a:prstGeom prst="rect">
            <a:avLst/>
          </a:prstGeom>
          <a:solidFill>
            <a:srgbClr val="0b132b"/>
          </a:solidFill>
          <a:ln w="3600">
            <a:solidFill>
              <a:srgbClr val="ffffff"/>
            </a:solidFill>
            <a:round/>
          </a:ln>
        </p:spPr>
      </p:sp>
      <p:sp>
        <p:nvSpPr>
          <p:cNvPr id="589" name="TextShape 28"/>
          <p:cNvSpPr txBox="1"/>
          <p:nvPr/>
        </p:nvSpPr>
        <p:spPr>
          <a:xfrm>
            <a:off x="648000" y="2301840"/>
            <a:ext cx="14040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850" spc="-1" strike="noStrike">
                <a:solidFill>
                  <a:srgbClr val="ffffff"/>
                </a:solidFill>
                <a:latin typeface="Noto Sans CJK JP"/>
              </a:rPr>
              <a:t>condition</a:t>
            </a:r>
            <a:endParaRPr b="1" lang="en-US" sz="85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590" name="Rectangle 29"/>
          <p:cNvSpPr/>
          <p:nvPr/>
        </p:nvSpPr>
        <p:spPr>
          <a:xfrm>
            <a:off x="2088000" y="2160000"/>
            <a:ext cx="756000" cy="486000"/>
          </a:xfrm>
          <a:prstGeom prst="rect">
            <a:avLst/>
          </a:prstGeom>
          <a:solidFill>
            <a:srgbClr val="0b132b"/>
          </a:solidFill>
          <a:ln w="3600">
            <a:solidFill>
              <a:srgbClr val="ffffff"/>
            </a:solidFill>
            <a:round/>
          </a:ln>
        </p:spPr>
      </p:sp>
      <p:sp>
        <p:nvSpPr>
          <p:cNvPr id="591" name="TextShape 30"/>
          <p:cNvSpPr txBox="1"/>
          <p:nvPr/>
        </p:nvSpPr>
        <p:spPr>
          <a:xfrm>
            <a:off x="2124000" y="2301840"/>
            <a:ext cx="6840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850" spc="-1" strike="noStrike">
                <a:solidFill>
                  <a:srgbClr val="ffffff"/>
                </a:solidFill>
                <a:latin typeface="Noto Sans CJK JP"/>
              </a:rPr>
              <a:t>GT</a:t>
            </a:r>
            <a:endParaRPr b="1" lang="en-US" sz="85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592" name="Rectangle 31"/>
          <p:cNvSpPr/>
          <p:nvPr/>
        </p:nvSpPr>
        <p:spPr>
          <a:xfrm>
            <a:off x="2844000" y="2160000"/>
            <a:ext cx="972000" cy="486000"/>
          </a:xfrm>
          <a:prstGeom prst="rect">
            <a:avLst/>
          </a:prstGeom>
          <a:solidFill>
            <a:srgbClr val="0b132b"/>
          </a:solidFill>
          <a:ln w="3600">
            <a:solidFill>
              <a:srgbClr val="ffffff"/>
            </a:solidFill>
            <a:round/>
          </a:ln>
        </p:spPr>
      </p:sp>
      <p:sp>
        <p:nvSpPr>
          <p:cNvPr id="593" name="TextShape 32"/>
          <p:cNvSpPr txBox="1"/>
          <p:nvPr/>
        </p:nvSpPr>
        <p:spPr>
          <a:xfrm>
            <a:off x="2880000" y="2301840"/>
            <a:ext cx="9000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850" spc="-1" strike="noStrike">
                <a:solidFill>
                  <a:srgbClr val="ffffff"/>
                </a:solidFill>
                <a:latin typeface="Noto Sans CJK JP"/>
              </a:rPr>
              <a:t>recall</a:t>
            </a:r>
            <a:endParaRPr b="1" lang="en-US" sz="85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594" name="Rectangle 33"/>
          <p:cNvSpPr/>
          <p:nvPr/>
        </p:nvSpPr>
        <p:spPr>
          <a:xfrm>
            <a:off x="3816000" y="2160000"/>
            <a:ext cx="864000" cy="486000"/>
          </a:xfrm>
          <a:prstGeom prst="rect">
            <a:avLst/>
          </a:prstGeom>
          <a:solidFill>
            <a:srgbClr val="0b132b"/>
          </a:solidFill>
          <a:ln w="3600">
            <a:solidFill>
              <a:srgbClr val="ffffff"/>
            </a:solidFill>
            <a:round/>
          </a:ln>
        </p:spPr>
      </p:sp>
      <p:sp>
        <p:nvSpPr>
          <p:cNvPr id="595" name="TextShape 34"/>
          <p:cNvSpPr txBox="1"/>
          <p:nvPr/>
        </p:nvSpPr>
        <p:spPr>
          <a:xfrm>
            <a:off x="3852000" y="2301840"/>
            <a:ext cx="7920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850" spc="-1" strike="noStrike">
                <a:solidFill>
                  <a:srgbClr val="ffffff"/>
                </a:solidFill>
                <a:latin typeface="Noto Sans CJK JP"/>
              </a:rPr>
              <a:t>ID</a:t>
            </a:r>
            <a:endParaRPr b="1" lang="en-US" sz="85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596" name="Rectangle 35"/>
          <p:cNvSpPr/>
          <p:nvPr/>
        </p:nvSpPr>
        <p:spPr>
          <a:xfrm>
            <a:off x="4680000" y="2160000"/>
            <a:ext cx="1260000" cy="486000"/>
          </a:xfrm>
          <a:prstGeom prst="rect">
            <a:avLst/>
          </a:prstGeom>
          <a:solidFill>
            <a:srgbClr val="0b132b"/>
          </a:solidFill>
          <a:ln w="3600">
            <a:solidFill>
              <a:srgbClr val="ffffff"/>
            </a:solidFill>
            <a:round/>
          </a:ln>
        </p:spPr>
      </p:sp>
      <p:sp>
        <p:nvSpPr>
          <p:cNvPr id="597" name="TextShape 36"/>
          <p:cNvSpPr txBox="1"/>
          <p:nvPr/>
        </p:nvSpPr>
        <p:spPr>
          <a:xfrm>
            <a:off x="4716000" y="2301840"/>
            <a:ext cx="1188000" cy="31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850" spc="-1" strike="noStrike">
                <a:solidFill>
                  <a:srgbClr val="ffffff"/>
                </a:solidFill>
                <a:latin typeface="Noto Sans CJK JP"/>
              </a:rPr>
              <a:t>corner RMSE</a:t>
            </a:r>
            <a:endParaRPr b="1" lang="en-US" sz="85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  <a:p>
            <a:pPr algn="ctr"/>
            <a:r>
              <a:rPr b="1" lang="en-US" sz="850" spc="-1" strike="noStrike">
                <a:solidFill>
                  <a:srgbClr val="ffffff"/>
                </a:solidFill>
                <a:latin typeface="Noto Sans CJK JP"/>
              </a:rPr>
              <a:t>mean px</a:t>
            </a:r>
            <a:endParaRPr b="1" lang="en-US" sz="85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598" name="Rectangle 37"/>
          <p:cNvSpPr/>
          <p:nvPr/>
        </p:nvSpPr>
        <p:spPr>
          <a:xfrm>
            <a:off x="5940000" y="2160000"/>
            <a:ext cx="1260000" cy="486000"/>
          </a:xfrm>
          <a:prstGeom prst="rect">
            <a:avLst/>
          </a:prstGeom>
          <a:solidFill>
            <a:srgbClr val="0b132b"/>
          </a:solidFill>
          <a:ln w="3600">
            <a:solidFill>
              <a:srgbClr val="ffffff"/>
            </a:solidFill>
            <a:round/>
          </a:ln>
        </p:spPr>
      </p:sp>
      <p:sp>
        <p:nvSpPr>
          <p:cNvPr id="599" name="TextShape 38"/>
          <p:cNvSpPr txBox="1"/>
          <p:nvPr/>
        </p:nvSpPr>
        <p:spPr>
          <a:xfrm>
            <a:off x="5976000" y="2301840"/>
            <a:ext cx="1188000" cy="31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850" spc="-1" strike="noStrike">
                <a:solidFill>
                  <a:srgbClr val="ffffff"/>
                </a:solidFill>
                <a:latin typeface="Noto Sans CJK JP"/>
              </a:rPr>
              <a:t>nearest t</a:t>
            </a:r>
            <a:endParaRPr b="1" lang="en-US" sz="85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  <a:p>
            <a:pPr algn="ctr"/>
            <a:r>
              <a:rPr b="1" lang="en-US" sz="850" spc="-1" strike="noStrike">
                <a:solidFill>
                  <a:srgbClr val="ffffff"/>
                </a:solidFill>
                <a:latin typeface="Noto Sans CJK JP"/>
              </a:rPr>
              <a:t>mean mm</a:t>
            </a:r>
            <a:endParaRPr b="1" lang="en-US" sz="85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600" name="Rectangle 39"/>
          <p:cNvSpPr/>
          <p:nvPr/>
        </p:nvSpPr>
        <p:spPr>
          <a:xfrm>
            <a:off x="7200000" y="2160000"/>
            <a:ext cx="1260000" cy="486000"/>
          </a:xfrm>
          <a:prstGeom prst="rect">
            <a:avLst/>
          </a:prstGeom>
          <a:solidFill>
            <a:srgbClr val="0b132b"/>
          </a:solidFill>
          <a:ln w="3600">
            <a:solidFill>
              <a:srgbClr val="ffffff"/>
            </a:solidFill>
            <a:round/>
          </a:ln>
        </p:spPr>
      </p:sp>
      <p:sp>
        <p:nvSpPr>
          <p:cNvPr id="601" name="TextShape 40"/>
          <p:cNvSpPr txBox="1"/>
          <p:nvPr/>
        </p:nvSpPr>
        <p:spPr>
          <a:xfrm>
            <a:off x="7236000" y="2301840"/>
            <a:ext cx="1188000" cy="31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850" spc="-1" strike="noStrike">
                <a:solidFill>
                  <a:srgbClr val="ffffff"/>
                </a:solidFill>
                <a:latin typeface="Noto Sans CJK JP"/>
              </a:rPr>
              <a:t>nearest R</a:t>
            </a:r>
            <a:endParaRPr b="1" lang="en-US" sz="85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  <a:p>
            <a:pPr algn="ctr"/>
            <a:r>
              <a:rPr b="1" lang="en-US" sz="850" spc="-1" strike="noStrike">
                <a:solidFill>
                  <a:srgbClr val="ffffff"/>
                </a:solidFill>
                <a:latin typeface="Noto Sans CJK JP"/>
              </a:rPr>
              <a:t>mean deg</a:t>
            </a:r>
            <a:endParaRPr b="1" lang="en-US" sz="85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602" name="Rectangle 41"/>
          <p:cNvSpPr/>
          <p:nvPr/>
        </p:nvSpPr>
        <p:spPr>
          <a:xfrm>
            <a:off x="8460000" y="2160000"/>
            <a:ext cx="1116000" cy="486000"/>
          </a:xfrm>
          <a:prstGeom prst="rect">
            <a:avLst/>
          </a:prstGeom>
          <a:solidFill>
            <a:srgbClr val="0b132b"/>
          </a:solidFill>
          <a:ln w="3600">
            <a:solidFill>
              <a:srgbClr val="ffffff"/>
            </a:solidFill>
            <a:round/>
          </a:ln>
        </p:spPr>
      </p:sp>
      <p:sp>
        <p:nvSpPr>
          <p:cNvPr id="603" name="TextShape 42"/>
          <p:cNvSpPr txBox="1"/>
          <p:nvPr/>
        </p:nvSpPr>
        <p:spPr>
          <a:xfrm>
            <a:off x="8496000" y="2301840"/>
            <a:ext cx="1044000" cy="31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850" spc="-1" strike="noStrike">
                <a:solidFill>
                  <a:srgbClr val="ffffff"/>
                </a:solidFill>
                <a:latin typeface="Noto Sans CJK JP"/>
              </a:rPr>
              <a:t>near /</a:t>
            </a:r>
            <a:endParaRPr b="1" lang="en-US" sz="85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  <a:p>
            <a:pPr algn="ctr"/>
            <a:r>
              <a:rPr b="1" lang="en-US" sz="850" spc="-1" strike="noStrike">
                <a:solidFill>
                  <a:srgbClr val="ffffff"/>
                </a:solidFill>
                <a:latin typeface="Noto Sans CJK JP"/>
              </a:rPr>
              <a:t>2-seed</a:t>
            </a:r>
            <a:endParaRPr b="1" lang="en-US" sz="85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604" name="Rectangle 43"/>
          <p:cNvSpPr/>
          <p:nvPr/>
        </p:nvSpPr>
        <p:spPr>
          <a:xfrm>
            <a:off x="9576000" y="2160000"/>
            <a:ext cx="1188000" cy="486000"/>
          </a:xfrm>
          <a:prstGeom prst="rect">
            <a:avLst/>
          </a:prstGeom>
          <a:solidFill>
            <a:srgbClr val="0b132b"/>
          </a:solidFill>
          <a:ln w="3600">
            <a:solidFill>
              <a:srgbClr val="ffffff"/>
            </a:solidFill>
            <a:round/>
          </a:ln>
        </p:spPr>
      </p:sp>
      <p:sp>
        <p:nvSpPr>
          <p:cNvPr id="605" name="TextShape 44"/>
          <p:cNvSpPr txBox="1"/>
          <p:nvPr/>
        </p:nvSpPr>
        <p:spPr>
          <a:xfrm>
            <a:off x="9612000" y="2301840"/>
            <a:ext cx="1116000" cy="31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850" spc="-1" strike="noStrike">
                <a:solidFill>
                  <a:srgbClr val="ffffff"/>
                </a:solidFill>
                <a:latin typeface="Noto Sans CJK JP"/>
              </a:rPr>
              <a:t>gap</a:t>
            </a:r>
            <a:endParaRPr b="1" lang="en-US" sz="85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  <a:p>
            <a:pPr algn="ctr"/>
            <a:r>
              <a:rPr b="1" lang="en-US" sz="850" spc="-1" strike="noStrike">
                <a:solidFill>
                  <a:srgbClr val="ffffff"/>
                </a:solidFill>
                <a:latin typeface="Noto Sans CJK JP"/>
              </a:rPr>
              <a:t>mean px</a:t>
            </a:r>
            <a:endParaRPr b="1" lang="en-US" sz="85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606" name="Rectangle 45"/>
          <p:cNvSpPr/>
          <p:nvPr/>
        </p:nvSpPr>
        <p:spPr>
          <a:xfrm>
            <a:off x="612000" y="2646000"/>
            <a:ext cx="1476000" cy="486000"/>
          </a:xfrm>
          <a:prstGeom prst="rect">
            <a:avLst/>
          </a:prstGeom>
          <a:solidFill>
            <a:srgbClr val="ffffff"/>
          </a:solidFill>
          <a:ln w="3600">
            <a:solidFill>
              <a:srgbClr val="d9e1ec"/>
            </a:solidFill>
            <a:round/>
          </a:ln>
        </p:spPr>
      </p:sp>
      <p:sp>
        <p:nvSpPr>
          <p:cNvPr id="607" name="TextShape 46"/>
          <p:cNvSpPr txBox="1"/>
          <p:nvPr/>
        </p:nvSpPr>
        <p:spPr>
          <a:xfrm>
            <a:off x="640800" y="2816640"/>
            <a:ext cx="1418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880" spc="-1" strike="noStrike">
                <a:solidFill>
                  <a:srgbClr val="152238"/>
                </a:solidFill>
                <a:latin typeface="Noto Sans CJK JP"/>
              </a:rPr>
              <a:t>frontal</a:t>
            </a:r>
            <a:endParaRPr b="1" lang="en-US" sz="88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608" name="Rectangle 47"/>
          <p:cNvSpPr/>
          <p:nvPr/>
        </p:nvSpPr>
        <p:spPr>
          <a:xfrm>
            <a:off x="2088000" y="2646000"/>
            <a:ext cx="756000" cy="486000"/>
          </a:xfrm>
          <a:prstGeom prst="rect">
            <a:avLst/>
          </a:prstGeom>
          <a:solidFill>
            <a:srgbClr val="ffffff"/>
          </a:solidFill>
          <a:ln w="3600">
            <a:solidFill>
              <a:srgbClr val="d9e1ec"/>
            </a:solidFill>
            <a:round/>
          </a:ln>
        </p:spPr>
      </p:sp>
      <p:sp>
        <p:nvSpPr>
          <p:cNvPr id="609" name="TextShape 48"/>
          <p:cNvSpPr txBox="1"/>
          <p:nvPr/>
        </p:nvSpPr>
        <p:spPr>
          <a:xfrm>
            <a:off x="2116800" y="2816640"/>
            <a:ext cx="698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5c6b82"/>
                </a:solidFill>
                <a:latin typeface="Noto Sans CJK JP"/>
              </a:rPr>
              <a:t>3</a:t>
            </a:r>
            <a:endParaRPr b="0" lang="en-US" sz="88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10" name="Rectangle 49"/>
          <p:cNvSpPr/>
          <p:nvPr/>
        </p:nvSpPr>
        <p:spPr>
          <a:xfrm>
            <a:off x="2844000" y="2646000"/>
            <a:ext cx="972000" cy="486000"/>
          </a:xfrm>
          <a:prstGeom prst="rect">
            <a:avLst/>
          </a:prstGeom>
          <a:solidFill>
            <a:srgbClr val="ffffff"/>
          </a:solidFill>
          <a:ln w="3600">
            <a:solidFill>
              <a:srgbClr val="d9e1ec"/>
            </a:solidFill>
            <a:round/>
          </a:ln>
        </p:spPr>
      </p:sp>
      <p:sp>
        <p:nvSpPr>
          <p:cNvPr id="611" name="TextShape 50"/>
          <p:cNvSpPr txBox="1"/>
          <p:nvPr/>
        </p:nvSpPr>
        <p:spPr>
          <a:xfrm>
            <a:off x="2872800" y="2816640"/>
            <a:ext cx="914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5c6b82"/>
                </a:solidFill>
                <a:latin typeface="Noto Sans CJK JP"/>
              </a:rPr>
              <a:t>100%</a:t>
            </a:r>
            <a:endParaRPr b="0" lang="en-US" sz="88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12" name="Rectangle 51"/>
          <p:cNvSpPr/>
          <p:nvPr/>
        </p:nvSpPr>
        <p:spPr>
          <a:xfrm>
            <a:off x="3816000" y="2646000"/>
            <a:ext cx="864000" cy="486000"/>
          </a:xfrm>
          <a:prstGeom prst="rect">
            <a:avLst/>
          </a:prstGeom>
          <a:solidFill>
            <a:srgbClr val="ffffff"/>
          </a:solidFill>
          <a:ln w="3600">
            <a:solidFill>
              <a:srgbClr val="d9e1ec"/>
            </a:solidFill>
            <a:round/>
          </a:ln>
        </p:spPr>
      </p:sp>
      <p:sp>
        <p:nvSpPr>
          <p:cNvPr id="613" name="TextShape 52"/>
          <p:cNvSpPr txBox="1"/>
          <p:nvPr/>
        </p:nvSpPr>
        <p:spPr>
          <a:xfrm>
            <a:off x="3844800" y="2816640"/>
            <a:ext cx="806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5c6b82"/>
                </a:solidFill>
                <a:latin typeface="Noto Sans CJK JP"/>
              </a:rPr>
              <a:t>100%</a:t>
            </a:r>
            <a:endParaRPr b="0" lang="en-US" sz="88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14" name="Rectangle 53"/>
          <p:cNvSpPr/>
          <p:nvPr/>
        </p:nvSpPr>
        <p:spPr>
          <a:xfrm>
            <a:off x="4680000" y="2646000"/>
            <a:ext cx="1260000" cy="486000"/>
          </a:xfrm>
          <a:prstGeom prst="rect">
            <a:avLst/>
          </a:prstGeom>
          <a:solidFill>
            <a:srgbClr val="ffffff"/>
          </a:solidFill>
          <a:ln w="3600">
            <a:solidFill>
              <a:srgbClr val="d9e1ec"/>
            </a:solidFill>
            <a:round/>
          </a:ln>
        </p:spPr>
      </p:sp>
      <p:sp>
        <p:nvSpPr>
          <p:cNvPr id="615" name="TextShape 54"/>
          <p:cNvSpPr txBox="1"/>
          <p:nvPr/>
        </p:nvSpPr>
        <p:spPr>
          <a:xfrm>
            <a:off x="4708800" y="2816640"/>
            <a:ext cx="1202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5c6b82"/>
                </a:solidFill>
                <a:latin typeface="Noto Sans CJK JP"/>
              </a:rPr>
              <a:t>0.715</a:t>
            </a:r>
            <a:endParaRPr b="0" lang="en-US" sz="88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16" name="Rectangle 55"/>
          <p:cNvSpPr/>
          <p:nvPr/>
        </p:nvSpPr>
        <p:spPr>
          <a:xfrm>
            <a:off x="5940000" y="2646000"/>
            <a:ext cx="1260000" cy="486000"/>
          </a:xfrm>
          <a:prstGeom prst="rect">
            <a:avLst/>
          </a:prstGeom>
          <a:solidFill>
            <a:srgbClr val="ffffff"/>
          </a:solidFill>
          <a:ln w="3600">
            <a:solidFill>
              <a:srgbClr val="d9e1ec"/>
            </a:solidFill>
            <a:round/>
          </a:ln>
        </p:spPr>
      </p:sp>
      <p:sp>
        <p:nvSpPr>
          <p:cNvPr id="617" name="TextShape 56"/>
          <p:cNvSpPr txBox="1"/>
          <p:nvPr/>
        </p:nvSpPr>
        <p:spPr>
          <a:xfrm>
            <a:off x="5968800" y="2816640"/>
            <a:ext cx="1202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5c6b82"/>
                </a:solidFill>
                <a:latin typeface="Noto Sans CJK JP"/>
              </a:rPr>
              <a:t>2.6</a:t>
            </a:r>
            <a:endParaRPr b="0" lang="en-US" sz="88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18" name="Rectangle 57"/>
          <p:cNvSpPr/>
          <p:nvPr/>
        </p:nvSpPr>
        <p:spPr>
          <a:xfrm>
            <a:off x="7200000" y="2646000"/>
            <a:ext cx="1260000" cy="486000"/>
          </a:xfrm>
          <a:prstGeom prst="rect">
            <a:avLst/>
          </a:prstGeom>
          <a:solidFill>
            <a:srgbClr val="ffffff"/>
          </a:solidFill>
          <a:ln w="3600">
            <a:solidFill>
              <a:srgbClr val="d9e1ec"/>
            </a:solidFill>
            <a:round/>
          </a:ln>
        </p:spPr>
      </p:sp>
      <p:sp>
        <p:nvSpPr>
          <p:cNvPr id="619" name="TextShape 58"/>
          <p:cNvSpPr txBox="1"/>
          <p:nvPr/>
        </p:nvSpPr>
        <p:spPr>
          <a:xfrm>
            <a:off x="7228800" y="2816640"/>
            <a:ext cx="1202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5c6b82"/>
                </a:solidFill>
                <a:latin typeface="Noto Sans CJK JP"/>
              </a:rPr>
              <a:t>0.706</a:t>
            </a:r>
            <a:endParaRPr b="0" lang="en-US" sz="88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20" name="Rectangle 59"/>
          <p:cNvSpPr/>
          <p:nvPr/>
        </p:nvSpPr>
        <p:spPr>
          <a:xfrm>
            <a:off x="8460000" y="2646000"/>
            <a:ext cx="1116000" cy="486000"/>
          </a:xfrm>
          <a:prstGeom prst="rect">
            <a:avLst/>
          </a:prstGeom>
          <a:solidFill>
            <a:srgbClr val="ffffff"/>
          </a:solidFill>
          <a:ln w="3600">
            <a:solidFill>
              <a:srgbClr val="d9e1ec"/>
            </a:solidFill>
            <a:round/>
          </a:ln>
        </p:spPr>
      </p:sp>
      <p:sp>
        <p:nvSpPr>
          <p:cNvPr id="621" name="TextShape 60"/>
          <p:cNvSpPr txBox="1"/>
          <p:nvPr/>
        </p:nvSpPr>
        <p:spPr>
          <a:xfrm>
            <a:off x="8488800" y="2816640"/>
            <a:ext cx="1058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5c6b82"/>
                </a:solidFill>
                <a:latin typeface="Noto Sans CJK JP"/>
              </a:rPr>
              <a:t>3 / 3</a:t>
            </a:r>
            <a:endParaRPr b="0" lang="en-US" sz="88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22" name="Rectangle 61"/>
          <p:cNvSpPr/>
          <p:nvPr/>
        </p:nvSpPr>
        <p:spPr>
          <a:xfrm>
            <a:off x="9576000" y="2646000"/>
            <a:ext cx="1188000" cy="486000"/>
          </a:xfrm>
          <a:prstGeom prst="rect">
            <a:avLst/>
          </a:prstGeom>
          <a:solidFill>
            <a:srgbClr val="ffffff"/>
          </a:solidFill>
          <a:ln w="3600">
            <a:solidFill>
              <a:srgbClr val="d9e1ec"/>
            </a:solidFill>
            <a:round/>
          </a:ln>
        </p:spPr>
      </p:sp>
      <p:sp>
        <p:nvSpPr>
          <p:cNvPr id="623" name="TextShape 62"/>
          <p:cNvSpPr txBox="1"/>
          <p:nvPr/>
        </p:nvSpPr>
        <p:spPr>
          <a:xfrm>
            <a:off x="9604800" y="2816640"/>
            <a:ext cx="1130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5c6b82"/>
                </a:solidFill>
                <a:latin typeface="Noto Sans CJK JP"/>
              </a:rPr>
              <a:t>0.202</a:t>
            </a:r>
            <a:endParaRPr b="0" lang="en-US" sz="88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24" name="Rectangle 63"/>
          <p:cNvSpPr/>
          <p:nvPr/>
        </p:nvSpPr>
        <p:spPr>
          <a:xfrm>
            <a:off x="612000" y="3132000"/>
            <a:ext cx="1476000" cy="486000"/>
          </a:xfrm>
          <a:prstGeom prst="rect">
            <a:avLst/>
          </a:prstGeom>
          <a:solidFill>
            <a:srgbClr val="edf2f7"/>
          </a:solidFill>
          <a:ln w="3600">
            <a:solidFill>
              <a:srgbClr val="d9e1ec"/>
            </a:solidFill>
            <a:round/>
          </a:ln>
        </p:spPr>
      </p:sp>
      <p:sp>
        <p:nvSpPr>
          <p:cNvPr id="625" name="TextShape 64"/>
          <p:cNvSpPr txBox="1"/>
          <p:nvPr/>
        </p:nvSpPr>
        <p:spPr>
          <a:xfrm>
            <a:off x="640800" y="3302640"/>
            <a:ext cx="1418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880" spc="-1" strike="noStrike">
                <a:solidFill>
                  <a:srgbClr val="152238"/>
                </a:solidFill>
                <a:latin typeface="Noto Sans CJK JP"/>
              </a:rPr>
              <a:t>moderate</a:t>
            </a:r>
            <a:endParaRPr b="1" lang="en-US" sz="88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626" name="Rectangle 65"/>
          <p:cNvSpPr/>
          <p:nvPr/>
        </p:nvSpPr>
        <p:spPr>
          <a:xfrm>
            <a:off x="2088000" y="3132000"/>
            <a:ext cx="756000" cy="486000"/>
          </a:xfrm>
          <a:prstGeom prst="rect">
            <a:avLst/>
          </a:prstGeom>
          <a:solidFill>
            <a:srgbClr val="edf2f7"/>
          </a:solidFill>
          <a:ln w="3600">
            <a:solidFill>
              <a:srgbClr val="d9e1ec"/>
            </a:solidFill>
            <a:round/>
          </a:ln>
        </p:spPr>
      </p:sp>
      <p:sp>
        <p:nvSpPr>
          <p:cNvPr id="627" name="TextShape 66"/>
          <p:cNvSpPr txBox="1"/>
          <p:nvPr/>
        </p:nvSpPr>
        <p:spPr>
          <a:xfrm>
            <a:off x="2116800" y="3302640"/>
            <a:ext cx="698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5c6b82"/>
                </a:solidFill>
                <a:latin typeface="Noto Sans CJK JP"/>
              </a:rPr>
              <a:t>3</a:t>
            </a:r>
            <a:endParaRPr b="0" lang="en-US" sz="88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28" name="Rectangle 67"/>
          <p:cNvSpPr/>
          <p:nvPr/>
        </p:nvSpPr>
        <p:spPr>
          <a:xfrm>
            <a:off x="2844000" y="3132000"/>
            <a:ext cx="972000" cy="486000"/>
          </a:xfrm>
          <a:prstGeom prst="rect">
            <a:avLst/>
          </a:prstGeom>
          <a:solidFill>
            <a:srgbClr val="edf2f7"/>
          </a:solidFill>
          <a:ln w="3600">
            <a:solidFill>
              <a:srgbClr val="d9e1ec"/>
            </a:solidFill>
            <a:round/>
          </a:ln>
        </p:spPr>
      </p:sp>
      <p:sp>
        <p:nvSpPr>
          <p:cNvPr id="629" name="TextShape 68"/>
          <p:cNvSpPr txBox="1"/>
          <p:nvPr/>
        </p:nvSpPr>
        <p:spPr>
          <a:xfrm>
            <a:off x="2872800" y="3302640"/>
            <a:ext cx="914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5c6b82"/>
                </a:solidFill>
                <a:latin typeface="Noto Sans CJK JP"/>
              </a:rPr>
              <a:t>100%</a:t>
            </a:r>
            <a:endParaRPr b="0" lang="en-US" sz="88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30" name="Rectangle 69"/>
          <p:cNvSpPr/>
          <p:nvPr/>
        </p:nvSpPr>
        <p:spPr>
          <a:xfrm>
            <a:off x="3816000" y="3132000"/>
            <a:ext cx="864000" cy="486000"/>
          </a:xfrm>
          <a:prstGeom prst="rect">
            <a:avLst/>
          </a:prstGeom>
          <a:solidFill>
            <a:srgbClr val="edf2f7"/>
          </a:solidFill>
          <a:ln w="3600">
            <a:solidFill>
              <a:srgbClr val="d9e1ec"/>
            </a:solidFill>
            <a:round/>
          </a:ln>
        </p:spPr>
      </p:sp>
      <p:sp>
        <p:nvSpPr>
          <p:cNvPr id="631" name="TextShape 70"/>
          <p:cNvSpPr txBox="1"/>
          <p:nvPr/>
        </p:nvSpPr>
        <p:spPr>
          <a:xfrm>
            <a:off x="3844800" y="3302640"/>
            <a:ext cx="806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5c6b82"/>
                </a:solidFill>
                <a:latin typeface="Noto Sans CJK JP"/>
              </a:rPr>
              <a:t>100%</a:t>
            </a:r>
            <a:endParaRPr b="0" lang="en-US" sz="88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32" name="Rectangle 71"/>
          <p:cNvSpPr/>
          <p:nvPr/>
        </p:nvSpPr>
        <p:spPr>
          <a:xfrm>
            <a:off x="4680000" y="3132000"/>
            <a:ext cx="1260000" cy="486000"/>
          </a:xfrm>
          <a:prstGeom prst="rect">
            <a:avLst/>
          </a:prstGeom>
          <a:solidFill>
            <a:srgbClr val="edf2f7"/>
          </a:solidFill>
          <a:ln w="3600">
            <a:solidFill>
              <a:srgbClr val="d9e1ec"/>
            </a:solidFill>
            <a:round/>
          </a:ln>
        </p:spPr>
      </p:sp>
      <p:sp>
        <p:nvSpPr>
          <p:cNvPr id="633" name="TextShape 72"/>
          <p:cNvSpPr txBox="1"/>
          <p:nvPr/>
        </p:nvSpPr>
        <p:spPr>
          <a:xfrm>
            <a:off x="4708800" y="3302640"/>
            <a:ext cx="1202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5c6b82"/>
                </a:solidFill>
                <a:latin typeface="Noto Sans CJK JP"/>
              </a:rPr>
              <a:t>1.568</a:t>
            </a:r>
            <a:endParaRPr b="0" lang="en-US" sz="88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34" name="Rectangle 73"/>
          <p:cNvSpPr/>
          <p:nvPr/>
        </p:nvSpPr>
        <p:spPr>
          <a:xfrm>
            <a:off x="5940000" y="3132000"/>
            <a:ext cx="1260000" cy="486000"/>
          </a:xfrm>
          <a:prstGeom prst="rect">
            <a:avLst/>
          </a:prstGeom>
          <a:solidFill>
            <a:srgbClr val="edf2f7"/>
          </a:solidFill>
          <a:ln w="3600">
            <a:solidFill>
              <a:srgbClr val="d9e1ec"/>
            </a:solidFill>
            <a:round/>
          </a:ln>
        </p:spPr>
      </p:sp>
      <p:sp>
        <p:nvSpPr>
          <p:cNvPr id="635" name="TextShape 74"/>
          <p:cNvSpPr txBox="1"/>
          <p:nvPr/>
        </p:nvSpPr>
        <p:spPr>
          <a:xfrm>
            <a:off x="5968800" y="3302640"/>
            <a:ext cx="1202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5c6b82"/>
                </a:solidFill>
                <a:latin typeface="Noto Sans CJK JP"/>
              </a:rPr>
              <a:t>109.1</a:t>
            </a:r>
            <a:endParaRPr b="0" lang="en-US" sz="88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36" name="Rectangle 75"/>
          <p:cNvSpPr/>
          <p:nvPr/>
        </p:nvSpPr>
        <p:spPr>
          <a:xfrm>
            <a:off x="7200000" y="3132000"/>
            <a:ext cx="1260000" cy="486000"/>
          </a:xfrm>
          <a:prstGeom prst="rect">
            <a:avLst/>
          </a:prstGeom>
          <a:solidFill>
            <a:srgbClr val="edf2f7"/>
          </a:solidFill>
          <a:ln w="3600">
            <a:solidFill>
              <a:srgbClr val="d9e1ec"/>
            </a:solidFill>
            <a:round/>
          </a:ln>
        </p:spPr>
      </p:sp>
      <p:sp>
        <p:nvSpPr>
          <p:cNvPr id="637" name="TextShape 76"/>
          <p:cNvSpPr txBox="1"/>
          <p:nvPr/>
        </p:nvSpPr>
        <p:spPr>
          <a:xfrm>
            <a:off x="7228800" y="3302640"/>
            <a:ext cx="1202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5c6b82"/>
                </a:solidFill>
                <a:latin typeface="Noto Sans CJK JP"/>
              </a:rPr>
              <a:t>1.507</a:t>
            </a:r>
            <a:endParaRPr b="0" lang="en-US" sz="88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38" name="Rectangle 77"/>
          <p:cNvSpPr/>
          <p:nvPr/>
        </p:nvSpPr>
        <p:spPr>
          <a:xfrm>
            <a:off x="8460000" y="3132000"/>
            <a:ext cx="1116000" cy="486000"/>
          </a:xfrm>
          <a:prstGeom prst="rect">
            <a:avLst/>
          </a:prstGeom>
          <a:solidFill>
            <a:srgbClr val="edf2f7"/>
          </a:solidFill>
          <a:ln w="3600">
            <a:solidFill>
              <a:srgbClr val="d9e1ec"/>
            </a:solidFill>
            <a:round/>
          </a:ln>
        </p:spPr>
      </p:sp>
      <p:sp>
        <p:nvSpPr>
          <p:cNvPr id="639" name="TextShape 78"/>
          <p:cNvSpPr txBox="1"/>
          <p:nvPr/>
        </p:nvSpPr>
        <p:spPr>
          <a:xfrm>
            <a:off x="8488800" y="3302640"/>
            <a:ext cx="1058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5c6b82"/>
                </a:solidFill>
                <a:latin typeface="Noto Sans CJK JP"/>
              </a:rPr>
              <a:t>0 / 3</a:t>
            </a:r>
            <a:endParaRPr b="0" lang="en-US" sz="88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40" name="Rectangle 79"/>
          <p:cNvSpPr/>
          <p:nvPr/>
        </p:nvSpPr>
        <p:spPr>
          <a:xfrm>
            <a:off x="9576000" y="3132000"/>
            <a:ext cx="1188000" cy="486000"/>
          </a:xfrm>
          <a:prstGeom prst="rect">
            <a:avLst/>
          </a:prstGeom>
          <a:solidFill>
            <a:srgbClr val="edf2f7"/>
          </a:solidFill>
          <a:ln w="3600">
            <a:solidFill>
              <a:srgbClr val="d9e1ec"/>
            </a:solidFill>
            <a:round/>
          </a:ln>
        </p:spPr>
      </p:sp>
      <p:sp>
        <p:nvSpPr>
          <p:cNvPr id="641" name="TextShape 80"/>
          <p:cNvSpPr txBox="1"/>
          <p:nvPr/>
        </p:nvSpPr>
        <p:spPr>
          <a:xfrm>
            <a:off x="9604800" y="3302640"/>
            <a:ext cx="1130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5c6b82"/>
                </a:solidFill>
                <a:latin typeface="Noto Sans CJK JP"/>
              </a:rPr>
              <a:t>0.356</a:t>
            </a:r>
            <a:endParaRPr b="0" lang="en-US" sz="88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42" name="Rectangle 81"/>
          <p:cNvSpPr/>
          <p:nvPr/>
        </p:nvSpPr>
        <p:spPr>
          <a:xfrm>
            <a:off x="612000" y="3618000"/>
            <a:ext cx="1476000" cy="486000"/>
          </a:xfrm>
          <a:prstGeom prst="rect">
            <a:avLst/>
          </a:prstGeom>
          <a:solidFill>
            <a:srgbClr val="ffffff"/>
          </a:solidFill>
          <a:ln w="3600">
            <a:solidFill>
              <a:srgbClr val="d9e1ec"/>
            </a:solidFill>
            <a:round/>
          </a:ln>
        </p:spPr>
      </p:sp>
      <p:sp>
        <p:nvSpPr>
          <p:cNvPr id="643" name="TextShape 82"/>
          <p:cNvSpPr txBox="1"/>
          <p:nvPr/>
        </p:nvSpPr>
        <p:spPr>
          <a:xfrm>
            <a:off x="640800" y="3788640"/>
            <a:ext cx="1418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880" spc="-1" strike="noStrike">
                <a:solidFill>
                  <a:srgbClr val="152238"/>
                </a:solidFill>
                <a:latin typeface="Noto Sans CJK JP"/>
              </a:rPr>
              <a:t>oblique</a:t>
            </a:r>
            <a:endParaRPr b="1" lang="en-US" sz="88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644" name="Rectangle 83"/>
          <p:cNvSpPr/>
          <p:nvPr/>
        </p:nvSpPr>
        <p:spPr>
          <a:xfrm>
            <a:off x="2088000" y="3618000"/>
            <a:ext cx="756000" cy="486000"/>
          </a:xfrm>
          <a:prstGeom prst="rect">
            <a:avLst/>
          </a:prstGeom>
          <a:solidFill>
            <a:srgbClr val="ffffff"/>
          </a:solidFill>
          <a:ln w="3600">
            <a:solidFill>
              <a:srgbClr val="d9e1ec"/>
            </a:solidFill>
            <a:round/>
          </a:ln>
        </p:spPr>
      </p:sp>
      <p:sp>
        <p:nvSpPr>
          <p:cNvPr id="645" name="TextShape 84"/>
          <p:cNvSpPr txBox="1"/>
          <p:nvPr/>
        </p:nvSpPr>
        <p:spPr>
          <a:xfrm>
            <a:off x="2116800" y="3788640"/>
            <a:ext cx="698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5c6b82"/>
                </a:solidFill>
                <a:latin typeface="Noto Sans CJK JP"/>
              </a:rPr>
              <a:t>3</a:t>
            </a:r>
            <a:endParaRPr b="0" lang="en-US" sz="88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46" name="Rectangle 85"/>
          <p:cNvSpPr/>
          <p:nvPr/>
        </p:nvSpPr>
        <p:spPr>
          <a:xfrm>
            <a:off x="2844000" y="3618000"/>
            <a:ext cx="972000" cy="486000"/>
          </a:xfrm>
          <a:prstGeom prst="rect">
            <a:avLst/>
          </a:prstGeom>
          <a:solidFill>
            <a:srgbClr val="ffffff"/>
          </a:solidFill>
          <a:ln w="3600">
            <a:solidFill>
              <a:srgbClr val="d9e1ec"/>
            </a:solidFill>
            <a:round/>
          </a:ln>
        </p:spPr>
      </p:sp>
      <p:sp>
        <p:nvSpPr>
          <p:cNvPr id="647" name="TextShape 86"/>
          <p:cNvSpPr txBox="1"/>
          <p:nvPr/>
        </p:nvSpPr>
        <p:spPr>
          <a:xfrm>
            <a:off x="2872800" y="3788640"/>
            <a:ext cx="914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5c6b82"/>
                </a:solidFill>
                <a:latin typeface="Noto Sans CJK JP"/>
              </a:rPr>
              <a:t>100%</a:t>
            </a:r>
            <a:endParaRPr b="0" lang="en-US" sz="88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48" name="Rectangle 87"/>
          <p:cNvSpPr/>
          <p:nvPr/>
        </p:nvSpPr>
        <p:spPr>
          <a:xfrm>
            <a:off x="3816000" y="3618000"/>
            <a:ext cx="864000" cy="486000"/>
          </a:xfrm>
          <a:prstGeom prst="rect">
            <a:avLst/>
          </a:prstGeom>
          <a:solidFill>
            <a:srgbClr val="ffffff"/>
          </a:solidFill>
          <a:ln w="3600">
            <a:solidFill>
              <a:srgbClr val="d9e1ec"/>
            </a:solidFill>
            <a:round/>
          </a:ln>
        </p:spPr>
      </p:sp>
      <p:sp>
        <p:nvSpPr>
          <p:cNvPr id="649" name="TextShape 88"/>
          <p:cNvSpPr txBox="1"/>
          <p:nvPr/>
        </p:nvSpPr>
        <p:spPr>
          <a:xfrm>
            <a:off x="3844800" y="3788640"/>
            <a:ext cx="806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5c6b82"/>
                </a:solidFill>
                <a:latin typeface="Noto Sans CJK JP"/>
              </a:rPr>
              <a:t>100%</a:t>
            </a:r>
            <a:endParaRPr b="0" lang="en-US" sz="88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50" name="Rectangle 89"/>
          <p:cNvSpPr/>
          <p:nvPr/>
        </p:nvSpPr>
        <p:spPr>
          <a:xfrm>
            <a:off x="4680000" y="3618000"/>
            <a:ext cx="1260000" cy="486000"/>
          </a:xfrm>
          <a:prstGeom prst="rect">
            <a:avLst/>
          </a:prstGeom>
          <a:solidFill>
            <a:srgbClr val="ffffff"/>
          </a:solidFill>
          <a:ln w="3600">
            <a:solidFill>
              <a:srgbClr val="d9e1ec"/>
            </a:solidFill>
            <a:round/>
          </a:ln>
        </p:spPr>
      </p:sp>
      <p:sp>
        <p:nvSpPr>
          <p:cNvPr id="651" name="TextShape 90"/>
          <p:cNvSpPr txBox="1"/>
          <p:nvPr/>
        </p:nvSpPr>
        <p:spPr>
          <a:xfrm>
            <a:off x="4708800" y="3788640"/>
            <a:ext cx="1202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5c6b82"/>
                </a:solidFill>
                <a:latin typeface="Noto Sans CJK JP"/>
              </a:rPr>
              <a:t>0.643</a:t>
            </a:r>
            <a:endParaRPr b="0" lang="en-US" sz="88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52" name="Rectangle 91"/>
          <p:cNvSpPr/>
          <p:nvPr/>
        </p:nvSpPr>
        <p:spPr>
          <a:xfrm>
            <a:off x="5940000" y="3618000"/>
            <a:ext cx="1260000" cy="486000"/>
          </a:xfrm>
          <a:prstGeom prst="rect">
            <a:avLst/>
          </a:prstGeom>
          <a:solidFill>
            <a:srgbClr val="ffffff"/>
          </a:solidFill>
          <a:ln w="3600">
            <a:solidFill>
              <a:srgbClr val="d9e1ec"/>
            </a:solidFill>
            <a:round/>
          </a:ln>
        </p:spPr>
      </p:sp>
      <p:sp>
        <p:nvSpPr>
          <p:cNvPr id="653" name="TextShape 92"/>
          <p:cNvSpPr txBox="1"/>
          <p:nvPr/>
        </p:nvSpPr>
        <p:spPr>
          <a:xfrm>
            <a:off x="5968800" y="3788640"/>
            <a:ext cx="1202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5c6b82"/>
                </a:solidFill>
                <a:latin typeface="Noto Sans CJK JP"/>
              </a:rPr>
              <a:t>1.4</a:t>
            </a:r>
            <a:endParaRPr b="0" lang="en-US" sz="88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54" name="Rectangle 93"/>
          <p:cNvSpPr/>
          <p:nvPr/>
        </p:nvSpPr>
        <p:spPr>
          <a:xfrm>
            <a:off x="7200000" y="3618000"/>
            <a:ext cx="1260000" cy="486000"/>
          </a:xfrm>
          <a:prstGeom prst="rect">
            <a:avLst/>
          </a:prstGeom>
          <a:solidFill>
            <a:srgbClr val="ffffff"/>
          </a:solidFill>
          <a:ln w="3600">
            <a:solidFill>
              <a:srgbClr val="d9e1ec"/>
            </a:solidFill>
            <a:round/>
          </a:ln>
        </p:spPr>
      </p:sp>
      <p:sp>
        <p:nvSpPr>
          <p:cNvPr id="655" name="TextShape 94"/>
          <p:cNvSpPr txBox="1"/>
          <p:nvPr/>
        </p:nvSpPr>
        <p:spPr>
          <a:xfrm>
            <a:off x="7228800" y="3788640"/>
            <a:ext cx="1202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5c6b82"/>
                </a:solidFill>
                <a:latin typeface="Noto Sans CJK JP"/>
              </a:rPr>
              <a:t>0.943</a:t>
            </a:r>
            <a:endParaRPr b="0" lang="en-US" sz="88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56" name="Rectangle 95"/>
          <p:cNvSpPr/>
          <p:nvPr/>
        </p:nvSpPr>
        <p:spPr>
          <a:xfrm>
            <a:off x="8460000" y="3618000"/>
            <a:ext cx="1116000" cy="486000"/>
          </a:xfrm>
          <a:prstGeom prst="rect">
            <a:avLst/>
          </a:prstGeom>
          <a:solidFill>
            <a:srgbClr val="ffffff"/>
          </a:solidFill>
          <a:ln w="3600">
            <a:solidFill>
              <a:srgbClr val="d9e1ec"/>
            </a:solidFill>
            <a:round/>
          </a:ln>
        </p:spPr>
      </p:sp>
      <p:sp>
        <p:nvSpPr>
          <p:cNvPr id="657" name="TextShape 96"/>
          <p:cNvSpPr txBox="1"/>
          <p:nvPr/>
        </p:nvSpPr>
        <p:spPr>
          <a:xfrm>
            <a:off x="8488800" y="3788640"/>
            <a:ext cx="1058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5c6b82"/>
                </a:solidFill>
                <a:latin typeface="Noto Sans CJK JP"/>
              </a:rPr>
              <a:t>3 / 3</a:t>
            </a:r>
            <a:endParaRPr b="0" lang="en-US" sz="88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58" name="Rectangle 97"/>
          <p:cNvSpPr/>
          <p:nvPr/>
        </p:nvSpPr>
        <p:spPr>
          <a:xfrm>
            <a:off x="9576000" y="3618000"/>
            <a:ext cx="1188000" cy="486000"/>
          </a:xfrm>
          <a:prstGeom prst="rect">
            <a:avLst/>
          </a:prstGeom>
          <a:solidFill>
            <a:srgbClr val="ffffff"/>
          </a:solidFill>
          <a:ln w="3600">
            <a:solidFill>
              <a:srgbClr val="d9e1ec"/>
            </a:solidFill>
            <a:round/>
          </a:ln>
        </p:spPr>
      </p:sp>
      <p:sp>
        <p:nvSpPr>
          <p:cNvPr id="659" name="TextShape 98"/>
          <p:cNvSpPr txBox="1"/>
          <p:nvPr/>
        </p:nvSpPr>
        <p:spPr>
          <a:xfrm>
            <a:off x="9604800" y="3788640"/>
            <a:ext cx="1130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5c6b82"/>
                </a:solidFill>
                <a:latin typeface="Noto Sans CJK JP"/>
              </a:rPr>
              <a:t>1.268</a:t>
            </a:r>
            <a:endParaRPr b="0" lang="en-US" sz="88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60" name="Rectangle 99"/>
          <p:cNvSpPr/>
          <p:nvPr/>
        </p:nvSpPr>
        <p:spPr>
          <a:xfrm>
            <a:off x="612000" y="4104000"/>
            <a:ext cx="1476000" cy="486000"/>
          </a:xfrm>
          <a:prstGeom prst="rect">
            <a:avLst/>
          </a:prstGeom>
          <a:solidFill>
            <a:srgbClr val="edf2f7"/>
          </a:solidFill>
          <a:ln w="3600">
            <a:solidFill>
              <a:srgbClr val="d9e1ec"/>
            </a:solidFill>
            <a:round/>
          </a:ln>
        </p:spPr>
      </p:sp>
      <p:sp>
        <p:nvSpPr>
          <p:cNvPr id="661" name="TextShape 100"/>
          <p:cNvSpPr txBox="1"/>
          <p:nvPr/>
        </p:nvSpPr>
        <p:spPr>
          <a:xfrm>
            <a:off x="640800" y="4274640"/>
            <a:ext cx="1418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880" spc="-1" strike="noStrike">
                <a:solidFill>
                  <a:srgbClr val="152238"/>
                </a:solidFill>
                <a:latin typeface="Noto Sans CJK JP"/>
              </a:rPr>
              <a:t>small</a:t>
            </a:r>
            <a:endParaRPr b="1" lang="en-US" sz="88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662" name="Rectangle 101"/>
          <p:cNvSpPr/>
          <p:nvPr/>
        </p:nvSpPr>
        <p:spPr>
          <a:xfrm>
            <a:off x="2088000" y="4104000"/>
            <a:ext cx="756000" cy="486000"/>
          </a:xfrm>
          <a:prstGeom prst="rect">
            <a:avLst/>
          </a:prstGeom>
          <a:solidFill>
            <a:srgbClr val="edf2f7"/>
          </a:solidFill>
          <a:ln w="3600">
            <a:solidFill>
              <a:srgbClr val="d9e1ec"/>
            </a:solidFill>
            <a:round/>
          </a:ln>
        </p:spPr>
      </p:sp>
      <p:sp>
        <p:nvSpPr>
          <p:cNvPr id="663" name="TextShape 102"/>
          <p:cNvSpPr txBox="1"/>
          <p:nvPr/>
        </p:nvSpPr>
        <p:spPr>
          <a:xfrm>
            <a:off x="2116800" y="4274640"/>
            <a:ext cx="698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5c6b82"/>
                </a:solidFill>
                <a:latin typeface="Noto Sans CJK JP"/>
              </a:rPr>
              <a:t>3</a:t>
            </a:r>
            <a:endParaRPr b="0" lang="en-US" sz="88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64" name="Rectangle 103"/>
          <p:cNvSpPr/>
          <p:nvPr/>
        </p:nvSpPr>
        <p:spPr>
          <a:xfrm>
            <a:off x="2844000" y="4104000"/>
            <a:ext cx="972000" cy="486000"/>
          </a:xfrm>
          <a:prstGeom prst="rect">
            <a:avLst/>
          </a:prstGeom>
          <a:solidFill>
            <a:srgbClr val="edf2f7"/>
          </a:solidFill>
          <a:ln w="3600">
            <a:solidFill>
              <a:srgbClr val="d9e1ec"/>
            </a:solidFill>
            <a:round/>
          </a:ln>
        </p:spPr>
      </p:sp>
      <p:sp>
        <p:nvSpPr>
          <p:cNvPr id="665" name="TextShape 104"/>
          <p:cNvSpPr txBox="1"/>
          <p:nvPr/>
        </p:nvSpPr>
        <p:spPr>
          <a:xfrm>
            <a:off x="2872800" y="4274640"/>
            <a:ext cx="914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5c6b82"/>
                </a:solidFill>
                <a:latin typeface="Noto Sans CJK JP"/>
              </a:rPr>
              <a:t>100%</a:t>
            </a:r>
            <a:endParaRPr b="0" lang="en-US" sz="88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66" name="Rectangle 105"/>
          <p:cNvSpPr/>
          <p:nvPr/>
        </p:nvSpPr>
        <p:spPr>
          <a:xfrm>
            <a:off x="3816000" y="4104000"/>
            <a:ext cx="864000" cy="486000"/>
          </a:xfrm>
          <a:prstGeom prst="rect">
            <a:avLst/>
          </a:prstGeom>
          <a:solidFill>
            <a:srgbClr val="edf2f7"/>
          </a:solidFill>
          <a:ln w="3600">
            <a:solidFill>
              <a:srgbClr val="d9e1ec"/>
            </a:solidFill>
            <a:round/>
          </a:ln>
        </p:spPr>
      </p:sp>
      <p:sp>
        <p:nvSpPr>
          <p:cNvPr id="667" name="TextShape 106"/>
          <p:cNvSpPr txBox="1"/>
          <p:nvPr/>
        </p:nvSpPr>
        <p:spPr>
          <a:xfrm>
            <a:off x="3844800" y="4274640"/>
            <a:ext cx="806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5c6b82"/>
                </a:solidFill>
                <a:latin typeface="Noto Sans CJK JP"/>
              </a:rPr>
              <a:t>100%</a:t>
            </a:r>
            <a:endParaRPr b="0" lang="en-US" sz="88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68" name="Rectangle 107"/>
          <p:cNvSpPr/>
          <p:nvPr/>
        </p:nvSpPr>
        <p:spPr>
          <a:xfrm>
            <a:off x="4680000" y="4104000"/>
            <a:ext cx="1260000" cy="486000"/>
          </a:xfrm>
          <a:prstGeom prst="rect">
            <a:avLst/>
          </a:prstGeom>
          <a:solidFill>
            <a:srgbClr val="edf2f7"/>
          </a:solidFill>
          <a:ln w="3600">
            <a:solidFill>
              <a:srgbClr val="d9e1ec"/>
            </a:solidFill>
            <a:round/>
          </a:ln>
        </p:spPr>
      </p:sp>
      <p:sp>
        <p:nvSpPr>
          <p:cNvPr id="669" name="TextShape 108"/>
          <p:cNvSpPr txBox="1"/>
          <p:nvPr/>
        </p:nvSpPr>
        <p:spPr>
          <a:xfrm>
            <a:off x="4708800" y="4274640"/>
            <a:ext cx="1202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5c6b82"/>
                </a:solidFill>
                <a:latin typeface="Noto Sans CJK JP"/>
              </a:rPr>
              <a:t>1.924</a:t>
            </a:r>
            <a:endParaRPr b="0" lang="en-US" sz="88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70" name="Rectangle 109"/>
          <p:cNvSpPr/>
          <p:nvPr/>
        </p:nvSpPr>
        <p:spPr>
          <a:xfrm>
            <a:off x="5940000" y="4104000"/>
            <a:ext cx="1260000" cy="486000"/>
          </a:xfrm>
          <a:prstGeom prst="rect">
            <a:avLst/>
          </a:prstGeom>
          <a:solidFill>
            <a:srgbClr val="edf2f7"/>
          </a:solidFill>
          <a:ln w="3600">
            <a:solidFill>
              <a:srgbClr val="d9e1ec"/>
            </a:solidFill>
            <a:round/>
          </a:ln>
        </p:spPr>
      </p:sp>
      <p:sp>
        <p:nvSpPr>
          <p:cNvPr id="671" name="TextShape 110"/>
          <p:cNvSpPr txBox="1"/>
          <p:nvPr/>
        </p:nvSpPr>
        <p:spPr>
          <a:xfrm>
            <a:off x="5968800" y="4274640"/>
            <a:ext cx="1202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5c6b82"/>
                </a:solidFill>
                <a:latin typeface="Noto Sans CJK JP"/>
              </a:rPr>
              <a:t>104.8</a:t>
            </a:r>
            <a:endParaRPr b="0" lang="en-US" sz="88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72" name="Rectangle 111"/>
          <p:cNvSpPr/>
          <p:nvPr/>
        </p:nvSpPr>
        <p:spPr>
          <a:xfrm>
            <a:off x="7200000" y="4104000"/>
            <a:ext cx="1260000" cy="486000"/>
          </a:xfrm>
          <a:prstGeom prst="rect">
            <a:avLst/>
          </a:prstGeom>
          <a:solidFill>
            <a:srgbClr val="edf2f7"/>
          </a:solidFill>
          <a:ln w="3600">
            <a:solidFill>
              <a:srgbClr val="d9e1ec"/>
            </a:solidFill>
            <a:round/>
          </a:ln>
        </p:spPr>
      </p:sp>
      <p:sp>
        <p:nvSpPr>
          <p:cNvPr id="673" name="TextShape 112"/>
          <p:cNvSpPr txBox="1"/>
          <p:nvPr/>
        </p:nvSpPr>
        <p:spPr>
          <a:xfrm>
            <a:off x="7228800" y="4274640"/>
            <a:ext cx="1202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5c6b82"/>
                </a:solidFill>
                <a:latin typeface="Noto Sans CJK JP"/>
              </a:rPr>
              <a:t>1.206</a:t>
            </a:r>
            <a:endParaRPr b="0" lang="en-US" sz="88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74" name="Rectangle 113"/>
          <p:cNvSpPr/>
          <p:nvPr/>
        </p:nvSpPr>
        <p:spPr>
          <a:xfrm>
            <a:off x="8460000" y="4104000"/>
            <a:ext cx="1116000" cy="486000"/>
          </a:xfrm>
          <a:prstGeom prst="rect">
            <a:avLst/>
          </a:prstGeom>
          <a:solidFill>
            <a:srgbClr val="edf2f7"/>
          </a:solidFill>
          <a:ln w="3600">
            <a:solidFill>
              <a:srgbClr val="d9e1ec"/>
            </a:solidFill>
            <a:round/>
          </a:ln>
        </p:spPr>
      </p:sp>
      <p:sp>
        <p:nvSpPr>
          <p:cNvPr id="675" name="TextShape 114"/>
          <p:cNvSpPr txBox="1"/>
          <p:nvPr/>
        </p:nvSpPr>
        <p:spPr>
          <a:xfrm>
            <a:off x="8488800" y="4274640"/>
            <a:ext cx="1058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5c6b82"/>
                </a:solidFill>
                <a:latin typeface="Noto Sans CJK JP"/>
              </a:rPr>
              <a:t>0 / 3</a:t>
            </a:r>
            <a:endParaRPr b="0" lang="en-US" sz="88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76" name="Rectangle 115"/>
          <p:cNvSpPr/>
          <p:nvPr/>
        </p:nvSpPr>
        <p:spPr>
          <a:xfrm>
            <a:off x="9576000" y="4104000"/>
            <a:ext cx="1188000" cy="486000"/>
          </a:xfrm>
          <a:prstGeom prst="rect">
            <a:avLst/>
          </a:prstGeom>
          <a:solidFill>
            <a:srgbClr val="edf2f7"/>
          </a:solidFill>
          <a:ln w="3600">
            <a:solidFill>
              <a:srgbClr val="d9e1ec"/>
            </a:solidFill>
            <a:round/>
          </a:ln>
        </p:spPr>
      </p:sp>
      <p:sp>
        <p:nvSpPr>
          <p:cNvPr id="677" name="TextShape 116"/>
          <p:cNvSpPr txBox="1"/>
          <p:nvPr/>
        </p:nvSpPr>
        <p:spPr>
          <a:xfrm>
            <a:off x="9604800" y="4274640"/>
            <a:ext cx="1130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5c6b82"/>
                </a:solidFill>
                <a:latin typeface="Noto Sans CJK JP"/>
              </a:rPr>
              <a:t>0.247</a:t>
            </a:r>
            <a:endParaRPr b="0" lang="en-US" sz="88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78" name="Rectangle 117"/>
          <p:cNvSpPr/>
          <p:nvPr/>
        </p:nvSpPr>
        <p:spPr>
          <a:xfrm>
            <a:off x="612000" y="4590000"/>
            <a:ext cx="1476000" cy="486000"/>
          </a:xfrm>
          <a:prstGeom prst="rect">
            <a:avLst/>
          </a:prstGeom>
          <a:solidFill>
            <a:srgbClr val="ffffff"/>
          </a:solidFill>
          <a:ln w="3600">
            <a:solidFill>
              <a:srgbClr val="d9e1ec"/>
            </a:solidFill>
            <a:round/>
          </a:ln>
        </p:spPr>
      </p:sp>
      <p:sp>
        <p:nvSpPr>
          <p:cNvPr id="679" name="TextShape 118"/>
          <p:cNvSpPr txBox="1"/>
          <p:nvPr/>
        </p:nvSpPr>
        <p:spPr>
          <a:xfrm>
            <a:off x="640800" y="4760640"/>
            <a:ext cx="1418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880" spc="-1" strike="noStrike">
                <a:solidFill>
                  <a:srgbClr val="152238"/>
                </a:solidFill>
                <a:latin typeface="Noto Sans CJK JP"/>
              </a:rPr>
              <a:t>multi_tag</a:t>
            </a:r>
            <a:endParaRPr b="1" lang="en-US" sz="88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680" name="Rectangle 119"/>
          <p:cNvSpPr/>
          <p:nvPr/>
        </p:nvSpPr>
        <p:spPr>
          <a:xfrm>
            <a:off x="2088000" y="4590000"/>
            <a:ext cx="756000" cy="486000"/>
          </a:xfrm>
          <a:prstGeom prst="rect">
            <a:avLst/>
          </a:prstGeom>
          <a:solidFill>
            <a:srgbClr val="ffffff"/>
          </a:solidFill>
          <a:ln w="3600">
            <a:solidFill>
              <a:srgbClr val="d9e1ec"/>
            </a:solidFill>
            <a:round/>
          </a:ln>
        </p:spPr>
      </p:sp>
      <p:sp>
        <p:nvSpPr>
          <p:cNvPr id="681" name="TextShape 120"/>
          <p:cNvSpPr txBox="1"/>
          <p:nvPr/>
        </p:nvSpPr>
        <p:spPr>
          <a:xfrm>
            <a:off x="2116800" y="4760640"/>
            <a:ext cx="698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5c6b82"/>
                </a:solidFill>
                <a:latin typeface="Noto Sans CJK JP"/>
              </a:rPr>
              <a:t>30</a:t>
            </a:r>
            <a:endParaRPr b="0" lang="en-US" sz="88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82" name="Rectangle 121"/>
          <p:cNvSpPr/>
          <p:nvPr/>
        </p:nvSpPr>
        <p:spPr>
          <a:xfrm>
            <a:off x="2844000" y="4590000"/>
            <a:ext cx="972000" cy="486000"/>
          </a:xfrm>
          <a:prstGeom prst="rect">
            <a:avLst/>
          </a:prstGeom>
          <a:solidFill>
            <a:srgbClr val="ffffff"/>
          </a:solidFill>
          <a:ln w="3600">
            <a:solidFill>
              <a:srgbClr val="d9e1ec"/>
            </a:solidFill>
            <a:round/>
          </a:ln>
        </p:spPr>
      </p:sp>
      <p:sp>
        <p:nvSpPr>
          <p:cNvPr id="683" name="TextShape 122"/>
          <p:cNvSpPr txBox="1"/>
          <p:nvPr/>
        </p:nvSpPr>
        <p:spPr>
          <a:xfrm>
            <a:off x="2872800" y="4760640"/>
            <a:ext cx="914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5c6b82"/>
                </a:solidFill>
                <a:latin typeface="Noto Sans CJK JP"/>
              </a:rPr>
              <a:t>100%</a:t>
            </a:r>
            <a:endParaRPr b="0" lang="en-US" sz="88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84" name="Rectangle 123"/>
          <p:cNvSpPr/>
          <p:nvPr/>
        </p:nvSpPr>
        <p:spPr>
          <a:xfrm>
            <a:off x="3816000" y="4590000"/>
            <a:ext cx="864000" cy="486000"/>
          </a:xfrm>
          <a:prstGeom prst="rect">
            <a:avLst/>
          </a:prstGeom>
          <a:solidFill>
            <a:srgbClr val="ffffff"/>
          </a:solidFill>
          <a:ln w="3600">
            <a:solidFill>
              <a:srgbClr val="d9e1ec"/>
            </a:solidFill>
            <a:round/>
          </a:ln>
        </p:spPr>
      </p:sp>
      <p:sp>
        <p:nvSpPr>
          <p:cNvPr id="685" name="TextShape 124"/>
          <p:cNvSpPr txBox="1"/>
          <p:nvPr/>
        </p:nvSpPr>
        <p:spPr>
          <a:xfrm>
            <a:off x="3844800" y="4760640"/>
            <a:ext cx="806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5c6b82"/>
                </a:solidFill>
                <a:latin typeface="Noto Sans CJK JP"/>
              </a:rPr>
              <a:t>100%</a:t>
            </a:r>
            <a:endParaRPr b="0" lang="en-US" sz="88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86" name="Rectangle 125"/>
          <p:cNvSpPr/>
          <p:nvPr/>
        </p:nvSpPr>
        <p:spPr>
          <a:xfrm>
            <a:off x="4680000" y="4590000"/>
            <a:ext cx="1260000" cy="486000"/>
          </a:xfrm>
          <a:prstGeom prst="rect">
            <a:avLst/>
          </a:prstGeom>
          <a:solidFill>
            <a:srgbClr val="ffffff"/>
          </a:solidFill>
          <a:ln w="3600">
            <a:solidFill>
              <a:srgbClr val="d9e1ec"/>
            </a:solidFill>
            <a:round/>
          </a:ln>
        </p:spPr>
      </p:sp>
      <p:sp>
        <p:nvSpPr>
          <p:cNvPr id="687" name="TextShape 126"/>
          <p:cNvSpPr txBox="1"/>
          <p:nvPr/>
        </p:nvSpPr>
        <p:spPr>
          <a:xfrm>
            <a:off x="4708800" y="4760640"/>
            <a:ext cx="1202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5c6b82"/>
                </a:solidFill>
                <a:latin typeface="Noto Sans CJK JP"/>
              </a:rPr>
              <a:t>1.190</a:t>
            </a:r>
            <a:endParaRPr b="0" lang="en-US" sz="88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88" name="Rectangle 127"/>
          <p:cNvSpPr/>
          <p:nvPr/>
        </p:nvSpPr>
        <p:spPr>
          <a:xfrm>
            <a:off x="5940000" y="4590000"/>
            <a:ext cx="1260000" cy="486000"/>
          </a:xfrm>
          <a:prstGeom prst="rect">
            <a:avLst/>
          </a:prstGeom>
          <a:solidFill>
            <a:srgbClr val="ffffff"/>
          </a:solidFill>
          <a:ln w="3600">
            <a:solidFill>
              <a:srgbClr val="d9e1ec"/>
            </a:solidFill>
            <a:round/>
          </a:ln>
        </p:spPr>
      </p:sp>
      <p:sp>
        <p:nvSpPr>
          <p:cNvPr id="689" name="TextShape 128"/>
          <p:cNvSpPr txBox="1"/>
          <p:nvPr/>
        </p:nvSpPr>
        <p:spPr>
          <a:xfrm>
            <a:off x="5968800" y="4760640"/>
            <a:ext cx="1202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5c6b82"/>
                </a:solidFill>
                <a:latin typeface="Noto Sans CJK JP"/>
              </a:rPr>
              <a:t>72.2</a:t>
            </a:r>
            <a:endParaRPr b="0" lang="en-US" sz="88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90" name="Rectangle 129"/>
          <p:cNvSpPr/>
          <p:nvPr/>
        </p:nvSpPr>
        <p:spPr>
          <a:xfrm>
            <a:off x="7200000" y="4590000"/>
            <a:ext cx="1260000" cy="486000"/>
          </a:xfrm>
          <a:prstGeom prst="rect">
            <a:avLst/>
          </a:prstGeom>
          <a:solidFill>
            <a:srgbClr val="ffffff"/>
          </a:solidFill>
          <a:ln w="3600">
            <a:solidFill>
              <a:srgbClr val="d9e1ec"/>
            </a:solidFill>
            <a:round/>
          </a:ln>
        </p:spPr>
      </p:sp>
      <p:sp>
        <p:nvSpPr>
          <p:cNvPr id="691" name="TextShape 130"/>
          <p:cNvSpPr txBox="1"/>
          <p:nvPr/>
        </p:nvSpPr>
        <p:spPr>
          <a:xfrm>
            <a:off x="7228800" y="4760640"/>
            <a:ext cx="1202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5c6b82"/>
                </a:solidFill>
                <a:latin typeface="Noto Sans CJK JP"/>
              </a:rPr>
              <a:t>1.049</a:t>
            </a:r>
            <a:endParaRPr b="0" lang="en-US" sz="88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92" name="Rectangle 131"/>
          <p:cNvSpPr/>
          <p:nvPr/>
        </p:nvSpPr>
        <p:spPr>
          <a:xfrm>
            <a:off x="8460000" y="4590000"/>
            <a:ext cx="1116000" cy="486000"/>
          </a:xfrm>
          <a:prstGeom prst="rect">
            <a:avLst/>
          </a:prstGeom>
          <a:solidFill>
            <a:srgbClr val="ffffff"/>
          </a:solidFill>
          <a:ln w="3600">
            <a:solidFill>
              <a:srgbClr val="d9e1ec"/>
            </a:solidFill>
            <a:round/>
          </a:ln>
        </p:spPr>
      </p:sp>
      <p:sp>
        <p:nvSpPr>
          <p:cNvPr id="693" name="TextShape 132"/>
          <p:cNvSpPr txBox="1"/>
          <p:nvPr/>
        </p:nvSpPr>
        <p:spPr>
          <a:xfrm>
            <a:off x="8488800" y="4760640"/>
            <a:ext cx="1058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5c6b82"/>
                </a:solidFill>
                <a:latin typeface="Noto Sans CJK JP"/>
              </a:rPr>
              <a:t>10 / 30</a:t>
            </a:r>
            <a:endParaRPr b="0" lang="en-US" sz="88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94" name="Rectangle 133"/>
          <p:cNvSpPr/>
          <p:nvPr/>
        </p:nvSpPr>
        <p:spPr>
          <a:xfrm>
            <a:off x="9576000" y="4590000"/>
            <a:ext cx="1188000" cy="486000"/>
          </a:xfrm>
          <a:prstGeom prst="rect">
            <a:avLst/>
          </a:prstGeom>
          <a:solidFill>
            <a:srgbClr val="ffffff"/>
          </a:solidFill>
          <a:ln w="3600">
            <a:solidFill>
              <a:srgbClr val="d9e1ec"/>
            </a:solidFill>
            <a:round/>
          </a:ln>
        </p:spPr>
      </p:sp>
      <p:sp>
        <p:nvSpPr>
          <p:cNvPr id="695" name="TextShape 134"/>
          <p:cNvSpPr txBox="1"/>
          <p:nvPr/>
        </p:nvSpPr>
        <p:spPr>
          <a:xfrm>
            <a:off x="9604800" y="4760640"/>
            <a:ext cx="1130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5c6b82"/>
                </a:solidFill>
                <a:latin typeface="Noto Sans CJK JP"/>
              </a:rPr>
              <a:t>0.261</a:t>
            </a:r>
            <a:endParaRPr b="0" lang="en-US" sz="88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696" name="Rectangle 135"/>
          <p:cNvSpPr/>
          <p:nvPr/>
        </p:nvSpPr>
        <p:spPr>
          <a:xfrm>
            <a:off x="612000" y="5076000"/>
            <a:ext cx="1476000" cy="486000"/>
          </a:xfrm>
          <a:prstGeom prst="rect">
            <a:avLst/>
          </a:prstGeom>
          <a:solidFill>
            <a:srgbClr val="fdecec"/>
          </a:solidFill>
          <a:ln w="3600">
            <a:solidFill>
              <a:srgbClr val="d9e1ec"/>
            </a:solidFill>
            <a:round/>
          </a:ln>
        </p:spPr>
      </p:sp>
      <p:sp>
        <p:nvSpPr>
          <p:cNvPr id="697" name="TextShape 136"/>
          <p:cNvSpPr txBox="1"/>
          <p:nvPr/>
        </p:nvSpPr>
        <p:spPr>
          <a:xfrm>
            <a:off x="640800" y="5246640"/>
            <a:ext cx="1418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880" spc="-1" strike="noStrike">
                <a:solidFill>
                  <a:srgbClr val="dc2626"/>
                </a:solidFill>
                <a:latin typeface="Noto Sans CJK JP"/>
              </a:rPr>
              <a:t>occluded</a:t>
            </a:r>
            <a:endParaRPr b="1" lang="en-US" sz="88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</p:txBody>
      </p:sp>
      <p:sp>
        <p:nvSpPr>
          <p:cNvPr id="698" name="Rectangle 137"/>
          <p:cNvSpPr/>
          <p:nvPr/>
        </p:nvSpPr>
        <p:spPr>
          <a:xfrm>
            <a:off x="2088000" y="5076000"/>
            <a:ext cx="756000" cy="486000"/>
          </a:xfrm>
          <a:prstGeom prst="rect">
            <a:avLst/>
          </a:prstGeom>
          <a:solidFill>
            <a:srgbClr val="fdecec"/>
          </a:solidFill>
          <a:ln w="3600">
            <a:solidFill>
              <a:srgbClr val="d9e1ec"/>
            </a:solidFill>
            <a:round/>
          </a:ln>
        </p:spPr>
      </p:sp>
      <p:sp>
        <p:nvSpPr>
          <p:cNvPr id="699" name="TextShape 138"/>
          <p:cNvSpPr txBox="1"/>
          <p:nvPr/>
        </p:nvSpPr>
        <p:spPr>
          <a:xfrm>
            <a:off x="2116800" y="5246640"/>
            <a:ext cx="698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dc2626"/>
                </a:solidFill>
                <a:latin typeface="Noto Sans CJK JP"/>
              </a:rPr>
              <a:t>3</a:t>
            </a:r>
            <a:endParaRPr b="0" lang="en-US" sz="88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</p:txBody>
      </p:sp>
      <p:sp>
        <p:nvSpPr>
          <p:cNvPr id="700" name="Rectangle 139"/>
          <p:cNvSpPr/>
          <p:nvPr/>
        </p:nvSpPr>
        <p:spPr>
          <a:xfrm>
            <a:off x="2844000" y="5076000"/>
            <a:ext cx="972000" cy="486000"/>
          </a:xfrm>
          <a:prstGeom prst="rect">
            <a:avLst/>
          </a:prstGeom>
          <a:solidFill>
            <a:srgbClr val="fdecec"/>
          </a:solidFill>
          <a:ln w="3600">
            <a:solidFill>
              <a:srgbClr val="d9e1ec"/>
            </a:solidFill>
            <a:round/>
          </a:ln>
        </p:spPr>
      </p:sp>
      <p:sp>
        <p:nvSpPr>
          <p:cNvPr id="701" name="TextShape 140"/>
          <p:cNvSpPr txBox="1"/>
          <p:nvPr/>
        </p:nvSpPr>
        <p:spPr>
          <a:xfrm>
            <a:off x="2872800" y="5246640"/>
            <a:ext cx="914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dc2626"/>
                </a:solidFill>
                <a:latin typeface="Noto Sans CJK JP"/>
              </a:rPr>
              <a:t>0%</a:t>
            </a:r>
            <a:endParaRPr b="0" lang="en-US" sz="88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</p:txBody>
      </p:sp>
      <p:sp>
        <p:nvSpPr>
          <p:cNvPr id="702" name="Rectangle 141"/>
          <p:cNvSpPr/>
          <p:nvPr/>
        </p:nvSpPr>
        <p:spPr>
          <a:xfrm>
            <a:off x="3816000" y="5076000"/>
            <a:ext cx="864000" cy="486000"/>
          </a:xfrm>
          <a:prstGeom prst="rect">
            <a:avLst/>
          </a:prstGeom>
          <a:solidFill>
            <a:srgbClr val="fdecec"/>
          </a:solidFill>
          <a:ln w="3600">
            <a:solidFill>
              <a:srgbClr val="d9e1ec"/>
            </a:solidFill>
            <a:round/>
          </a:ln>
        </p:spPr>
      </p:sp>
      <p:sp>
        <p:nvSpPr>
          <p:cNvPr id="703" name="TextShape 142"/>
          <p:cNvSpPr txBox="1"/>
          <p:nvPr/>
        </p:nvSpPr>
        <p:spPr>
          <a:xfrm>
            <a:off x="3844800" y="5246640"/>
            <a:ext cx="806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dc2626"/>
                </a:solidFill>
                <a:latin typeface="Noto Sans CJK JP"/>
              </a:rPr>
              <a:t>—</a:t>
            </a:r>
            <a:endParaRPr b="0" lang="en-US" sz="88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</p:txBody>
      </p:sp>
      <p:sp>
        <p:nvSpPr>
          <p:cNvPr id="704" name="Rectangle 143"/>
          <p:cNvSpPr/>
          <p:nvPr/>
        </p:nvSpPr>
        <p:spPr>
          <a:xfrm>
            <a:off x="4680000" y="5076000"/>
            <a:ext cx="1260000" cy="486000"/>
          </a:xfrm>
          <a:prstGeom prst="rect">
            <a:avLst/>
          </a:prstGeom>
          <a:solidFill>
            <a:srgbClr val="fdecec"/>
          </a:solidFill>
          <a:ln w="3600">
            <a:solidFill>
              <a:srgbClr val="d9e1ec"/>
            </a:solidFill>
            <a:round/>
          </a:ln>
        </p:spPr>
      </p:sp>
      <p:sp>
        <p:nvSpPr>
          <p:cNvPr id="705" name="TextShape 144"/>
          <p:cNvSpPr txBox="1"/>
          <p:nvPr/>
        </p:nvSpPr>
        <p:spPr>
          <a:xfrm>
            <a:off x="4708800" y="5246640"/>
            <a:ext cx="1202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dc2626"/>
                </a:solidFill>
                <a:latin typeface="Noto Sans CJK JP"/>
              </a:rPr>
              <a:t>—</a:t>
            </a:r>
            <a:endParaRPr b="0" lang="en-US" sz="88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</p:txBody>
      </p:sp>
      <p:sp>
        <p:nvSpPr>
          <p:cNvPr id="706" name="Rectangle 145"/>
          <p:cNvSpPr/>
          <p:nvPr/>
        </p:nvSpPr>
        <p:spPr>
          <a:xfrm>
            <a:off x="5940000" y="5076000"/>
            <a:ext cx="1260000" cy="486000"/>
          </a:xfrm>
          <a:prstGeom prst="rect">
            <a:avLst/>
          </a:prstGeom>
          <a:solidFill>
            <a:srgbClr val="fdecec"/>
          </a:solidFill>
          <a:ln w="3600">
            <a:solidFill>
              <a:srgbClr val="d9e1ec"/>
            </a:solidFill>
            <a:round/>
          </a:ln>
        </p:spPr>
      </p:sp>
      <p:sp>
        <p:nvSpPr>
          <p:cNvPr id="707" name="TextShape 146"/>
          <p:cNvSpPr txBox="1"/>
          <p:nvPr/>
        </p:nvSpPr>
        <p:spPr>
          <a:xfrm>
            <a:off x="5968800" y="5246640"/>
            <a:ext cx="1202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dc2626"/>
                </a:solidFill>
                <a:latin typeface="Noto Sans CJK JP"/>
              </a:rPr>
              <a:t>—</a:t>
            </a:r>
            <a:endParaRPr b="0" lang="en-US" sz="88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</p:txBody>
      </p:sp>
      <p:sp>
        <p:nvSpPr>
          <p:cNvPr id="708" name="Rectangle 147"/>
          <p:cNvSpPr/>
          <p:nvPr/>
        </p:nvSpPr>
        <p:spPr>
          <a:xfrm>
            <a:off x="7200000" y="5076000"/>
            <a:ext cx="1260000" cy="486000"/>
          </a:xfrm>
          <a:prstGeom prst="rect">
            <a:avLst/>
          </a:prstGeom>
          <a:solidFill>
            <a:srgbClr val="fdecec"/>
          </a:solidFill>
          <a:ln w="3600">
            <a:solidFill>
              <a:srgbClr val="d9e1ec"/>
            </a:solidFill>
            <a:round/>
          </a:ln>
        </p:spPr>
      </p:sp>
      <p:sp>
        <p:nvSpPr>
          <p:cNvPr id="709" name="TextShape 148"/>
          <p:cNvSpPr txBox="1"/>
          <p:nvPr/>
        </p:nvSpPr>
        <p:spPr>
          <a:xfrm>
            <a:off x="7228800" y="5246640"/>
            <a:ext cx="1202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dc2626"/>
                </a:solidFill>
                <a:latin typeface="Noto Sans CJK JP"/>
              </a:rPr>
              <a:t>—</a:t>
            </a:r>
            <a:endParaRPr b="0" lang="en-US" sz="88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</p:txBody>
      </p:sp>
      <p:sp>
        <p:nvSpPr>
          <p:cNvPr id="710" name="Rectangle 149"/>
          <p:cNvSpPr/>
          <p:nvPr/>
        </p:nvSpPr>
        <p:spPr>
          <a:xfrm>
            <a:off x="8460000" y="5076000"/>
            <a:ext cx="1116000" cy="486000"/>
          </a:xfrm>
          <a:prstGeom prst="rect">
            <a:avLst/>
          </a:prstGeom>
          <a:solidFill>
            <a:srgbClr val="fdecec"/>
          </a:solidFill>
          <a:ln w="3600">
            <a:solidFill>
              <a:srgbClr val="d9e1ec"/>
            </a:solidFill>
            <a:round/>
          </a:ln>
        </p:spPr>
      </p:sp>
      <p:sp>
        <p:nvSpPr>
          <p:cNvPr id="711" name="TextShape 150"/>
          <p:cNvSpPr txBox="1"/>
          <p:nvPr/>
        </p:nvSpPr>
        <p:spPr>
          <a:xfrm>
            <a:off x="8488800" y="5246640"/>
            <a:ext cx="1058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dc2626"/>
                </a:solidFill>
                <a:latin typeface="Noto Sans CJK JP"/>
              </a:rPr>
              <a:t>—</a:t>
            </a:r>
            <a:endParaRPr b="0" lang="en-US" sz="88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</p:txBody>
      </p:sp>
      <p:sp>
        <p:nvSpPr>
          <p:cNvPr id="712" name="Rectangle 151"/>
          <p:cNvSpPr/>
          <p:nvPr/>
        </p:nvSpPr>
        <p:spPr>
          <a:xfrm>
            <a:off x="9576000" y="5076000"/>
            <a:ext cx="1188000" cy="486000"/>
          </a:xfrm>
          <a:prstGeom prst="rect">
            <a:avLst/>
          </a:prstGeom>
          <a:solidFill>
            <a:srgbClr val="fdecec"/>
          </a:solidFill>
          <a:ln w="3600">
            <a:solidFill>
              <a:srgbClr val="d9e1ec"/>
            </a:solidFill>
            <a:round/>
          </a:ln>
        </p:spPr>
      </p:sp>
      <p:sp>
        <p:nvSpPr>
          <p:cNvPr id="713" name="TextShape 152"/>
          <p:cNvSpPr txBox="1"/>
          <p:nvPr/>
        </p:nvSpPr>
        <p:spPr>
          <a:xfrm>
            <a:off x="9604800" y="5246640"/>
            <a:ext cx="1130400" cy="1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880" spc="-1" strike="noStrike">
                <a:solidFill>
                  <a:srgbClr val="dc2626"/>
                </a:solidFill>
                <a:latin typeface="Noto Sans CJK JP"/>
              </a:rPr>
              <a:t>—</a:t>
            </a:r>
            <a:endParaRPr b="0" lang="en-US" sz="88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</p:txBody>
      </p:sp>
      <p:sp>
        <p:nvSpPr>
          <p:cNvPr id="714" name="TextShape 153"/>
          <p:cNvSpPr txBox="1"/>
          <p:nvPr/>
        </p:nvSpPr>
        <p:spPr>
          <a:xfrm>
            <a:off x="648000" y="5760000"/>
            <a:ext cx="10800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900" spc="-1" strike="noStrike">
                <a:solidFill>
                  <a:srgbClr val="5c6b82"/>
                </a:solidFill>
                <a:latin typeface="Noto Sans CJK JP"/>
              </a:rPr>
              <a:t>nearest mode = GT proximity</a:t>
            </a:r>
            <a:r>
              <a:rPr b="0" lang="zh-CN" sz="900" spc="-1" strike="noStrike">
                <a:solidFill>
                  <a:srgbClr val="5c6b82"/>
                </a:solidFill>
                <a:latin typeface="Noto Sans CJK JP"/>
              </a:rPr>
              <a:t>を使う</a:t>
            </a:r>
            <a:r>
              <a:rPr b="0" lang="en-US" sz="900" spc="-1" strike="noStrike">
                <a:solidFill>
                  <a:srgbClr val="5c6b82"/>
                </a:solidFill>
                <a:latin typeface="Noto Sans CJK JP"/>
              </a:rPr>
              <a:t>oracle</a:t>
            </a:r>
            <a:r>
              <a:rPr b="0" lang="zh-CN" sz="900" spc="-1" strike="noStrike">
                <a:solidFill>
                  <a:srgbClr val="5c6b82"/>
                </a:solidFill>
                <a:latin typeface="Noto Sans CJK JP"/>
              </a:rPr>
              <a:t>指標。二解平均を単一 </a:t>
            </a:r>
            <a:r>
              <a:rPr b="0" lang="en-US" sz="900" spc="-1" strike="noStrike">
                <a:solidFill>
                  <a:srgbClr val="5c6b82"/>
                </a:solidFill>
                <a:latin typeface="Noto Sans CJK JP"/>
              </a:rPr>
              <a:t>pose </a:t>
            </a:r>
            <a:r>
              <a:rPr b="0" lang="zh-CN" sz="900" spc="-1" strike="noStrike">
                <a:solidFill>
                  <a:srgbClr val="5c6b82"/>
                </a:solidFill>
                <a:latin typeface="Noto Sans CJK JP"/>
              </a:rPr>
              <a:t>精度として扱っていない。</a:t>
            </a:r>
            <a:endParaRPr b="0" lang="en-US" sz="9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715" name="TextShape 154"/>
          <p:cNvSpPr txBox="1"/>
          <p:nvPr/>
        </p:nvSpPr>
        <p:spPr>
          <a:xfrm>
            <a:off x="648000" y="5940000"/>
            <a:ext cx="10800000" cy="155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850" spc="-1" strike="noStrike">
                <a:solidFill>
                  <a:srgbClr val="5c6b82"/>
                </a:solidFill>
                <a:latin typeface="Noto Sans CJK JP"/>
              </a:rPr>
              <a:t>IPPE 2-candidate coverage: </a:t>
            </a:r>
            <a:r>
              <a:rPr b="0" lang="zh-CN" sz="850" spc="-1" strike="noStrike">
                <a:solidFill>
                  <a:srgbClr val="5c6b82"/>
                </a:solidFill>
                <a:latin typeface="Noto Sans CJK JP"/>
              </a:rPr>
              <a:t>遮蔽なし </a:t>
            </a:r>
            <a:r>
              <a:rPr b="0" lang="en-US" sz="850" spc="-1" strike="noStrike">
                <a:solidFill>
                  <a:srgbClr val="5c6b82"/>
                </a:solidFill>
                <a:latin typeface="Noto Sans CJK JP"/>
              </a:rPr>
              <a:t>42/42 = 100%  /  occluded 0/3 = 0%</a:t>
            </a:r>
            <a:r>
              <a:rPr b="0" lang="zh-CN" sz="850" spc="-1" strike="noStrike">
                <a:solidFill>
                  <a:srgbClr val="5c6b82"/>
                </a:solidFill>
                <a:latin typeface="Noto Sans CJK JP"/>
              </a:rPr>
              <a:t>（</a:t>
            </a:r>
            <a:r>
              <a:rPr b="0" lang="en-US" sz="850" spc="-1" strike="noStrike">
                <a:solidFill>
                  <a:srgbClr val="5c6b82"/>
                </a:solidFill>
                <a:latin typeface="Noto Sans CJK JP"/>
              </a:rPr>
              <a:t>near </a:t>
            </a:r>
            <a:r>
              <a:rPr b="0" lang="zh-CN" sz="850" spc="-1" strike="noStrike">
                <a:solidFill>
                  <a:srgbClr val="5c6b82"/>
                </a:solidFill>
                <a:latin typeface="Noto Sans CJK JP"/>
              </a:rPr>
              <a:t>は条件付きのため —）</a:t>
            </a:r>
            <a:endParaRPr b="0" lang="en-US" sz="8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716" name="Line 155"/>
          <p:cNvSpPr/>
          <p:nvPr/>
        </p:nvSpPr>
        <p:spPr>
          <a:xfrm>
            <a:off x="540000" y="6496200"/>
            <a:ext cx="11088000" cy="360"/>
          </a:xfrm>
          <a:prstGeom prst="line">
            <a:avLst/>
          </a:prstGeom>
          <a:ln w="432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7" name="TextShape 156"/>
          <p:cNvSpPr txBox="1"/>
          <p:nvPr/>
        </p:nvSpPr>
        <p:spPr>
          <a:xfrm>
            <a:off x="540000" y="6528600"/>
            <a:ext cx="4320000" cy="155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850" spc="-1" strike="noStrike">
                <a:solidFill>
                  <a:srgbClr val="9cb2ce"/>
                </a:solidFill>
                <a:latin typeface="Noto Sans CJK JP"/>
              </a:rPr>
              <a:t>ProbTF-demo  |  AprilTag implementation overview</a:t>
            </a:r>
            <a:endParaRPr b="0" lang="en-US" sz="850" spc="-1" strike="noStrike">
              <a:solidFill>
                <a:srgbClr val="9cb2ce"/>
              </a:solidFill>
              <a:latin typeface="Noto Sans CJK JP"/>
              <a:ea typeface="Noto Sans CJK JP"/>
            </a:endParaRPr>
          </a:p>
        </p:txBody>
      </p:sp>
      <p:sp>
        <p:nvSpPr>
          <p:cNvPr id="718" name="TextShape 157"/>
          <p:cNvSpPr txBox="1"/>
          <p:nvPr/>
        </p:nvSpPr>
        <p:spPr>
          <a:xfrm>
            <a:off x="11124000" y="6528600"/>
            <a:ext cx="504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r"/>
            <a:r>
              <a:rPr b="1" lang="en-US" sz="900" spc="-1" strike="noStrike">
                <a:solidFill>
                  <a:srgbClr val="2563eb"/>
                </a:solidFill>
                <a:latin typeface="Noto Sans CJK JP"/>
              </a:rPr>
              <a:t>16</a:t>
            </a:r>
            <a:endParaRPr b="1" lang="en-US" sz="9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</p:sp>
      <p:sp>
        <p:nvSpPr>
          <p:cNvPr id="720" name="TextShape 2"/>
          <p:cNvSpPr txBox="1"/>
          <p:nvPr/>
        </p:nvSpPr>
        <p:spPr>
          <a:xfrm>
            <a:off x="540000" y="180000"/>
            <a:ext cx="3240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000" spc="-1" strike="noStrike">
                <a:solidFill>
                  <a:srgbClr val="d97706"/>
                </a:solidFill>
                <a:latin typeface="Noto Sans CJK JP"/>
              </a:rPr>
              <a:t>OBSERVABILITY</a:t>
            </a:r>
            <a:endParaRPr b="1" lang="en-US" sz="1000" spc="-1" strike="noStrike">
              <a:solidFill>
                <a:srgbClr val="d97706"/>
              </a:solidFill>
              <a:latin typeface="Noto Sans CJK JP"/>
              <a:ea typeface="Noto Sans CJK JP"/>
            </a:endParaRPr>
          </a:p>
        </p:txBody>
      </p:sp>
      <p:sp>
        <p:nvSpPr>
          <p:cNvPr id="721" name="TextShape 3"/>
          <p:cNvSpPr txBox="1"/>
          <p:nvPr/>
        </p:nvSpPr>
        <p:spPr>
          <a:xfrm>
            <a:off x="540000" y="367200"/>
            <a:ext cx="10908000" cy="4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小さい平面 </a:t>
            </a:r>
            <a:r>
              <a:rPr b="1" lang="en-US" sz="2500" spc="-1" strike="noStrike">
                <a:solidFill>
                  <a:srgbClr val="152238"/>
                </a:solidFill>
                <a:latin typeface="Noto Sans CJK JP"/>
              </a:rPr>
              <a:t>tag </a:t>
            </a:r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は </a:t>
            </a:r>
            <a:r>
              <a:rPr b="1" lang="en-US" sz="2500" spc="-1" strike="noStrike">
                <a:solidFill>
                  <a:srgbClr val="152238"/>
                </a:solidFill>
                <a:latin typeface="Noto Sans CJK JP"/>
              </a:rPr>
              <a:t>clean image </a:t>
            </a:r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でも </a:t>
            </a:r>
            <a:r>
              <a:rPr b="1" lang="en-US" sz="2500" spc="-1" strike="noStrike">
                <a:solidFill>
                  <a:srgbClr val="152238"/>
                </a:solidFill>
                <a:latin typeface="Noto Sans CJK JP"/>
              </a:rPr>
              <a:t>depth </a:t>
            </a:r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が弱い</a:t>
            </a:r>
            <a:endParaRPr b="1" lang="en-US" sz="25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722" name="TextShape 4"/>
          <p:cNvSpPr txBox="1"/>
          <p:nvPr/>
        </p:nvSpPr>
        <p:spPr>
          <a:xfrm>
            <a:off x="540000" y="709200"/>
            <a:ext cx="10800000" cy="19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1 px 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前後の </a:t>
            </a:r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corner error 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が並進 </a:t>
            </a:r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z 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へ大きく増幅</a:t>
            </a:r>
            <a:endParaRPr b="0" lang="en-US" sz="10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723" name="Line 5"/>
          <p:cNvSpPr/>
          <p:nvPr/>
        </p:nvSpPr>
        <p:spPr>
          <a:xfrm>
            <a:off x="540000" y="910800"/>
            <a:ext cx="11088000" cy="360"/>
          </a:xfrm>
          <a:prstGeom prst="line">
            <a:avLst/>
          </a:prstGeom>
          <a:ln w="54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4" name="Rectangle 6"/>
          <p:cNvSpPr/>
          <p:nvPr/>
        </p:nvSpPr>
        <p:spPr>
          <a:xfrm>
            <a:off x="0" y="0"/>
            <a:ext cx="9360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725" name="Rectangle 7"/>
          <p:cNvSpPr/>
          <p:nvPr/>
        </p:nvSpPr>
        <p:spPr>
          <a:xfrm>
            <a:off x="550800" y="1198800"/>
            <a:ext cx="2930400" cy="22104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pic>
        <p:nvPicPr>
          <p:cNvPr id="726" name="" descr=""/>
          <p:cNvPicPr/>
          <p:nvPr/>
        </p:nvPicPr>
        <p:blipFill>
          <a:blip r:embed="rId1"/>
          <a:stretch/>
        </p:blipFill>
        <p:spPr>
          <a:xfrm>
            <a:off x="576000" y="1224000"/>
            <a:ext cx="2880000" cy="2160000"/>
          </a:xfrm>
          <a:prstGeom prst="rect">
            <a:avLst/>
          </a:prstGeom>
          <a:ln>
            <a:noFill/>
          </a:ln>
        </p:spPr>
      </p:pic>
      <p:sp>
        <p:nvSpPr>
          <p:cNvPr id="727" name="Rectangle 8"/>
          <p:cNvSpPr/>
          <p:nvPr/>
        </p:nvSpPr>
        <p:spPr>
          <a:xfrm>
            <a:off x="3754800" y="1198800"/>
            <a:ext cx="2930400" cy="22104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pic>
        <p:nvPicPr>
          <p:cNvPr id="728" name="" descr=""/>
          <p:cNvPicPr/>
          <p:nvPr/>
        </p:nvPicPr>
        <p:blipFill>
          <a:blip r:embed="rId2"/>
          <a:stretch/>
        </p:blipFill>
        <p:spPr>
          <a:xfrm>
            <a:off x="3780000" y="1224000"/>
            <a:ext cx="2880000" cy="2160000"/>
          </a:xfrm>
          <a:prstGeom prst="rect">
            <a:avLst/>
          </a:prstGeom>
          <a:ln>
            <a:noFill/>
          </a:ln>
        </p:spPr>
      </p:pic>
      <p:sp>
        <p:nvSpPr>
          <p:cNvPr id="729" name="TextShape 9"/>
          <p:cNvSpPr txBox="1"/>
          <p:nvPr/>
        </p:nvSpPr>
        <p:spPr>
          <a:xfrm>
            <a:off x="612000" y="3492000"/>
            <a:ext cx="2808000" cy="155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0" lang="en-US" sz="850" spc="-1" strike="noStrike">
                <a:solidFill>
                  <a:srgbClr val="5c6b82"/>
                </a:solidFill>
                <a:latin typeface="Noto Sans CJK JP"/>
              </a:rPr>
              <a:t>frontal / projected edge ≥ 50 px group</a:t>
            </a:r>
            <a:endParaRPr b="0" lang="en-US" sz="8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730" name="TextShape 10"/>
          <p:cNvSpPr txBox="1"/>
          <p:nvPr/>
        </p:nvSpPr>
        <p:spPr>
          <a:xfrm>
            <a:off x="3816000" y="3492000"/>
            <a:ext cx="2808000" cy="155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Ctr="1">
            <a:noAutofit/>
          </a:bodyPr>
          <a:p>
            <a:pPr algn="ctr"/>
            <a:r>
              <a:rPr b="0" lang="en-US" sz="850" spc="-1" strike="noStrike">
                <a:solidFill>
                  <a:srgbClr val="5c6b82"/>
                </a:solidFill>
                <a:latin typeface="Noto Sans CJK JP"/>
              </a:rPr>
              <a:t>small / projected edge ≈ 29–40 px</a:t>
            </a:r>
            <a:endParaRPr b="0" lang="en-US" sz="8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731" name="Rectangle 11"/>
          <p:cNvSpPr/>
          <p:nvPr/>
        </p:nvSpPr>
        <p:spPr>
          <a:xfrm>
            <a:off x="7056000" y="1224000"/>
            <a:ext cx="4500000" cy="2376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732" name="TextShape 12"/>
          <p:cNvSpPr txBox="1"/>
          <p:nvPr/>
        </p:nvSpPr>
        <p:spPr>
          <a:xfrm>
            <a:off x="7272000" y="1404000"/>
            <a:ext cx="4032000" cy="259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400" spc="-1" strike="noStrike">
                <a:solidFill>
                  <a:srgbClr val="d97706"/>
                </a:solidFill>
                <a:latin typeface="Noto Sans CJK JP"/>
              </a:rPr>
              <a:t>scale comparison</a:t>
            </a:r>
            <a:endParaRPr b="1" lang="en-US" sz="1400" spc="-1" strike="noStrike">
              <a:solidFill>
                <a:srgbClr val="d97706"/>
              </a:solidFill>
              <a:latin typeface="Noto Sans CJK JP"/>
              <a:ea typeface="Noto Sans CJK JP"/>
            </a:endParaRPr>
          </a:p>
        </p:txBody>
      </p:sp>
      <p:sp>
        <p:nvSpPr>
          <p:cNvPr id="733" name="TextShape 13"/>
          <p:cNvSpPr txBox="1"/>
          <p:nvPr/>
        </p:nvSpPr>
        <p:spPr>
          <a:xfrm>
            <a:off x="7272000" y="1800000"/>
            <a:ext cx="1548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000" spc="-1" strike="noStrike">
                <a:solidFill>
                  <a:srgbClr val="059669"/>
                </a:solidFill>
                <a:latin typeface="Noto Sans CJK JP"/>
              </a:rPr>
              <a:t>edge ≥ 50 px</a:t>
            </a:r>
            <a:endParaRPr b="1" lang="en-US" sz="10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734" name="TextShape 14"/>
          <p:cNvSpPr txBox="1"/>
          <p:nvPr/>
        </p:nvSpPr>
        <p:spPr>
          <a:xfrm>
            <a:off x="8892000" y="1800000"/>
            <a:ext cx="2340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r"/>
            <a:r>
              <a:rPr b="1" lang="en-US" sz="1000" spc="-1" strike="noStrike">
                <a:solidFill>
                  <a:srgbClr val="152238"/>
                </a:solidFill>
                <a:latin typeface="Noto Sans CJK JP"/>
              </a:rPr>
              <a:t>16 tags</a:t>
            </a:r>
            <a:endParaRPr b="1" lang="en-US" sz="10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735" name="TextShape 15"/>
          <p:cNvSpPr txBox="1"/>
          <p:nvPr/>
        </p:nvSpPr>
        <p:spPr>
          <a:xfrm>
            <a:off x="7272000" y="2052000"/>
            <a:ext cx="3960000" cy="4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100" spc="-1" strike="noStrike">
                <a:solidFill>
                  <a:srgbClr val="152238"/>
                </a:solidFill>
                <a:latin typeface="Noto Sans CJK JP"/>
              </a:rPr>
              <a:t>corner 0.708 px  /  t 1.95 mm  /  R 0.472°</a:t>
            </a:r>
            <a:endParaRPr b="1" lang="en-US" sz="11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736" name="Line 16"/>
          <p:cNvSpPr/>
          <p:nvPr/>
        </p:nvSpPr>
        <p:spPr>
          <a:xfrm>
            <a:off x="7272000" y="2718000"/>
            <a:ext cx="3960000" cy="360"/>
          </a:xfrm>
          <a:prstGeom prst="line">
            <a:avLst/>
          </a:prstGeom>
          <a:ln w="648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7" name="TextShape 17"/>
          <p:cNvSpPr txBox="1"/>
          <p:nvPr/>
        </p:nvSpPr>
        <p:spPr>
          <a:xfrm>
            <a:off x="7272000" y="2898000"/>
            <a:ext cx="1548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000" spc="-1" strike="noStrike">
                <a:solidFill>
                  <a:srgbClr val="d97706"/>
                </a:solidFill>
                <a:latin typeface="Noto Sans CJK JP"/>
              </a:rPr>
              <a:t>small</a:t>
            </a:r>
            <a:endParaRPr b="1" lang="en-US" sz="1000" spc="-1" strike="noStrike">
              <a:solidFill>
                <a:srgbClr val="d97706"/>
              </a:solidFill>
              <a:latin typeface="Noto Sans CJK JP"/>
              <a:ea typeface="Noto Sans CJK JP"/>
            </a:endParaRPr>
          </a:p>
        </p:txBody>
      </p:sp>
      <p:sp>
        <p:nvSpPr>
          <p:cNvPr id="738" name="TextShape 18"/>
          <p:cNvSpPr txBox="1"/>
          <p:nvPr/>
        </p:nvSpPr>
        <p:spPr>
          <a:xfrm>
            <a:off x="7272000" y="3132000"/>
            <a:ext cx="3960000" cy="23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100" spc="-1" strike="noStrike">
                <a:solidFill>
                  <a:srgbClr val="152238"/>
                </a:solidFill>
                <a:latin typeface="Noto Sans CJK JP"/>
              </a:rPr>
              <a:t>corner 1.924 px  /  t 104.8 mm  /  R 1.206°</a:t>
            </a:r>
            <a:endParaRPr b="1" lang="en-US" sz="11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739" name="Rectangle 19"/>
          <p:cNvSpPr/>
          <p:nvPr/>
        </p:nvSpPr>
        <p:spPr>
          <a:xfrm>
            <a:off x="576000" y="4032000"/>
            <a:ext cx="10980000" cy="1548000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</p:sp>
      <p:sp>
        <p:nvSpPr>
          <p:cNvPr id="740" name="TextShape 20"/>
          <p:cNvSpPr txBox="1"/>
          <p:nvPr/>
        </p:nvSpPr>
        <p:spPr>
          <a:xfrm>
            <a:off x="792000" y="4212000"/>
            <a:ext cx="3276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1300" spc="-1" strike="noStrike">
                <a:solidFill>
                  <a:srgbClr val="8de8f5"/>
                </a:solidFill>
                <a:latin typeface="Noto Sans CJK JP"/>
              </a:rPr>
              <a:t>幾何的な理由</a:t>
            </a:r>
            <a:endParaRPr b="1" lang="en-US" sz="1300" spc="-1" strike="noStrike">
              <a:solidFill>
                <a:srgbClr val="8de8f5"/>
              </a:solidFill>
              <a:latin typeface="Noto Sans CJK JP"/>
              <a:ea typeface="Noto Sans CJK JP"/>
            </a:endParaRPr>
          </a:p>
        </p:txBody>
      </p:sp>
      <p:sp>
        <p:nvSpPr>
          <p:cNvPr id="741" name="TextShape 21"/>
          <p:cNvSpPr txBox="1"/>
          <p:nvPr/>
        </p:nvSpPr>
        <p:spPr>
          <a:xfrm>
            <a:off x="792000" y="4580640"/>
            <a:ext cx="3276000" cy="5857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Mono CJK JP"/>
              </a:rPr>
              <a:t>projected size ℓ ≈ fL/Z</a:t>
            </a:r>
            <a:endParaRPr b="1" lang="en-US" sz="1600" spc="-1" strike="noStrike">
              <a:solidFill>
                <a:srgbClr val="ffffff"/>
              </a:solidFill>
              <a:latin typeface="Noto Sans Mono CJK JP"/>
              <a:ea typeface="Noto Sans Mono CJK JP"/>
            </a:endParaRPr>
          </a:p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Mono CJK JP"/>
              </a:rPr>
              <a:t>δZ ≈ Z²/(fL) · δℓ</a:t>
            </a:r>
            <a:endParaRPr b="1" lang="en-US" sz="1600" spc="-1" strike="noStrike">
              <a:solidFill>
                <a:srgbClr val="ffffff"/>
              </a:solidFill>
              <a:latin typeface="Noto Sans Mono CJK JP"/>
              <a:ea typeface="Noto Sans Mono CJK JP"/>
            </a:endParaRPr>
          </a:p>
        </p:txBody>
      </p:sp>
      <p:sp>
        <p:nvSpPr>
          <p:cNvPr id="742" name="Line 22"/>
          <p:cNvSpPr/>
          <p:nvPr/>
        </p:nvSpPr>
        <p:spPr>
          <a:xfrm>
            <a:off x="4464000" y="4284000"/>
            <a:ext cx="360" cy="972000"/>
          </a:xfrm>
          <a:prstGeom prst="line">
            <a:avLst/>
          </a:prstGeom>
          <a:ln w="7200">
            <a:solidFill>
              <a:srgbClr val="1c335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3" name="TextShape 23"/>
          <p:cNvSpPr txBox="1"/>
          <p:nvPr/>
        </p:nvSpPr>
        <p:spPr>
          <a:xfrm>
            <a:off x="4824000" y="4212000"/>
            <a:ext cx="6120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1300" spc="-1" strike="noStrike">
                <a:solidFill>
                  <a:srgbClr val="8de8f5"/>
                </a:solidFill>
                <a:latin typeface="Noto Sans CJK JP"/>
              </a:rPr>
              <a:t>実画像へ持ち込むとき</a:t>
            </a:r>
            <a:endParaRPr b="1" lang="en-US" sz="1300" spc="-1" strike="noStrike">
              <a:solidFill>
                <a:srgbClr val="8de8f5"/>
              </a:solidFill>
              <a:latin typeface="Noto Sans CJK JP"/>
              <a:ea typeface="Noto Sans CJK JP"/>
            </a:endParaRPr>
          </a:p>
        </p:txBody>
      </p:sp>
      <p:sp>
        <p:nvSpPr>
          <p:cNvPr id="744" name="TextShape 24"/>
          <p:cNvSpPr txBox="1"/>
          <p:nvPr/>
        </p:nvSpPr>
        <p:spPr>
          <a:xfrm>
            <a:off x="4824000" y="4536000"/>
            <a:ext cx="6120000" cy="6634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200" spc="-1" strike="noStrike">
                <a:solidFill>
                  <a:srgbClr val="ffffff"/>
                </a:solidFill>
                <a:latin typeface="Noto Sans CJK JP"/>
              </a:rPr>
              <a:t>1  projected-size gate</a:t>
            </a:r>
            <a:endParaRPr b="0" lang="en-US" sz="12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  <a:p>
            <a:r>
              <a:rPr b="0" lang="en-US" sz="1200" spc="-1" strike="noStrike">
                <a:solidFill>
                  <a:srgbClr val="ffffff"/>
                </a:solidFill>
                <a:latin typeface="Noto Sans CJK JP"/>
              </a:rPr>
              <a:t>2  </a:t>
            </a:r>
            <a:r>
              <a:rPr b="0" lang="zh-CN" sz="1200" spc="-1" strike="noStrike">
                <a:solidFill>
                  <a:srgbClr val="ffffff"/>
                </a:solidFill>
                <a:latin typeface="Noto Sans CJK JP"/>
              </a:rPr>
              <a:t>複数 </a:t>
            </a:r>
            <a:r>
              <a:rPr b="0" lang="en-US" sz="1200" spc="-1" strike="noStrike">
                <a:solidFill>
                  <a:srgbClr val="ffffff"/>
                </a:solidFill>
                <a:latin typeface="Noto Sans CJK JP"/>
              </a:rPr>
              <a:t>frame </a:t>
            </a:r>
            <a:r>
              <a:rPr b="0" lang="zh-CN" sz="1200" spc="-1" strike="noStrike">
                <a:solidFill>
                  <a:srgbClr val="ffffff"/>
                </a:solidFill>
                <a:latin typeface="Noto Sans CJK JP"/>
              </a:rPr>
              <a:t>の </a:t>
            </a:r>
            <a:r>
              <a:rPr b="0" lang="en-US" sz="1200" spc="-1" strike="noStrike">
                <a:solidFill>
                  <a:srgbClr val="ffffff"/>
                </a:solidFill>
                <a:latin typeface="Noto Sans CJK JP"/>
              </a:rPr>
              <a:t>ProbTF fusion</a:t>
            </a:r>
            <a:endParaRPr b="0" lang="en-US" sz="12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  <a:p>
            <a:r>
              <a:rPr b="0" lang="en-US" sz="1200" spc="-1" strike="noStrike">
                <a:solidFill>
                  <a:srgbClr val="ffffff"/>
                </a:solidFill>
                <a:latin typeface="Noto Sans CJK JP"/>
              </a:rPr>
              <a:t>3  IMU / depth / multi-tag constraint</a:t>
            </a:r>
            <a:endParaRPr b="0" lang="en-US" sz="12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745" name="Line 25"/>
          <p:cNvSpPr/>
          <p:nvPr/>
        </p:nvSpPr>
        <p:spPr>
          <a:xfrm>
            <a:off x="540000" y="6496200"/>
            <a:ext cx="11088000" cy="360"/>
          </a:xfrm>
          <a:prstGeom prst="line">
            <a:avLst/>
          </a:prstGeom>
          <a:ln w="432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6" name="TextShape 26"/>
          <p:cNvSpPr txBox="1"/>
          <p:nvPr/>
        </p:nvSpPr>
        <p:spPr>
          <a:xfrm>
            <a:off x="540000" y="6528600"/>
            <a:ext cx="4320000" cy="155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850" spc="-1" strike="noStrike">
                <a:solidFill>
                  <a:srgbClr val="9cb2ce"/>
                </a:solidFill>
                <a:latin typeface="Noto Sans CJK JP"/>
              </a:rPr>
              <a:t>ProbTF-demo  |  AprilTag implementation overview</a:t>
            </a:r>
            <a:endParaRPr b="0" lang="en-US" sz="850" spc="-1" strike="noStrike">
              <a:solidFill>
                <a:srgbClr val="9cb2ce"/>
              </a:solidFill>
              <a:latin typeface="Noto Sans CJK JP"/>
              <a:ea typeface="Noto Sans CJK JP"/>
            </a:endParaRPr>
          </a:p>
        </p:txBody>
      </p:sp>
      <p:sp>
        <p:nvSpPr>
          <p:cNvPr id="747" name="TextShape 27"/>
          <p:cNvSpPr txBox="1"/>
          <p:nvPr/>
        </p:nvSpPr>
        <p:spPr>
          <a:xfrm>
            <a:off x="11124000" y="6528600"/>
            <a:ext cx="504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r"/>
            <a:r>
              <a:rPr b="1" lang="en-US" sz="900" spc="-1" strike="noStrike">
                <a:solidFill>
                  <a:srgbClr val="2563eb"/>
                </a:solidFill>
                <a:latin typeface="Noto Sans CJK JP"/>
              </a:rPr>
              <a:t>17</a:t>
            </a:r>
            <a:endParaRPr b="1" lang="en-US" sz="9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</p:sp>
      <p:sp>
        <p:nvSpPr>
          <p:cNvPr id="749" name="TextShape 2"/>
          <p:cNvSpPr txBox="1"/>
          <p:nvPr/>
        </p:nvSpPr>
        <p:spPr>
          <a:xfrm>
            <a:off x="540000" y="180000"/>
            <a:ext cx="3240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000" spc="-1" strike="noStrike">
                <a:solidFill>
                  <a:srgbClr val="dc2626"/>
                </a:solidFill>
                <a:latin typeface="Noto Sans CJK JP"/>
              </a:rPr>
              <a:t>FAILURE BOUNDARY</a:t>
            </a:r>
            <a:endParaRPr b="1" lang="en-US" sz="100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</p:txBody>
      </p:sp>
      <p:sp>
        <p:nvSpPr>
          <p:cNvPr id="750" name="TextShape 3"/>
          <p:cNvSpPr txBox="1"/>
          <p:nvPr/>
        </p:nvSpPr>
        <p:spPr>
          <a:xfrm>
            <a:off x="540000" y="367200"/>
            <a:ext cx="10908000" cy="4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強い遮蔽：</a:t>
            </a:r>
            <a:r>
              <a:rPr b="1" lang="en-US" sz="2500" spc="-1" strike="noStrike">
                <a:solidFill>
                  <a:srgbClr val="152238"/>
                </a:solidFill>
                <a:latin typeface="Noto Sans CJK JP"/>
              </a:rPr>
              <a:t>0 / 3 </a:t>
            </a:r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検出、ただし安全に </a:t>
            </a:r>
            <a:r>
              <a:rPr b="1" lang="en-US" sz="2500" spc="-1" strike="noStrike">
                <a:solidFill>
                  <a:srgbClr val="152238"/>
                </a:solidFill>
                <a:latin typeface="Noto Sans CJK JP"/>
              </a:rPr>
              <a:t>missed </a:t>
            </a:r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と記録</a:t>
            </a:r>
            <a:endParaRPr b="1" lang="en-US" sz="25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751" name="TextShape 4"/>
          <p:cNvSpPr txBox="1"/>
          <p:nvPr/>
        </p:nvSpPr>
        <p:spPr>
          <a:xfrm>
            <a:off x="540000" y="709200"/>
            <a:ext cx="10800000" cy="19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recall 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達成ではなく、検出不能入力で </a:t>
            </a:r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node / benchmark 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が壊れない確認</a:t>
            </a:r>
            <a:endParaRPr b="0" lang="en-US" sz="10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752" name="Line 5"/>
          <p:cNvSpPr/>
          <p:nvPr/>
        </p:nvSpPr>
        <p:spPr>
          <a:xfrm>
            <a:off x="540000" y="910800"/>
            <a:ext cx="11088000" cy="360"/>
          </a:xfrm>
          <a:prstGeom prst="line">
            <a:avLst/>
          </a:prstGeom>
          <a:ln w="54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3" name="Rectangle 6"/>
          <p:cNvSpPr/>
          <p:nvPr/>
        </p:nvSpPr>
        <p:spPr>
          <a:xfrm>
            <a:off x="0" y="0"/>
            <a:ext cx="936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754" name="Rectangle 7"/>
          <p:cNvSpPr/>
          <p:nvPr/>
        </p:nvSpPr>
        <p:spPr>
          <a:xfrm>
            <a:off x="550800" y="1216800"/>
            <a:ext cx="3736800" cy="28152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pic>
        <p:nvPicPr>
          <p:cNvPr id="755" name="" descr=""/>
          <p:cNvPicPr/>
          <p:nvPr/>
        </p:nvPicPr>
        <p:blipFill>
          <a:blip r:embed="rId1"/>
          <a:stretch/>
        </p:blipFill>
        <p:spPr>
          <a:xfrm>
            <a:off x="576000" y="1242000"/>
            <a:ext cx="3686400" cy="2764800"/>
          </a:xfrm>
          <a:prstGeom prst="rect">
            <a:avLst/>
          </a:prstGeom>
          <a:ln>
            <a:noFill/>
          </a:ln>
        </p:spPr>
      </p:pic>
      <p:sp>
        <p:nvSpPr>
          <p:cNvPr id="756" name="Rectangle 8"/>
          <p:cNvSpPr/>
          <p:nvPr/>
        </p:nvSpPr>
        <p:spPr>
          <a:xfrm>
            <a:off x="4644000" y="1260000"/>
            <a:ext cx="1980000" cy="756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757" name="Rectangle 9"/>
          <p:cNvSpPr/>
          <p:nvPr/>
        </p:nvSpPr>
        <p:spPr>
          <a:xfrm>
            <a:off x="4644000" y="1260000"/>
            <a:ext cx="28800" cy="75600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758" name="TextShape 10"/>
          <p:cNvSpPr txBox="1"/>
          <p:nvPr/>
        </p:nvSpPr>
        <p:spPr>
          <a:xfrm>
            <a:off x="4795200" y="1360800"/>
            <a:ext cx="1728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000" spc="-1" strike="noStrike">
                <a:solidFill>
                  <a:srgbClr val="5c6b82"/>
                </a:solidFill>
                <a:latin typeface="Noto Sans CJK JP"/>
              </a:rPr>
              <a:t>detections</a:t>
            </a:r>
            <a:endParaRPr b="1" lang="en-US" sz="10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759" name="TextShape 11"/>
          <p:cNvSpPr txBox="1"/>
          <p:nvPr/>
        </p:nvSpPr>
        <p:spPr>
          <a:xfrm>
            <a:off x="4795200" y="1533600"/>
            <a:ext cx="1728000" cy="44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2400" spc="-1" strike="noStrike">
                <a:solidFill>
                  <a:srgbClr val="dc2626"/>
                </a:solidFill>
                <a:latin typeface="Noto Sans CJK JP"/>
              </a:rPr>
              <a:t>0</a:t>
            </a:r>
            <a:endParaRPr b="1" lang="en-US" sz="240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</p:txBody>
      </p:sp>
      <p:sp>
        <p:nvSpPr>
          <p:cNvPr id="760" name="Rectangle 12"/>
          <p:cNvSpPr/>
          <p:nvPr/>
        </p:nvSpPr>
        <p:spPr>
          <a:xfrm>
            <a:off x="6876000" y="1260000"/>
            <a:ext cx="1980000" cy="756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761" name="Rectangle 13"/>
          <p:cNvSpPr/>
          <p:nvPr/>
        </p:nvSpPr>
        <p:spPr>
          <a:xfrm>
            <a:off x="6876000" y="1260000"/>
            <a:ext cx="28800" cy="7560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762" name="TextShape 14"/>
          <p:cNvSpPr txBox="1"/>
          <p:nvPr/>
        </p:nvSpPr>
        <p:spPr>
          <a:xfrm>
            <a:off x="7027200" y="1360800"/>
            <a:ext cx="1728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000" spc="-1" strike="noStrike">
                <a:solidFill>
                  <a:srgbClr val="5c6b82"/>
                </a:solidFill>
                <a:latin typeface="Noto Sans CJK JP"/>
              </a:rPr>
              <a:t>missed</a:t>
            </a:r>
            <a:endParaRPr b="1" lang="en-US" sz="10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763" name="TextShape 15"/>
          <p:cNvSpPr txBox="1"/>
          <p:nvPr/>
        </p:nvSpPr>
        <p:spPr>
          <a:xfrm>
            <a:off x="7027200" y="1533600"/>
            <a:ext cx="1728000" cy="44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2400" spc="-1" strike="noStrike">
                <a:solidFill>
                  <a:srgbClr val="d97706"/>
                </a:solidFill>
                <a:latin typeface="Noto Sans CJK JP"/>
              </a:rPr>
              <a:t>3</a:t>
            </a:r>
            <a:endParaRPr b="1" lang="en-US" sz="2400" spc="-1" strike="noStrike">
              <a:solidFill>
                <a:srgbClr val="d97706"/>
              </a:solidFill>
              <a:latin typeface="Noto Sans CJK JP"/>
              <a:ea typeface="Noto Sans CJK JP"/>
            </a:endParaRPr>
          </a:p>
        </p:txBody>
      </p:sp>
      <p:sp>
        <p:nvSpPr>
          <p:cNvPr id="764" name="Rectangle 16"/>
          <p:cNvSpPr/>
          <p:nvPr/>
        </p:nvSpPr>
        <p:spPr>
          <a:xfrm>
            <a:off x="9108000" y="1260000"/>
            <a:ext cx="2340000" cy="756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765" name="Rectangle 17"/>
          <p:cNvSpPr/>
          <p:nvPr/>
        </p:nvSpPr>
        <p:spPr>
          <a:xfrm>
            <a:off x="9108000" y="1260000"/>
            <a:ext cx="28800" cy="75600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766" name="TextShape 18"/>
          <p:cNvSpPr txBox="1"/>
          <p:nvPr/>
        </p:nvSpPr>
        <p:spPr>
          <a:xfrm>
            <a:off x="9259200" y="1360800"/>
            <a:ext cx="2088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000" spc="-1" strike="noStrike">
                <a:solidFill>
                  <a:srgbClr val="5c6b82"/>
                </a:solidFill>
                <a:latin typeface="Noto Sans CJK JP"/>
              </a:rPr>
              <a:t>frame errors</a:t>
            </a:r>
            <a:endParaRPr b="1" lang="en-US" sz="100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767" name="TextShape 19"/>
          <p:cNvSpPr txBox="1"/>
          <p:nvPr/>
        </p:nvSpPr>
        <p:spPr>
          <a:xfrm>
            <a:off x="9259200" y="1533600"/>
            <a:ext cx="2088000" cy="442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2400" spc="-1" strike="noStrike">
                <a:solidFill>
                  <a:srgbClr val="059669"/>
                </a:solidFill>
                <a:latin typeface="Noto Sans CJK JP"/>
              </a:rPr>
              <a:t>0</a:t>
            </a:r>
            <a:endParaRPr b="1" lang="en-US" sz="24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768" name="Rectangle 20"/>
          <p:cNvSpPr/>
          <p:nvPr/>
        </p:nvSpPr>
        <p:spPr>
          <a:xfrm>
            <a:off x="4644000" y="2304000"/>
            <a:ext cx="6804000" cy="1692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769" name="TextShape 21"/>
          <p:cNvSpPr txBox="1"/>
          <p:nvPr/>
        </p:nvSpPr>
        <p:spPr>
          <a:xfrm>
            <a:off x="4860000" y="2484000"/>
            <a:ext cx="6336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300" spc="-1" strike="noStrike">
                <a:solidFill>
                  <a:srgbClr val="dc2626"/>
                </a:solidFill>
                <a:latin typeface="Noto Sans CJK JP"/>
              </a:rPr>
              <a:t>graceful handling</a:t>
            </a:r>
            <a:endParaRPr b="1" lang="en-US" sz="1300" spc="-1" strike="noStrike">
              <a:solidFill>
                <a:srgbClr val="dc2626"/>
              </a:solidFill>
              <a:latin typeface="Noto Sans CJK JP"/>
              <a:ea typeface="Noto Sans CJK JP"/>
            </a:endParaRPr>
          </a:p>
        </p:txBody>
      </p:sp>
      <p:sp>
        <p:nvSpPr>
          <p:cNvPr id="770" name="TextShape 22"/>
          <p:cNvSpPr txBox="1"/>
          <p:nvPr/>
        </p:nvSpPr>
        <p:spPr>
          <a:xfrm>
            <a:off x="4860000" y="2826000"/>
            <a:ext cx="6336000" cy="8485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150" spc="-1" strike="noStrike">
                <a:solidFill>
                  <a:srgbClr val="152238"/>
                </a:solidFill>
                <a:latin typeface="Noto Sans CJK JP"/>
              </a:rPr>
              <a:t>• </a:t>
            </a:r>
            <a:r>
              <a:rPr b="0" lang="en-US" sz="1150" spc="-1" strike="noStrike">
                <a:solidFill>
                  <a:srgbClr val="152238"/>
                </a:solidFill>
                <a:latin typeface="Noto Sans CJK JP"/>
              </a:rPr>
              <a:t>no corners → no IPPE → no invalid ProbTF edge</a:t>
            </a:r>
            <a:endParaRPr b="0" lang="en-US" sz="115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  <a:p>
            <a:r>
              <a:rPr b="0" lang="en-US" sz="1150" spc="-1" strike="noStrike">
                <a:solidFill>
                  <a:srgbClr val="152238"/>
                </a:solidFill>
                <a:latin typeface="Noto Sans CJK JP"/>
              </a:rPr>
              <a:t>• </a:t>
            </a:r>
            <a:r>
              <a:rPr b="0" lang="en-US" sz="1150" spc="-1" strike="noStrike">
                <a:solidFill>
                  <a:srgbClr val="152238"/>
                </a:solidFill>
                <a:latin typeface="Noto Sans CJK JP"/>
              </a:rPr>
              <a:t>false positive = 0</a:t>
            </a:r>
            <a:endParaRPr b="0" lang="en-US" sz="115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  <a:p>
            <a:r>
              <a:rPr b="0" lang="en-US" sz="1150" spc="-1" strike="noStrike">
                <a:solidFill>
                  <a:srgbClr val="152238"/>
                </a:solidFill>
                <a:latin typeface="Noto Sans CJK JP"/>
              </a:rPr>
              <a:t>• </a:t>
            </a:r>
            <a:r>
              <a:rPr b="0" lang="en-US" sz="1150" spc="-1" strike="noStrike">
                <a:solidFill>
                  <a:srgbClr val="152238"/>
                </a:solidFill>
                <a:latin typeface="Noto Sans CJK JP"/>
              </a:rPr>
              <a:t>report row </a:t>
            </a:r>
            <a:r>
              <a:rPr b="0" lang="zh-CN" sz="1150" spc="-1" strike="noStrike">
                <a:solidFill>
                  <a:srgbClr val="152238"/>
                </a:solidFill>
                <a:latin typeface="Noto Sans CJK JP"/>
              </a:rPr>
              <a:t>は </a:t>
            </a:r>
            <a:r>
              <a:rPr b="0" lang="en-US" sz="1150" spc="-1" strike="noStrike">
                <a:solidFill>
                  <a:srgbClr val="152238"/>
                </a:solidFill>
                <a:latin typeface="Noto Sans CJK JP"/>
              </a:rPr>
              <a:t>null / missed </a:t>
            </a:r>
            <a:r>
              <a:rPr b="0" lang="zh-CN" sz="1150" spc="-1" strike="noStrike">
                <a:solidFill>
                  <a:srgbClr val="152238"/>
                </a:solidFill>
                <a:latin typeface="Noto Sans CJK JP"/>
              </a:rPr>
              <a:t>を明示</a:t>
            </a:r>
            <a:endParaRPr b="0" lang="en-US" sz="115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  <a:p>
            <a:r>
              <a:rPr b="0" lang="en-US" sz="1150" spc="-1" strike="noStrike">
                <a:solidFill>
                  <a:srgbClr val="152238"/>
                </a:solidFill>
                <a:latin typeface="Noto Sans CJK JP"/>
              </a:rPr>
              <a:t>• </a:t>
            </a:r>
            <a:r>
              <a:rPr b="0" lang="en-US" sz="1150" spc="-1" strike="noStrike">
                <a:solidFill>
                  <a:srgbClr val="152238"/>
                </a:solidFill>
                <a:latin typeface="Noto Sans CJK JP"/>
              </a:rPr>
              <a:t>overlay </a:t>
            </a:r>
            <a:r>
              <a:rPr b="0" lang="zh-CN" sz="1150" spc="-1" strike="noStrike">
                <a:solidFill>
                  <a:srgbClr val="152238"/>
                </a:solidFill>
                <a:latin typeface="Noto Sans CJK JP"/>
              </a:rPr>
              <a:t>生成も例外なし</a:t>
            </a:r>
            <a:endParaRPr b="0" lang="en-US" sz="115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771" name="Rectangle 23"/>
          <p:cNvSpPr/>
          <p:nvPr/>
        </p:nvSpPr>
        <p:spPr>
          <a:xfrm>
            <a:off x="576000" y="4464000"/>
            <a:ext cx="10980000" cy="1188000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</p:sp>
      <p:sp>
        <p:nvSpPr>
          <p:cNvPr id="772" name="TextShape 24"/>
          <p:cNvSpPr txBox="1"/>
          <p:nvPr/>
        </p:nvSpPr>
        <p:spPr>
          <a:xfrm>
            <a:off x="792000" y="4626000"/>
            <a:ext cx="18720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1200" spc="-1" strike="noStrike">
                <a:solidFill>
                  <a:srgbClr val="8de8f5"/>
                </a:solidFill>
                <a:latin typeface="Noto Sans CJK JP"/>
              </a:rPr>
              <a:t>未評価 </a:t>
            </a:r>
            <a:r>
              <a:rPr b="1" lang="en-US" sz="1200" spc="-1" strike="noStrike">
                <a:solidFill>
                  <a:srgbClr val="8de8f5"/>
                </a:solidFill>
                <a:latin typeface="Noto Sans CJK JP"/>
              </a:rPr>
              <a:t>/ limits</a:t>
            </a:r>
            <a:endParaRPr b="1" lang="en-US" sz="1200" spc="-1" strike="noStrike">
              <a:solidFill>
                <a:srgbClr val="8de8f5"/>
              </a:solidFill>
              <a:latin typeface="Noto Sans CJK JP"/>
              <a:ea typeface="Noto Sans CJK JP"/>
            </a:endParaRPr>
          </a:p>
        </p:txBody>
      </p:sp>
      <p:sp>
        <p:nvSpPr>
          <p:cNvPr id="773" name="Ellipse 25"/>
          <p:cNvSpPr/>
          <p:nvPr/>
        </p:nvSpPr>
        <p:spPr>
          <a:xfrm>
            <a:off x="792000" y="4896000"/>
            <a:ext cx="154800" cy="1548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774" name="TextShape 26"/>
          <p:cNvSpPr txBox="1"/>
          <p:nvPr/>
        </p:nvSpPr>
        <p:spPr>
          <a:xfrm>
            <a:off x="1044000" y="4888800"/>
            <a:ext cx="4608000" cy="19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zh-CN" sz="1050" spc="-1" strike="noStrike">
                <a:solidFill>
                  <a:srgbClr val="ffffff"/>
                </a:solidFill>
                <a:latin typeface="Noto Sans CJK JP"/>
              </a:rPr>
              <a:t>実 </a:t>
            </a:r>
            <a:r>
              <a:rPr b="0" lang="en-US" sz="1050" spc="-1" strike="noStrike">
                <a:solidFill>
                  <a:srgbClr val="ffffff"/>
                </a:solidFill>
                <a:latin typeface="Noto Sans CJK JP"/>
              </a:rPr>
              <a:t>camera calibration</a:t>
            </a:r>
            <a:r>
              <a:rPr b="0" lang="zh-CN" sz="1050" spc="-1" strike="noStrike">
                <a:solidFill>
                  <a:srgbClr val="ffffff"/>
                </a:solidFill>
                <a:latin typeface="Noto Sans CJK JP"/>
              </a:rPr>
              <a:t>・</a:t>
            </a:r>
            <a:r>
              <a:rPr b="0" lang="en-US" sz="1050" spc="-1" strike="noStrike">
                <a:solidFill>
                  <a:srgbClr val="ffffff"/>
                </a:solidFill>
                <a:latin typeface="Noto Sans CJK JP"/>
              </a:rPr>
              <a:t>printer</a:t>
            </a:r>
            <a:r>
              <a:rPr b="0" lang="zh-CN" sz="1050" spc="-1" strike="noStrike">
                <a:solidFill>
                  <a:srgbClr val="ffffff"/>
                </a:solidFill>
                <a:latin typeface="Noto Sans CJK JP"/>
              </a:rPr>
              <a:t>・</a:t>
            </a:r>
            <a:r>
              <a:rPr b="0" lang="en-US" sz="1050" spc="-1" strike="noStrike">
                <a:solidFill>
                  <a:srgbClr val="ffffff"/>
                </a:solidFill>
                <a:latin typeface="Noto Sans CJK JP"/>
              </a:rPr>
              <a:t>optics</a:t>
            </a:r>
            <a:endParaRPr b="0" lang="en-US" sz="105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775" name="Ellipse 27"/>
          <p:cNvSpPr/>
          <p:nvPr/>
        </p:nvSpPr>
        <p:spPr>
          <a:xfrm>
            <a:off x="6012000" y="4896000"/>
            <a:ext cx="154800" cy="1548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776" name="TextShape 28"/>
          <p:cNvSpPr txBox="1"/>
          <p:nvPr/>
        </p:nvSpPr>
        <p:spPr>
          <a:xfrm>
            <a:off x="6264000" y="4888800"/>
            <a:ext cx="4608000" cy="19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zh-CN" sz="1050" spc="-1" strike="noStrike">
                <a:solidFill>
                  <a:srgbClr val="ffffff"/>
                </a:solidFill>
                <a:latin typeface="Noto Sans CJK JP"/>
              </a:rPr>
              <a:t>複合 </a:t>
            </a:r>
            <a:r>
              <a:rPr b="0" lang="en-US" sz="1050" spc="-1" strike="noStrike">
                <a:solidFill>
                  <a:srgbClr val="ffffff"/>
                </a:solidFill>
                <a:latin typeface="Noto Sans CJK JP"/>
              </a:rPr>
              <a:t>degradation </a:t>
            </a:r>
            <a:r>
              <a:rPr b="0" lang="zh-CN" sz="1050" spc="-1" strike="noStrike">
                <a:solidFill>
                  <a:srgbClr val="ffffff"/>
                </a:solidFill>
                <a:latin typeface="Noto Sans CJK JP"/>
              </a:rPr>
              <a:t>下の </a:t>
            </a:r>
            <a:r>
              <a:rPr b="0" lang="en-US" sz="1050" spc="-1" strike="noStrike">
                <a:solidFill>
                  <a:srgbClr val="ffffff"/>
                </a:solidFill>
                <a:latin typeface="Noto Sans CJK JP"/>
              </a:rPr>
              <a:t>recall</a:t>
            </a:r>
            <a:endParaRPr b="0" lang="en-US" sz="105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777" name="Ellipse 29"/>
          <p:cNvSpPr/>
          <p:nvPr/>
        </p:nvSpPr>
        <p:spPr>
          <a:xfrm>
            <a:off x="792000" y="5220000"/>
            <a:ext cx="154800" cy="1548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778" name="TextShape 30"/>
          <p:cNvSpPr txBox="1"/>
          <p:nvPr/>
        </p:nvSpPr>
        <p:spPr>
          <a:xfrm>
            <a:off x="1044000" y="5212800"/>
            <a:ext cx="4608000" cy="19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050" spc="-1" strike="noStrike">
                <a:solidFill>
                  <a:srgbClr val="ffffff"/>
                </a:solidFill>
                <a:latin typeface="Noto Sans CJK JP"/>
              </a:rPr>
              <a:t>mixture weight </a:t>
            </a:r>
            <a:r>
              <a:rPr b="0" lang="zh-CN" sz="1050" spc="-1" strike="noStrike">
                <a:solidFill>
                  <a:srgbClr val="ffffff"/>
                </a:solidFill>
                <a:latin typeface="Noto Sans CJK JP"/>
              </a:rPr>
              <a:t>の </a:t>
            </a:r>
            <a:r>
              <a:rPr b="0" lang="en-US" sz="1050" spc="-1" strike="noStrike">
                <a:solidFill>
                  <a:srgbClr val="ffffff"/>
                </a:solidFill>
                <a:latin typeface="Noto Sans CJK JP"/>
              </a:rPr>
              <a:t>coverage / NLL</a:t>
            </a:r>
            <a:endParaRPr b="0" lang="en-US" sz="105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779" name="Ellipse 31"/>
          <p:cNvSpPr/>
          <p:nvPr/>
        </p:nvSpPr>
        <p:spPr>
          <a:xfrm>
            <a:off x="6012000" y="5220000"/>
            <a:ext cx="154800" cy="1548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780" name="TextShape 32"/>
          <p:cNvSpPr txBox="1"/>
          <p:nvPr/>
        </p:nvSpPr>
        <p:spPr>
          <a:xfrm>
            <a:off x="6264000" y="5212800"/>
            <a:ext cx="4608000" cy="19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zh-CN" sz="1050" spc="-1" strike="noStrike">
                <a:solidFill>
                  <a:srgbClr val="ffffff"/>
                </a:solidFill>
                <a:latin typeface="Noto Sans CJK JP"/>
              </a:rPr>
              <a:t>連続時系列の </a:t>
            </a:r>
            <a:r>
              <a:rPr b="0" lang="en-US" sz="1050" spc="-1" strike="noStrike">
                <a:solidFill>
                  <a:srgbClr val="ffffff"/>
                </a:solidFill>
                <a:latin typeface="Noto Sans CJK JP"/>
              </a:rPr>
              <a:t>graph fusion</a:t>
            </a:r>
            <a:endParaRPr b="0" lang="en-US" sz="105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781" name="Line 33"/>
          <p:cNvSpPr/>
          <p:nvPr/>
        </p:nvSpPr>
        <p:spPr>
          <a:xfrm>
            <a:off x="540000" y="6496200"/>
            <a:ext cx="11088000" cy="360"/>
          </a:xfrm>
          <a:prstGeom prst="line">
            <a:avLst/>
          </a:prstGeom>
          <a:ln w="432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2" name="TextShape 34"/>
          <p:cNvSpPr txBox="1"/>
          <p:nvPr/>
        </p:nvSpPr>
        <p:spPr>
          <a:xfrm>
            <a:off x="540000" y="6528600"/>
            <a:ext cx="4320000" cy="155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850" spc="-1" strike="noStrike">
                <a:solidFill>
                  <a:srgbClr val="9cb2ce"/>
                </a:solidFill>
                <a:latin typeface="Noto Sans CJK JP"/>
              </a:rPr>
              <a:t>ProbTF-demo  |  AprilTag implementation overview</a:t>
            </a:r>
            <a:endParaRPr b="0" lang="en-US" sz="850" spc="-1" strike="noStrike">
              <a:solidFill>
                <a:srgbClr val="9cb2ce"/>
              </a:solidFill>
              <a:latin typeface="Noto Sans CJK JP"/>
              <a:ea typeface="Noto Sans CJK JP"/>
            </a:endParaRPr>
          </a:p>
        </p:txBody>
      </p:sp>
      <p:sp>
        <p:nvSpPr>
          <p:cNvPr id="783" name="TextShape 35"/>
          <p:cNvSpPr txBox="1"/>
          <p:nvPr/>
        </p:nvSpPr>
        <p:spPr>
          <a:xfrm>
            <a:off x="11124000" y="6528600"/>
            <a:ext cx="504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r"/>
            <a:r>
              <a:rPr b="1" lang="en-US" sz="900" spc="-1" strike="noStrike">
                <a:solidFill>
                  <a:srgbClr val="2563eb"/>
                </a:solidFill>
                <a:latin typeface="Noto Sans CJK JP"/>
              </a:rPr>
              <a:t>18</a:t>
            </a:r>
            <a:endParaRPr b="1" lang="en-US" sz="9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</p:sp>
      <p:sp>
        <p:nvSpPr>
          <p:cNvPr id="785" name="TextShape 2"/>
          <p:cNvSpPr txBox="1"/>
          <p:nvPr/>
        </p:nvSpPr>
        <p:spPr>
          <a:xfrm>
            <a:off x="540000" y="180000"/>
            <a:ext cx="3240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000" spc="-1" strike="noStrike">
                <a:solidFill>
                  <a:srgbClr val="2563eb"/>
                </a:solidFill>
                <a:latin typeface="Noto Sans CJK JP"/>
              </a:rPr>
              <a:t>REPRODUCE &amp; HANDOFF</a:t>
            </a:r>
            <a:endParaRPr b="1" lang="en-US" sz="10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786" name="TextShape 3"/>
          <p:cNvSpPr txBox="1"/>
          <p:nvPr/>
        </p:nvSpPr>
        <p:spPr>
          <a:xfrm>
            <a:off x="540000" y="367200"/>
            <a:ext cx="10908000" cy="4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同じ </a:t>
            </a:r>
            <a:r>
              <a:rPr b="1" lang="en-US" sz="2500" spc="-1" strike="noStrike">
                <a:solidFill>
                  <a:srgbClr val="152238"/>
                </a:solidFill>
                <a:latin typeface="Noto Sans CJK JP"/>
              </a:rPr>
              <a:t>seed</a:t>
            </a:r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・</a:t>
            </a:r>
            <a:r>
              <a:rPr b="1" lang="en-US" sz="2500" spc="-1" strike="noStrike">
                <a:solidFill>
                  <a:srgbClr val="152238"/>
                </a:solidFill>
                <a:latin typeface="Noto Sans CJK JP"/>
              </a:rPr>
              <a:t>config</a:t>
            </a:r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・</a:t>
            </a:r>
            <a:r>
              <a:rPr b="1" lang="en-US" sz="2500" spc="-1" strike="noStrike">
                <a:solidFill>
                  <a:srgbClr val="152238"/>
                </a:solidFill>
                <a:latin typeface="Noto Sans CJK JP"/>
              </a:rPr>
              <a:t>wire boundary </a:t>
            </a:r>
            <a:r>
              <a:rPr b="1" lang="zh-CN" sz="2500" spc="-1" strike="noStrike">
                <a:solidFill>
                  <a:srgbClr val="152238"/>
                </a:solidFill>
                <a:latin typeface="Noto Sans CJK JP"/>
              </a:rPr>
              <a:t>から再生成</a:t>
            </a:r>
            <a:endParaRPr b="1" lang="en-US" sz="250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787" name="TextShape 4"/>
          <p:cNvSpPr txBox="1"/>
          <p:nvPr/>
        </p:nvSpPr>
        <p:spPr>
          <a:xfrm>
            <a:off x="540000" y="709200"/>
            <a:ext cx="10800000" cy="19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dataset → benchmark → aggregate → slides 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を </a:t>
            </a:r>
            <a:r>
              <a:rPr b="0" lang="en-US" sz="1050" spc="-1" strike="noStrike">
                <a:solidFill>
                  <a:srgbClr val="5c6b82"/>
                </a:solidFill>
                <a:latin typeface="Noto Sans CJK JP"/>
              </a:rPr>
              <a:t>command line </a:t>
            </a:r>
            <a:r>
              <a:rPr b="0" lang="zh-CN" sz="1050" spc="-1" strike="noStrike">
                <a:solidFill>
                  <a:srgbClr val="5c6b82"/>
                </a:solidFill>
                <a:latin typeface="Noto Sans CJK JP"/>
              </a:rPr>
              <a:t>で追跡可能</a:t>
            </a:r>
            <a:endParaRPr b="0" lang="en-US" sz="1050" spc="-1" strike="noStrike">
              <a:solidFill>
                <a:srgbClr val="5c6b82"/>
              </a:solidFill>
              <a:latin typeface="Noto Sans CJK JP"/>
              <a:ea typeface="Noto Sans CJK JP"/>
            </a:endParaRPr>
          </a:p>
        </p:txBody>
      </p:sp>
      <p:sp>
        <p:nvSpPr>
          <p:cNvPr id="788" name="Line 5"/>
          <p:cNvSpPr/>
          <p:nvPr/>
        </p:nvSpPr>
        <p:spPr>
          <a:xfrm>
            <a:off x="540000" y="910800"/>
            <a:ext cx="11088000" cy="360"/>
          </a:xfrm>
          <a:prstGeom prst="line">
            <a:avLst/>
          </a:prstGeom>
          <a:ln w="540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9" name="Rectangle 6"/>
          <p:cNvSpPr/>
          <p:nvPr/>
        </p:nvSpPr>
        <p:spPr>
          <a:xfrm>
            <a:off x="0" y="0"/>
            <a:ext cx="936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790" name="Rectangle 7"/>
          <p:cNvSpPr/>
          <p:nvPr/>
        </p:nvSpPr>
        <p:spPr>
          <a:xfrm>
            <a:off x="576000" y="1224000"/>
            <a:ext cx="7056000" cy="4140000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</p:sp>
      <p:sp>
        <p:nvSpPr>
          <p:cNvPr id="791" name="TextShape 8"/>
          <p:cNvSpPr txBox="1"/>
          <p:nvPr/>
        </p:nvSpPr>
        <p:spPr>
          <a:xfrm>
            <a:off x="792000" y="1404000"/>
            <a:ext cx="66240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200" spc="-1" strike="noStrike">
                <a:solidFill>
                  <a:srgbClr val="8de8f5"/>
                </a:solidFill>
                <a:latin typeface="Noto Sans CJK JP"/>
              </a:rPr>
              <a:t>1  environment</a:t>
            </a:r>
            <a:endParaRPr b="1" lang="en-US" sz="1200" spc="-1" strike="noStrike">
              <a:solidFill>
                <a:srgbClr val="8de8f5"/>
              </a:solidFill>
              <a:latin typeface="Noto Sans CJK JP"/>
              <a:ea typeface="Noto Sans CJK JP"/>
            </a:endParaRPr>
          </a:p>
        </p:txBody>
      </p:sp>
      <p:sp>
        <p:nvSpPr>
          <p:cNvPr id="792" name="TextShape 9"/>
          <p:cNvSpPr txBox="1"/>
          <p:nvPr/>
        </p:nvSpPr>
        <p:spPr>
          <a:xfrm>
            <a:off x="828000" y="1656000"/>
            <a:ext cx="6444000" cy="4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839" spc="-1" strike="noStrike">
                <a:solidFill>
                  <a:srgbClr val="ffffff"/>
                </a:solidFill>
                <a:latin typeface="Noto Sans Mono CJK JP"/>
              </a:rPr>
              <a:t>source /home/leus/catkin_ws/devel/setup.bash</a:t>
            </a:r>
            <a:endParaRPr b="0" lang="en-US" sz="839" spc="-1" strike="noStrike">
              <a:solidFill>
                <a:srgbClr val="ffffff"/>
              </a:solidFill>
              <a:latin typeface="Noto Sans Mono CJK JP"/>
              <a:ea typeface="Noto Sans Mono CJK JP"/>
            </a:endParaRPr>
          </a:p>
          <a:p>
            <a:r>
              <a:rPr b="0" lang="en-US" sz="839" spc="-1" strike="noStrike">
                <a:solidFill>
                  <a:srgbClr val="ffffff"/>
                </a:solidFill>
                <a:latin typeface="Noto Sans Mono CJK JP"/>
              </a:rPr>
              <a:t>export PYOPENGL_PLATFORM=egl</a:t>
            </a:r>
            <a:endParaRPr b="0" lang="en-US" sz="839" spc="-1" strike="noStrike">
              <a:solidFill>
                <a:srgbClr val="ffffff"/>
              </a:solidFill>
              <a:latin typeface="Noto Sans Mono CJK JP"/>
              <a:ea typeface="Noto Sans Mono CJK JP"/>
            </a:endParaRPr>
          </a:p>
          <a:p>
            <a:r>
              <a:rPr b="0" lang="en-US" sz="839" spc="-1" strike="noStrike">
                <a:solidFill>
                  <a:srgbClr val="ffffff"/>
                </a:solidFill>
                <a:latin typeface="Noto Sans Mono CJK JP"/>
              </a:rPr>
              <a:t>export __EGL_VENDOR_LIBRARY_FILENAMES=/usr/share/glvnd/egl_vendor.d/50_mesa.json</a:t>
            </a:r>
            <a:endParaRPr b="0" lang="en-US" sz="839" spc="-1" strike="noStrike">
              <a:solidFill>
                <a:srgbClr val="ffffff"/>
              </a:solidFill>
              <a:latin typeface="Noto Sans Mono CJK JP"/>
              <a:ea typeface="Noto Sans Mono CJK JP"/>
            </a:endParaRPr>
          </a:p>
        </p:txBody>
      </p:sp>
      <p:sp>
        <p:nvSpPr>
          <p:cNvPr id="793" name="TextShape 10"/>
          <p:cNvSpPr txBox="1"/>
          <p:nvPr/>
        </p:nvSpPr>
        <p:spPr>
          <a:xfrm>
            <a:off x="792000" y="2412000"/>
            <a:ext cx="66240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200" spc="-1" strike="noStrike">
                <a:solidFill>
                  <a:srgbClr val="8de8f5"/>
                </a:solidFill>
                <a:latin typeface="Noto Sans CJK JP"/>
              </a:rPr>
              <a:t>2  dataset + benchmark</a:t>
            </a:r>
            <a:endParaRPr b="1" lang="en-US" sz="1200" spc="-1" strike="noStrike">
              <a:solidFill>
                <a:srgbClr val="8de8f5"/>
              </a:solidFill>
              <a:latin typeface="Noto Sans CJK JP"/>
              <a:ea typeface="Noto Sans CJK JP"/>
            </a:endParaRPr>
          </a:p>
        </p:txBody>
      </p:sp>
      <p:sp>
        <p:nvSpPr>
          <p:cNvPr id="794" name="TextShape 11"/>
          <p:cNvSpPr txBox="1"/>
          <p:nvPr/>
        </p:nvSpPr>
        <p:spPr>
          <a:xfrm>
            <a:off x="828000" y="2664000"/>
            <a:ext cx="6444000" cy="77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920" spc="-1" strike="noStrike">
                <a:solidFill>
                  <a:srgbClr val="ffffff"/>
                </a:solidFill>
                <a:latin typeface="Noto Sans Mono CJK JP"/>
              </a:rPr>
              <a:t>prob-artag-generate-dataset --output /tmp/prob-artag/frontal/dataset \</a:t>
            </a:r>
            <a:endParaRPr b="0" lang="en-US" sz="920" spc="-1" strike="noStrike">
              <a:solidFill>
                <a:srgbClr val="ffffff"/>
              </a:solidFill>
              <a:latin typeface="Noto Sans Mono CJK JP"/>
              <a:ea typeface="Noto Sans Mono CJK JP"/>
            </a:endParaRPr>
          </a:p>
          <a:p>
            <a:r>
              <a:rPr b="0" lang="en-US" sz="920" spc="-1" strike="noStrike">
                <a:solidFill>
                  <a:srgbClr val="ffffff"/>
                </a:solidFill>
                <a:latin typeface="Noto Sans Mono CJK JP"/>
              </a:rPr>
              <a:t>  </a:t>
            </a:r>
            <a:r>
              <a:rPr b="0" lang="en-US" sz="920" spc="-1" strike="noStrike">
                <a:solidFill>
                  <a:srgbClr val="ffffff"/>
                </a:solidFill>
                <a:latin typeface="Noto Sans Mono CJK JP"/>
              </a:rPr>
              <a:t>--seed 2 --scenario frontal --frames 3 --overwrite</a:t>
            </a:r>
            <a:endParaRPr b="0" lang="en-US" sz="920" spc="-1" strike="noStrike">
              <a:solidFill>
                <a:srgbClr val="ffffff"/>
              </a:solidFill>
              <a:latin typeface="Noto Sans Mono CJK JP"/>
              <a:ea typeface="Noto Sans Mono CJK JP"/>
            </a:endParaRPr>
          </a:p>
          <a:p>
            <a:r>
              <a:rPr b="0" lang="en-US" sz="920" spc="-1" strike="noStrike">
                <a:solidFill>
                  <a:srgbClr val="ffffff"/>
                </a:solidFill>
                <a:latin typeface="Noto Sans Mono CJK JP"/>
              </a:rPr>
              <a:t>prob-artag-benchmark /tmp/prob-artag/frontal/dataset \</a:t>
            </a:r>
            <a:endParaRPr b="0" lang="en-US" sz="920" spc="-1" strike="noStrike">
              <a:solidFill>
                <a:srgbClr val="ffffff"/>
              </a:solidFill>
              <a:latin typeface="Noto Sans Mono CJK JP"/>
              <a:ea typeface="Noto Sans Mono CJK JP"/>
            </a:endParaRPr>
          </a:p>
          <a:p>
            <a:r>
              <a:rPr b="0" lang="en-US" sz="920" spc="-1" strike="noStrike">
                <a:solidFill>
                  <a:srgbClr val="ffffff"/>
                </a:solidFill>
                <a:latin typeface="Noto Sans Mono CJK JP"/>
              </a:rPr>
              <a:t>  </a:t>
            </a:r>
            <a:r>
              <a:rPr b="0" lang="en-US" sz="920" spc="-1" strike="noStrike">
                <a:solidFill>
                  <a:srgbClr val="ffffff"/>
                </a:solidFill>
                <a:latin typeface="Noto Sans Mono CJK JP"/>
              </a:rPr>
              <a:t>/tmp/prob-artag/frontal/report</a:t>
            </a:r>
            <a:endParaRPr b="0" lang="en-US" sz="920" spc="-1" strike="noStrike">
              <a:solidFill>
                <a:srgbClr val="ffffff"/>
              </a:solidFill>
              <a:latin typeface="Noto Sans Mono CJK JP"/>
              <a:ea typeface="Noto Sans Mono CJK JP"/>
            </a:endParaRPr>
          </a:p>
        </p:txBody>
      </p:sp>
      <p:sp>
        <p:nvSpPr>
          <p:cNvPr id="795" name="TextShape 12"/>
          <p:cNvSpPr txBox="1"/>
          <p:nvPr/>
        </p:nvSpPr>
        <p:spPr>
          <a:xfrm>
            <a:off x="792000" y="3780000"/>
            <a:ext cx="66240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200" spc="-1" strike="noStrike">
                <a:solidFill>
                  <a:srgbClr val="8de8f5"/>
                </a:solidFill>
                <a:latin typeface="Noto Sans CJK JP"/>
              </a:rPr>
              <a:t>3  regenerate this deck</a:t>
            </a:r>
            <a:endParaRPr b="1" lang="en-US" sz="1200" spc="-1" strike="noStrike">
              <a:solidFill>
                <a:srgbClr val="8de8f5"/>
              </a:solidFill>
              <a:latin typeface="Noto Sans CJK JP"/>
              <a:ea typeface="Noto Sans CJK JP"/>
            </a:endParaRPr>
          </a:p>
        </p:txBody>
      </p:sp>
      <p:sp>
        <p:nvSpPr>
          <p:cNvPr id="796" name="TextShape 13"/>
          <p:cNvSpPr txBox="1"/>
          <p:nvPr/>
        </p:nvSpPr>
        <p:spPr>
          <a:xfrm>
            <a:off x="828000" y="4032000"/>
            <a:ext cx="6444000" cy="55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850" spc="-1" strike="noStrike">
                <a:solidFill>
                  <a:srgbClr val="ffffff"/>
                </a:solidFill>
                <a:latin typeface="Noto Sans Mono CJK JP"/>
              </a:rPr>
              <a:t>/usr/bin/python3 docs/slides/generate_prob_artag_detector_slides.py \</a:t>
            </a:r>
            <a:endParaRPr b="0" lang="en-US" sz="850" spc="-1" strike="noStrike">
              <a:solidFill>
                <a:srgbClr val="ffffff"/>
              </a:solidFill>
              <a:latin typeface="Noto Sans Mono CJK JP"/>
              <a:ea typeface="Noto Sans Mono CJK JP"/>
            </a:endParaRPr>
          </a:p>
          <a:p>
            <a:r>
              <a:rPr b="0" lang="en-US" sz="850" spc="-1" strike="noStrike">
                <a:solidFill>
                  <a:srgbClr val="ffffff"/>
                </a:solidFill>
                <a:latin typeface="Noto Sans Mono CJK JP"/>
              </a:rPr>
              <a:t>  </a:t>
            </a:r>
            <a:r>
              <a:rPr b="0" lang="en-US" sz="850" spc="-1" strike="noStrike">
                <a:solidFill>
                  <a:srgbClr val="ffffff"/>
                </a:solidFill>
                <a:latin typeface="Noto Sans Mono CJK JP"/>
              </a:rPr>
              <a:t>--output docs/slides/prob_artag_detector_implementation_overview_ja.pptx</a:t>
            </a:r>
            <a:endParaRPr b="0" lang="en-US" sz="850" spc="-1" strike="noStrike">
              <a:solidFill>
                <a:srgbClr val="ffffff"/>
              </a:solidFill>
              <a:latin typeface="Noto Sans Mono CJK JP"/>
              <a:ea typeface="Noto Sans Mono CJK JP"/>
            </a:endParaRPr>
          </a:p>
        </p:txBody>
      </p:sp>
      <p:sp>
        <p:nvSpPr>
          <p:cNvPr id="797" name="Rectangle 14"/>
          <p:cNvSpPr/>
          <p:nvPr/>
        </p:nvSpPr>
        <p:spPr>
          <a:xfrm>
            <a:off x="1548000" y="4896000"/>
            <a:ext cx="5112000" cy="201600"/>
          </a:xfrm>
          <a:prstGeom prst="roundRect">
            <a:avLst/>
          </a:prstGeom>
          <a:solidFill>
            <a:srgbClr val="e8f7f1"/>
          </a:solidFill>
          <a:ln>
            <a:noFill/>
          </a:ln>
        </p:spPr>
      </p:sp>
      <p:sp>
        <p:nvSpPr>
          <p:cNvPr id="798" name="TextShape 15"/>
          <p:cNvSpPr txBox="1"/>
          <p:nvPr/>
        </p:nvSpPr>
        <p:spPr>
          <a:xfrm>
            <a:off x="1548000" y="4971240"/>
            <a:ext cx="5112000" cy="183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1000" spc="-1" strike="noStrike">
                <a:solidFill>
                  <a:srgbClr val="059669"/>
                </a:solidFill>
                <a:latin typeface="Noto Sans CJK JP"/>
              </a:rPr>
              <a:t>PPTX round-trip + optional PDF export</a:t>
            </a:r>
            <a:endParaRPr b="1" lang="en-US" sz="1000" spc="-1" strike="noStrike">
              <a:solidFill>
                <a:srgbClr val="059669"/>
              </a:solidFill>
              <a:latin typeface="Noto Sans CJK JP"/>
              <a:ea typeface="Noto Sans CJK JP"/>
            </a:endParaRPr>
          </a:p>
        </p:txBody>
      </p:sp>
      <p:sp>
        <p:nvSpPr>
          <p:cNvPr id="799" name="Rectangle 16"/>
          <p:cNvSpPr/>
          <p:nvPr/>
        </p:nvSpPr>
        <p:spPr>
          <a:xfrm>
            <a:off x="8100000" y="1224000"/>
            <a:ext cx="3456000" cy="1116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800" name="TextShape 17"/>
          <p:cNvSpPr txBox="1"/>
          <p:nvPr/>
        </p:nvSpPr>
        <p:spPr>
          <a:xfrm>
            <a:off x="8316000" y="1404000"/>
            <a:ext cx="2988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300" spc="-1" strike="noStrike">
                <a:solidFill>
                  <a:srgbClr val="2563eb"/>
                </a:solidFill>
                <a:latin typeface="Noto Sans CJK JP"/>
              </a:rPr>
              <a:t>inputs</a:t>
            </a:r>
            <a:endParaRPr b="1" lang="en-US" sz="13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801" name="TextShape 18"/>
          <p:cNvSpPr txBox="1"/>
          <p:nvPr/>
        </p:nvSpPr>
        <p:spPr>
          <a:xfrm>
            <a:off x="8316000" y="1710000"/>
            <a:ext cx="2988000" cy="592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800" spc="-1" strike="noStrike">
                <a:solidFill>
                  <a:srgbClr val="152238"/>
                </a:solidFill>
                <a:latin typeface="Noto Sans Mono CJK JP"/>
              </a:rPr>
              <a:t>Phase 1 / 2 source</a:t>
            </a:r>
            <a:endParaRPr b="0" lang="en-US" sz="800" spc="-1" strike="noStrike">
              <a:solidFill>
                <a:srgbClr val="152238"/>
              </a:solidFill>
              <a:latin typeface="Noto Sans Mono CJK JP"/>
              <a:ea typeface="Noto Sans Mono CJK JP"/>
            </a:endParaRPr>
          </a:p>
          <a:p>
            <a:r>
              <a:rPr b="0" lang="en-US" sz="800" spc="-1" strike="noStrike">
                <a:solidFill>
                  <a:srgbClr val="152238"/>
                </a:solidFill>
                <a:latin typeface="Noto Sans Mono CJK JP"/>
              </a:rPr>
              <a:t>prob_artag_phase3_evaluation_ja.md</a:t>
            </a:r>
            <a:endParaRPr b="0" lang="en-US" sz="800" spc="-1" strike="noStrike">
              <a:solidFill>
                <a:srgbClr val="152238"/>
              </a:solidFill>
              <a:latin typeface="Noto Sans Mono CJK JP"/>
              <a:ea typeface="Noto Sans Mono CJK JP"/>
            </a:endParaRPr>
          </a:p>
          <a:p>
            <a:r>
              <a:rPr b="0" lang="en-US" sz="800" spc="-1" strike="noStrike">
                <a:solidFill>
                  <a:srgbClr val="152238"/>
                </a:solidFill>
                <a:latin typeface="Noto Sans Mono CJK JP"/>
              </a:rPr>
              <a:t>prob_artag_phase3_metrics.json</a:t>
            </a:r>
            <a:endParaRPr b="0" lang="en-US" sz="800" spc="-1" strike="noStrike">
              <a:solidFill>
                <a:srgbClr val="152238"/>
              </a:solidFill>
              <a:latin typeface="Noto Sans Mono CJK JP"/>
              <a:ea typeface="Noto Sans Mono CJK JP"/>
            </a:endParaRPr>
          </a:p>
          <a:p>
            <a:r>
              <a:rPr b="0" lang="en-US" sz="800" spc="-1" strike="noStrike">
                <a:solidFill>
                  <a:srgbClr val="152238"/>
                </a:solidFill>
                <a:latin typeface="Noto Sans Mono CJK JP"/>
              </a:rPr>
              <a:t>overlays/*.png</a:t>
            </a:r>
            <a:endParaRPr b="0" lang="en-US" sz="800" spc="-1" strike="noStrike">
              <a:solidFill>
                <a:srgbClr val="152238"/>
              </a:solidFill>
              <a:latin typeface="Noto Sans Mono CJK JP"/>
              <a:ea typeface="Noto Sans Mono CJK JP"/>
            </a:endParaRPr>
          </a:p>
        </p:txBody>
      </p:sp>
      <p:sp>
        <p:nvSpPr>
          <p:cNvPr id="802" name="Rectangle 19"/>
          <p:cNvSpPr/>
          <p:nvPr/>
        </p:nvSpPr>
        <p:spPr>
          <a:xfrm>
            <a:off x="8100000" y="2556000"/>
            <a:ext cx="3456000" cy="2808000"/>
          </a:xfrm>
          <a:prstGeom prst="roundRect">
            <a:avLst/>
          </a:prstGeom>
          <a:solidFill>
            <a:srgbClr val="ffffff"/>
          </a:solidFill>
          <a:ln w="7200">
            <a:solidFill>
              <a:srgbClr val="d9e1ec"/>
            </a:solidFill>
            <a:round/>
          </a:ln>
        </p:spPr>
      </p:sp>
      <p:sp>
        <p:nvSpPr>
          <p:cNvPr id="803" name="TextShape 20"/>
          <p:cNvSpPr txBox="1"/>
          <p:nvPr/>
        </p:nvSpPr>
        <p:spPr>
          <a:xfrm>
            <a:off x="8316000" y="2736000"/>
            <a:ext cx="2988000" cy="237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1" lang="en-US" sz="1300" spc="-1" strike="noStrike">
                <a:solidFill>
                  <a:srgbClr val="2563eb"/>
                </a:solidFill>
                <a:latin typeface="Noto Sans CJK JP"/>
              </a:rPr>
              <a:t>takeaways</a:t>
            </a:r>
            <a:endParaRPr b="1" lang="en-US" sz="13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  <p:sp>
        <p:nvSpPr>
          <p:cNvPr id="804" name="Ellipse 21"/>
          <p:cNvSpPr/>
          <p:nvPr/>
        </p:nvSpPr>
        <p:spPr>
          <a:xfrm>
            <a:off x="8352000" y="3114000"/>
            <a:ext cx="252000" cy="252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805" name="TextShape 22"/>
          <p:cNvSpPr txBox="1"/>
          <p:nvPr/>
        </p:nvSpPr>
        <p:spPr>
          <a:xfrm>
            <a:off x="8352000" y="3191040"/>
            <a:ext cx="2520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1200" spc="-1" strike="noStrike">
                <a:solidFill>
                  <a:srgbClr val="ffffff"/>
                </a:solidFill>
                <a:latin typeface="Noto Sans CJK JP"/>
              </a:rPr>
              <a:t>1</a:t>
            </a:r>
            <a:endParaRPr b="1" lang="en-US" sz="12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806" name="TextShape 23"/>
          <p:cNvSpPr txBox="1"/>
          <p:nvPr/>
        </p:nvSpPr>
        <p:spPr>
          <a:xfrm>
            <a:off x="8712000" y="3173040"/>
            <a:ext cx="2484000" cy="19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1" lang="zh-CN" sz="1050" spc="-1" strike="noStrike">
                <a:solidFill>
                  <a:srgbClr val="152238"/>
                </a:solidFill>
                <a:latin typeface="Noto Sans CJK JP"/>
              </a:rPr>
              <a:t>座標・</a:t>
            </a:r>
            <a:r>
              <a:rPr b="1" lang="en-US" sz="1050" spc="-1" strike="noStrike">
                <a:solidFill>
                  <a:srgbClr val="152238"/>
                </a:solidFill>
                <a:latin typeface="Noto Sans CJK JP"/>
              </a:rPr>
              <a:t>corner order </a:t>
            </a:r>
            <a:r>
              <a:rPr b="1" lang="zh-CN" sz="1050" spc="-1" strike="noStrike">
                <a:solidFill>
                  <a:srgbClr val="152238"/>
                </a:solidFill>
                <a:latin typeface="Noto Sans CJK JP"/>
              </a:rPr>
              <a:t>を先に固定</a:t>
            </a:r>
            <a:endParaRPr b="1" lang="en-US" sz="105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807" name="Ellipse 24"/>
          <p:cNvSpPr/>
          <p:nvPr/>
        </p:nvSpPr>
        <p:spPr>
          <a:xfrm>
            <a:off x="8352000" y="3600000"/>
            <a:ext cx="252000" cy="2520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808" name="TextShape 25"/>
          <p:cNvSpPr txBox="1"/>
          <p:nvPr/>
        </p:nvSpPr>
        <p:spPr>
          <a:xfrm>
            <a:off x="8352000" y="3677040"/>
            <a:ext cx="2520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1200" spc="-1" strike="noStrike">
                <a:solidFill>
                  <a:srgbClr val="ffffff"/>
                </a:solidFill>
                <a:latin typeface="Noto Sans CJK JP"/>
              </a:rPr>
              <a:t>2</a:t>
            </a:r>
            <a:endParaRPr b="1" lang="en-US" sz="12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809" name="TextShape 26"/>
          <p:cNvSpPr txBox="1"/>
          <p:nvPr/>
        </p:nvSpPr>
        <p:spPr>
          <a:xfrm>
            <a:off x="8712000" y="3659040"/>
            <a:ext cx="2484000" cy="19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1" lang="en-US" sz="1050" spc="-1" strike="noStrike">
                <a:solidFill>
                  <a:srgbClr val="152238"/>
                </a:solidFill>
                <a:latin typeface="Noto Sans CJK JP"/>
              </a:rPr>
              <a:t>IPPE branch </a:t>
            </a:r>
            <a:r>
              <a:rPr b="1" lang="zh-CN" sz="1050" spc="-1" strike="noStrike">
                <a:solidFill>
                  <a:srgbClr val="152238"/>
                </a:solidFill>
                <a:latin typeface="Noto Sans CJK JP"/>
              </a:rPr>
              <a:t>と </a:t>
            </a:r>
            <a:r>
              <a:rPr b="1" lang="en-US" sz="1050" spc="-1" strike="noStrike">
                <a:solidFill>
                  <a:srgbClr val="152238"/>
                </a:solidFill>
                <a:latin typeface="Noto Sans CJK JP"/>
              </a:rPr>
              <a:t>coupling </a:t>
            </a:r>
            <a:r>
              <a:rPr b="1" lang="zh-CN" sz="1050" spc="-1" strike="noStrike">
                <a:solidFill>
                  <a:srgbClr val="152238"/>
                </a:solidFill>
                <a:latin typeface="Noto Sans CJK JP"/>
              </a:rPr>
              <a:t>を保持</a:t>
            </a:r>
            <a:endParaRPr b="1" lang="en-US" sz="105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810" name="Ellipse 27"/>
          <p:cNvSpPr/>
          <p:nvPr/>
        </p:nvSpPr>
        <p:spPr>
          <a:xfrm>
            <a:off x="8352000" y="4086000"/>
            <a:ext cx="252000" cy="2520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811" name="TextShape 28"/>
          <p:cNvSpPr txBox="1"/>
          <p:nvPr/>
        </p:nvSpPr>
        <p:spPr>
          <a:xfrm>
            <a:off x="8352000" y="4163040"/>
            <a:ext cx="2520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1200" spc="-1" strike="noStrike">
                <a:solidFill>
                  <a:srgbClr val="ffffff"/>
                </a:solidFill>
                <a:latin typeface="Noto Sans CJK JP"/>
              </a:rPr>
              <a:t>3</a:t>
            </a:r>
            <a:endParaRPr b="1" lang="en-US" sz="12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812" name="TextShape 29"/>
          <p:cNvSpPr txBox="1"/>
          <p:nvPr/>
        </p:nvSpPr>
        <p:spPr>
          <a:xfrm>
            <a:off x="8712000" y="4145040"/>
            <a:ext cx="2484000" cy="3848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1" lang="en-US" sz="1050" spc="-1" strike="noStrike">
                <a:solidFill>
                  <a:srgbClr val="152238"/>
                </a:solidFill>
                <a:latin typeface="Noto Sans CJK JP"/>
              </a:rPr>
              <a:t>distribution </a:t>
            </a:r>
            <a:r>
              <a:rPr b="1" lang="zh-CN" sz="1050" spc="-1" strike="noStrike">
                <a:solidFill>
                  <a:srgbClr val="152238"/>
                </a:solidFill>
                <a:latin typeface="Noto Sans CJK JP"/>
              </a:rPr>
              <a:t>を </a:t>
            </a:r>
            <a:r>
              <a:rPr b="1" lang="en-US" sz="1050" spc="-1" strike="noStrike">
                <a:solidFill>
                  <a:srgbClr val="152238"/>
                </a:solidFill>
                <a:latin typeface="Noto Sans CJK JP"/>
              </a:rPr>
              <a:t>native ProbTF edge </a:t>
            </a:r>
            <a:r>
              <a:rPr b="1" lang="zh-CN" sz="1050" spc="-1" strike="noStrike">
                <a:solidFill>
                  <a:srgbClr val="152238"/>
                </a:solidFill>
                <a:latin typeface="Noto Sans CJK JP"/>
              </a:rPr>
              <a:t>へ</a:t>
            </a:r>
            <a:endParaRPr b="1" lang="en-US" sz="105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813" name="Ellipse 30"/>
          <p:cNvSpPr/>
          <p:nvPr/>
        </p:nvSpPr>
        <p:spPr>
          <a:xfrm>
            <a:off x="8352000" y="4572000"/>
            <a:ext cx="252000" cy="2520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814" name="TextShape 31"/>
          <p:cNvSpPr txBox="1"/>
          <p:nvPr/>
        </p:nvSpPr>
        <p:spPr>
          <a:xfrm>
            <a:off x="8352000" y="4649040"/>
            <a:ext cx="252000" cy="22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1" lang="en-US" sz="1200" spc="-1" strike="noStrike">
                <a:solidFill>
                  <a:srgbClr val="ffffff"/>
                </a:solidFill>
                <a:latin typeface="Noto Sans CJK JP"/>
              </a:rPr>
              <a:t>4</a:t>
            </a:r>
            <a:endParaRPr b="1" lang="en-US" sz="12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815" name="TextShape 32"/>
          <p:cNvSpPr txBox="1"/>
          <p:nvPr/>
        </p:nvSpPr>
        <p:spPr>
          <a:xfrm>
            <a:off x="8712000" y="4631040"/>
            <a:ext cx="2484000" cy="19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1" lang="zh-CN" sz="1050" spc="-1" strike="noStrike">
                <a:solidFill>
                  <a:srgbClr val="152238"/>
                </a:solidFill>
                <a:latin typeface="Noto Sans CJK JP"/>
              </a:rPr>
              <a:t>弱観測と遮蔽を数値で境界化</a:t>
            </a:r>
            <a:endParaRPr b="1" lang="en-US" sz="1050" spc="-1" strike="noStrike">
              <a:solidFill>
                <a:srgbClr val="152238"/>
              </a:solidFill>
              <a:latin typeface="Noto Sans CJK JP"/>
              <a:ea typeface="Noto Sans CJK JP"/>
            </a:endParaRPr>
          </a:p>
        </p:txBody>
      </p:sp>
      <p:sp>
        <p:nvSpPr>
          <p:cNvPr id="816" name="Line 33"/>
          <p:cNvSpPr/>
          <p:nvPr/>
        </p:nvSpPr>
        <p:spPr>
          <a:xfrm>
            <a:off x="540000" y="6496200"/>
            <a:ext cx="11088000" cy="360"/>
          </a:xfrm>
          <a:prstGeom prst="line">
            <a:avLst/>
          </a:prstGeom>
          <a:ln w="4320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17" name="TextShape 34"/>
          <p:cNvSpPr txBox="1"/>
          <p:nvPr/>
        </p:nvSpPr>
        <p:spPr>
          <a:xfrm>
            <a:off x="540000" y="6528600"/>
            <a:ext cx="4320000" cy="1558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r>
              <a:rPr b="0" lang="en-US" sz="850" spc="-1" strike="noStrike">
                <a:solidFill>
                  <a:srgbClr val="9cb2ce"/>
                </a:solidFill>
                <a:latin typeface="Noto Sans CJK JP"/>
              </a:rPr>
              <a:t>ProbTF-demo  |  AprilTag implementation overview</a:t>
            </a:r>
            <a:endParaRPr b="0" lang="en-US" sz="850" spc="-1" strike="noStrike">
              <a:solidFill>
                <a:srgbClr val="9cb2ce"/>
              </a:solidFill>
              <a:latin typeface="Noto Sans CJK JP"/>
              <a:ea typeface="Noto Sans CJK JP"/>
            </a:endParaRPr>
          </a:p>
        </p:txBody>
      </p:sp>
      <p:sp>
        <p:nvSpPr>
          <p:cNvPr id="818" name="TextShape 35"/>
          <p:cNvSpPr txBox="1"/>
          <p:nvPr/>
        </p:nvSpPr>
        <p:spPr>
          <a:xfrm>
            <a:off x="11124000" y="6528600"/>
            <a:ext cx="504000" cy="1663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algn="r"/>
            <a:r>
              <a:rPr b="1" lang="en-US" sz="900" spc="-1" strike="noStrike">
                <a:solidFill>
                  <a:srgbClr val="2563eb"/>
                </a:solidFill>
                <a:latin typeface="Noto Sans CJK JP"/>
              </a:rPr>
              <a:t>19</a:t>
            </a:r>
            <a:endParaRPr b="1" lang="en-US" sz="900" spc="-1" strike="noStrike">
              <a:solidFill>
                <a:srgbClr val="2563eb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LibreOffice/6.4.7.2$Linux_X86_64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ProbTF-demo</dc:creator>
  <dc:description/>
  <dc:language>en-US</dc:language>
  <cp:lastModifiedBy/>
  <dcterms:modified xsi:type="dcterms:W3CDTF">2026-07-22T23:36:54Z</dcterms:modified>
  <cp:revision>1</cp:revision>
  <dc:subject>Renderer, planar pose mixture, ProbTF v2, ROS, and benchmark</dc:subject>
  <dc:title>確率的 AprilTag Detector 実装説明資料</dc:title>
</cp:coreProperties>
</file>